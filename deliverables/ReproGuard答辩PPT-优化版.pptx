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6acfe8d90b41f9" /><Relationship Type="http://schemas.openxmlformats.org/officeDocument/2006/relationships/extended-properties" Target="/docProps/app.xml" Id="R87cc86c45f194483" /><Relationship Type="http://schemas.openxmlformats.org/officeDocument/2006/relationships/officeDocument" Target="/ppt/presentation.xml" Id="R1a651756e9df44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2c4658fa6d4df6"/>
  </p:sldMasterIdLst>
  <p:notesMasterIdLst>
    <p:notesMasterId xmlns:r="http://schemas.openxmlformats.org/officeDocument/2006/relationships" r:id="R2575dec161314ad5"/>
  </p:notesMasterIdLst>
  <p:sldIdLst>
    <p:sldId xmlns:r="http://schemas.openxmlformats.org/officeDocument/2006/relationships" id="256" r:id="R60c069d92029474b"/>
    <p:sldId xmlns:r="http://schemas.openxmlformats.org/officeDocument/2006/relationships" id="257" r:id="Re56269d8f28d4b7d"/>
    <p:sldId xmlns:r="http://schemas.openxmlformats.org/officeDocument/2006/relationships" id="258" r:id="R550dae19151c4701"/>
    <p:sldId xmlns:r="http://schemas.openxmlformats.org/officeDocument/2006/relationships" id="259" r:id="Ra58b489c597b490c"/>
    <p:sldId xmlns:r="http://schemas.openxmlformats.org/officeDocument/2006/relationships" id="260" r:id="Rf609aea0ddf84866"/>
    <p:sldId xmlns:r="http://schemas.openxmlformats.org/officeDocument/2006/relationships" id="261" r:id="R74d91c6ef90842d1"/>
    <p:sldId xmlns:r="http://schemas.openxmlformats.org/officeDocument/2006/relationships" id="262" r:id="Rb8e07dcb5706452b"/>
    <p:sldId xmlns:r="http://schemas.openxmlformats.org/officeDocument/2006/relationships" id="263" r:id="R0ed3795aad8140ae"/>
    <p:sldId xmlns:r="http://schemas.openxmlformats.org/officeDocument/2006/relationships" id="264" r:id="Rb5a9230840884157"/>
    <p:sldId xmlns:r="http://schemas.openxmlformats.org/officeDocument/2006/relationships" id="265" r:id="R5908e920979e47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cbe9e1d098414f" /><Relationship Type="http://schemas.openxmlformats.org/officeDocument/2006/relationships/slideMaster" Target="/ppt/slideMasters/slideMaster1.xml" Id="R5c2c4658fa6d4df6" /><Relationship Type="http://schemas.openxmlformats.org/officeDocument/2006/relationships/notesMaster" Target="/ppt/notesMasters/notesMaster1.xml" Id="R2575dec161314ad5" /><Relationship Type="http://schemas.openxmlformats.org/officeDocument/2006/relationships/presProps" Target="/ppt/presProps.xml" Id="Rb97804dec6984923" /><Relationship Type="http://schemas.openxmlformats.org/officeDocument/2006/relationships/tableStyles" Target="/ppt/tableStyles.xml" Id="R0fa3ba7b71e14acf" /><Relationship Type="http://schemas.openxmlformats.org/officeDocument/2006/relationships/slide" Target="/ppt/slides/slide1.xml" Id="R60c069d92029474b" /><Relationship Type="http://schemas.openxmlformats.org/officeDocument/2006/relationships/slide" Target="/ppt/slides/slide2.xml" Id="Re56269d8f28d4b7d" /><Relationship Type="http://schemas.openxmlformats.org/officeDocument/2006/relationships/slide" Target="/ppt/slides/slide3.xml" Id="R550dae19151c4701" /><Relationship Type="http://schemas.openxmlformats.org/officeDocument/2006/relationships/slide" Target="/ppt/slides/slide4.xml" Id="Ra58b489c597b490c" /><Relationship Type="http://schemas.openxmlformats.org/officeDocument/2006/relationships/slide" Target="/ppt/slides/slide5.xml" Id="Rf609aea0ddf84866" /><Relationship Type="http://schemas.openxmlformats.org/officeDocument/2006/relationships/slide" Target="/ppt/slides/slide6.xml" Id="R74d91c6ef90842d1" /><Relationship Type="http://schemas.openxmlformats.org/officeDocument/2006/relationships/slide" Target="/ppt/slides/slide7.xml" Id="Rb8e07dcb5706452b" /><Relationship Type="http://schemas.openxmlformats.org/officeDocument/2006/relationships/slide" Target="/ppt/slides/slide8.xml" Id="R0ed3795aad8140ae" /><Relationship Type="http://schemas.openxmlformats.org/officeDocument/2006/relationships/slide" Target="/ppt/slides/slide9.xml" Id="Rb5a9230840884157" /><Relationship Type="http://schemas.openxmlformats.org/officeDocument/2006/relationships/slide" Target="/ppt/slides/slide10.xml" Id="R5908e920979e47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9fa743735f42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d2b072b4c64e2d" /><Relationship Type="http://schemas.openxmlformats.org/officeDocument/2006/relationships/notesMaster" Target="/ppt/notesMasters/notesMaster1.xml" Id="R7f7ad396e4d448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a071f093f94869" /><Relationship Type="http://schemas.openxmlformats.org/officeDocument/2006/relationships/notesMaster" Target="/ppt/notesMasters/notesMaster1.xml" Id="R19e820d9b9f042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ec8d5f961443c5" /><Relationship Type="http://schemas.openxmlformats.org/officeDocument/2006/relationships/notesMaster" Target="/ppt/notesMasters/notesMaster1.xml" Id="R72ad2ee2cb4d46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2f4e3699d34e28" /><Relationship Type="http://schemas.openxmlformats.org/officeDocument/2006/relationships/notesMaster" Target="/ppt/notesMasters/notesMaster1.xml" Id="Rbbe5de895df549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27fa88659640f9" /><Relationship Type="http://schemas.openxmlformats.org/officeDocument/2006/relationships/notesMaster" Target="/ppt/notesMasters/notesMaster1.xml" Id="R420371133f8a44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63fb30a41a426f" /><Relationship Type="http://schemas.openxmlformats.org/officeDocument/2006/relationships/notesMaster" Target="/ppt/notesMasters/notesMaster1.xml" Id="Re99b7d82fbbc4e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ba478979a5e42b2" /><Relationship Type="http://schemas.openxmlformats.org/officeDocument/2006/relationships/notesMaster" Target="/ppt/notesMasters/notesMaster1.xml" Id="R6b855cd76e454d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4e9fbaf3664a0b" /><Relationship Type="http://schemas.openxmlformats.org/officeDocument/2006/relationships/notesMaster" Target="/ppt/notesMasters/notesMaster1.xml" Id="Ref42d3cac5fe4a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ea5d6260374fd2" /><Relationship Type="http://schemas.openxmlformats.org/officeDocument/2006/relationships/notesMaster" Target="/ppt/notesMasters/notesMaster1.xml" Id="Rf370afd981f942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2b237b71184100" /><Relationship Type="http://schemas.openxmlformats.org/officeDocument/2006/relationships/notesMaster" Target="/ppt/notesMasters/notesMaster1.xml" Id="Re4f394702ed54e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项目定位与竞赛方向：docs/参赛作品信息.md；docs/技术报告初稿.md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问题定义：docs/技术报告初稿.md，第 1、3 节</a:t>
            </a:r>
          </a:p>
          <a:p xmlns:a="http://schemas.openxmlformats.org/drawingml/2006/main">
            <a:r>
              <a:t>GitHub Pull Request 审查范围：https://docs.github.com/en/pull-requests/collaborating-with-pull-requests/reviewing-changes-in-pull-requests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工作流与 AI 边界：docs/技术报告初稿.md，第 3、4 节</a:t>
            </a:r>
          </a:p>
          <a:p xmlns:a="http://schemas.openxmlformats.org/drawingml/2006/main">
            <a:r>
              <a:t>来源标识约束：README.md 与规则引擎实现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创新点与实现范围：docs/技术报告初稿.md，第 2—4 节</a:t>
            </a:r>
          </a:p>
          <a:p xmlns:a="http://schemas.openxmlformats.org/drawingml/2006/main">
            <a:r>
              <a:t>开放成果说明：docs/开源发布说明.md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历史 PR：https://github.com/milesial/Pytorch-UNet/pull/141</a:t>
            </a:r>
          </a:p>
          <a:p xmlns:a="http://schemas.openxmlformats.org/drawingml/2006/main">
            <a:r>
              <a:t>回放来源：data/cases/pytorch-unet-pr-141/source.md</a:t>
            </a:r>
          </a:p>
          <a:p xmlns:a="http://schemas.openxmlformats.org/drawingml/2006/main">
            <a:r>
              <a:t>人工复核：data/cases/pytorch-unet-pr-141/human-review.md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截图：D:/codex/proplem/reproguard-action-summary.png</a:t>
            </a:r>
          </a:p>
          <a:p xmlns:a="http://schemas.openxmlformats.org/drawingml/2006/main">
            <a:r>
              <a:t>验收记录：docs/在线Action验收记录.md</a:t>
            </a:r>
          </a:p>
          <a:p xmlns:a="http://schemas.openxmlformats.org/drawingml/2006/main">
            <a:r>
              <a:t>运行链接：https://github.com/hm10629/reproguard/actions/runs/39933280765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测试与评测：reports/evaluation.md、reports/evaluation-unet-pytorch.md</a:t>
            </a:r>
          </a:p>
          <a:p xmlns:a="http://schemas.openxmlformats.org/drawingml/2006/main">
            <a:r>
              <a:t>真实模型调用：reports/ai-real-call.md、docs/AI真实调用人工复核.md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对比矩阵：docs/竞品与差异化对比.md</a:t>
            </a:r>
          </a:p>
          <a:p xmlns:a="http://schemas.openxmlformats.org/drawingml/2006/main">
            <a:r>
              <a:t>GitHub Review：https://docs.github.com/en/pull-requests/collaborating-with-pull-requests/reviewing-changes-in-pull-requests</a:t>
            </a:r>
          </a:p>
          <a:p xmlns:a="http://schemas.openxmlformats.org/drawingml/2006/main">
            <a:r>
              <a:t>Dependabot：https://docs.github.com/en/code-security/dependabot</a:t>
            </a:r>
          </a:p>
          <a:p xmlns:a="http://schemas.openxmlformats.org/drawingml/2006/main">
            <a:r>
              <a:t>CodeQL：https://codeql.github.com/docs/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AI 边界与真实调用：reports/ai-real-call.md、docs/AI真实调用人工复核.md</a:t>
            </a:r>
          </a:p>
          <a:p xmlns:a="http://schemas.openxmlformats.org/drawingml/2006/main">
            <a:r>
              <a:t>开源资源清单：docs/开源及第三方资源使用清单.md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完成状态与人工待办：docs/发布检查清单.md</a:t>
            </a:r>
          </a:p>
          <a:p xmlns:a="http://schemas.openxmlformats.org/drawingml/2006/main">
            <a:r>
              <a:t>项目仓库（公开）：https://github.com/hm10629/reproguard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057b99ac541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54a41532dc4810" /><Relationship Type="http://schemas.openxmlformats.org/officeDocument/2006/relationships/slideLayout" Target="/ppt/slideLayouts/slideLayout1.xml" Id="Rf04aa259459942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4aa259459942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0cc67932846e8" /><Relationship Type="http://schemas.openxmlformats.org/officeDocument/2006/relationships/notesSlide" Target="/ppt/notesSlides/notesSlide1.xml" Id="R238a65b0d93041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bf9cf7a8e4baa" /><Relationship Type="http://schemas.openxmlformats.org/officeDocument/2006/relationships/notesSlide" Target="/ppt/notesSlides/notesSlide2.xml" Id="Rf998591e42e34c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3cc825e554d26" /><Relationship Type="http://schemas.openxmlformats.org/officeDocument/2006/relationships/notesSlide" Target="/ppt/notesSlides/notesSlide3.xml" Id="R71028ca9f8f84a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8cb41fa58c4af0" /><Relationship Type="http://schemas.openxmlformats.org/officeDocument/2006/relationships/notesSlide" Target="/ppt/notesSlides/notesSlide4.xml" Id="Rf9633d6db06e4a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f221fab884c63" /><Relationship Type="http://schemas.openxmlformats.org/officeDocument/2006/relationships/notesSlide" Target="/ppt/notesSlides/notesSlide5.xml" Id="R68f87e31b7fe49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181b4b1574e79" /><Relationship Type="http://schemas.openxmlformats.org/officeDocument/2006/relationships/image" Target="/ppt/media/image.jpeg" Id="R24b55eddfce84e44" /><Relationship Type="http://schemas.openxmlformats.org/officeDocument/2006/relationships/notesSlide" Target="/ppt/notesSlides/notesSlide6.xml" Id="Rd323ee70dda346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ce4982c3344ee" /><Relationship Type="http://schemas.openxmlformats.org/officeDocument/2006/relationships/notesSlide" Target="/ppt/notesSlides/notesSlide7.xml" Id="Rc77e92681a7b45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f4033e2f14cc2" /><Relationship Type="http://schemas.openxmlformats.org/officeDocument/2006/relationships/notesSlide" Target="/ppt/notesSlides/notesSlide8.xml" Id="R2ab15f61b1b8405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5ce5422dc439e" /><Relationship Type="http://schemas.openxmlformats.org/officeDocument/2006/relationships/notesSlide" Target="/ppt/notesSlides/notesSlide9.xml" Id="R09eb30c7c5fb4c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77215b49c4fe4" /><Relationship Type="http://schemas.openxmlformats.org/officeDocument/2006/relationships/notesSlide" Target="/ppt/notesSlides/notesSlide10.xml" Id="Ra73871d8f23542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5332ABDA-50D6-4E1C-B308-88758970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3543F"/>
                </a:solidFill>
              </a:defRPr>
            </a:pPr>
            <a:r>
              <a:rPr sz="1275" b="1">
                <a:solidFill>
                  <a:srgbClr val="D3543F"/>
                </a:solidFill>
              </a:rPr>
              <a:t>AI + 开源 · 科研协作工具</a:t>
            </a:r>
          </a:p>
        </p:txBody>
      </p:sp>
      <p:sp>
        <p:nvSpPr>
          <p:cNvPr id="2" name="title-main">
            <a:extLst xmlns:a="http://schemas.openxmlformats.org/drawingml/2006/main">
              <a:ext uri="{FF2B5EF4-FFF2-40B4-BE49-F238E27FC236}">
                <a16:creationId xmlns:a16="http://schemas.microsoft.com/office/drawing/2014/main" id="{899AA401-FA54-4432-B3CB-0C2672A0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810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ReproGuard</a:t>
            </a:r>
          </a:p>
          <a:p xmlns:a="http://schemas.openxmlformats.org/drawingml/2006/main">
            <a:pPr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复现守门人</a:t>
            </a:r>
          </a:p>
        </p:txBody>
      </p:sp>
      <p:sp>
        <p:nvSpPr>
          <p:cNvPr id="3" name="title-sub">
            <a:extLst xmlns:a="http://schemas.openxmlformats.org/drawingml/2006/main">
              <a:ext uri="{FF2B5EF4-FFF2-40B4-BE49-F238E27FC236}">
                <a16:creationId xmlns:a16="http://schemas.microsoft.com/office/drawing/2014/main" id="{725BC031-F21C-4FC6-A2CA-9DA3C3B5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838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C6670"/>
                </a:solidFill>
              </a:defRPr>
            </a:pPr>
            <a:r>
              <a:rPr sz="1800">
                <a:solidFill>
                  <a:srgbClr val="5C6670"/>
                </a:solidFill>
              </a:rPr>
              <a:t>把论文与实验协议中的复现约束，带进 GitHub Pull Request</a:t>
            </a:r>
          </a:p>
        </p:txBody>
      </p:sp>
      <p:sp>
        <p:nvSpPr>
          <p:cNvPr id="4" name="title-team">
            <a:extLst xmlns:a="http://schemas.openxmlformats.org/drawingml/2006/main">
              <a:ext uri="{FF2B5EF4-FFF2-40B4-BE49-F238E27FC236}">
                <a16:creationId xmlns:a16="http://schemas.microsoft.com/office/drawing/2014/main" id="{F40BDB1C-66EE-400E-92AB-75F162B1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817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C6670"/>
                </a:solidFill>
              </a:defRPr>
            </a:pPr>
            <a:r>
              <a:rPr sz="1200">
                <a:solidFill>
                  <a:srgbClr val="5C6670"/>
                </a:solidFill>
              </a:rPr>
              <a:t>团队 / 学校 / 指导教师：待人工补充</a:t>
            </a:r>
          </a:p>
        </p:txBody>
      </p:sp>
      <p:sp>
        <p:nvSpPr>
          <p:cNvPr id="5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720CDD3-1730-457A-B427-94809CB6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1619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6" name="title-side">
            <a:extLst xmlns:a="http://schemas.openxmlformats.org/drawingml/2006/main">
              <a:ext uri="{FF2B5EF4-FFF2-40B4-BE49-F238E27FC236}">
                <a16:creationId xmlns:a16="http://schemas.microsoft.com/office/drawing/2014/main" id="{CBC40955-AD17-4A1D-80BE-AD036276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762125"/>
            <a:ext cx="1047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PR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→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证据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→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复核</a:t>
            </a:r>
          </a:p>
        </p:txBody>
      </p:sp>
    </p:spTree>
    <p:extLst>
      <p:ext uri="{BB962C8B-B14F-4D97-AF65-F5344CB8AC3E}">
        <p14:creationId xmlns:p14="http://schemas.microsoft.com/office/powerpoint/2010/main" val="6565381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kicker-2">
            <a:extLst xmlns:a="http://schemas.openxmlformats.org/drawingml/2006/main">
              <a:ext uri="{FF2B5EF4-FFF2-40B4-BE49-F238E27FC236}">
                <a16:creationId xmlns:a16="http://schemas.microsoft.com/office/drawing/2014/main" id="{066CEE1C-7396-42DE-83C1-3570BC0A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问题与场景价值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E4323054-A5E5-4C49-BDEF-07DD23B4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代码审查能看到改了什么，却看不到复现条件是否被改写</a:t>
            </a:r>
          </a:p>
        </p:txBody>
      </p:sp>
      <p:sp>
        <p:nvSpPr>
          <p:cNvPr id="3" name="rule-2">
            <a:extLst xmlns:a="http://schemas.openxmlformats.org/drawingml/2006/main">
              <a:ext uri="{FF2B5EF4-FFF2-40B4-BE49-F238E27FC236}">
                <a16:creationId xmlns:a16="http://schemas.microsoft.com/office/drawing/2014/main" id="{9E53DEF9-5DE9-4913-BEAA-30C480E4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6B6C41EE-CE8F-4DE0-9107-879946D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02</a:t>
            </a:r>
          </a:p>
        </p:txBody>
      </p:sp>
      <p:sp>
        <p:nvSpPr>
          <p:cNvPr id="5" name="problem-left-label">
            <a:extLst xmlns:a="http://schemas.openxmlformats.org/drawingml/2006/main">
              <a:ext uri="{FF2B5EF4-FFF2-40B4-BE49-F238E27FC236}">
                <a16:creationId xmlns:a16="http://schemas.microsoft.com/office/drawing/2014/main" id="{6F2FB5C5-AA20-4101-9A5C-F4365E51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F5D7C"/>
                </a:solidFill>
              </a:defRPr>
            </a:pPr>
            <a:r>
              <a:rPr sz="1650" b="1">
                <a:solidFill>
                  <a:srgbClr val="2F5D7C"/>
                </a:solidFill>
              </a:rPr>
              <a:t>论文 / 实验协议</a:t>
            </a:r>
          </a:p>
        </p:txBody>
      </p:sp>
      <p:sp>
        <p:nvSpPr>
          <p:cNvPr id="6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0F626BF3-CEB2-432B-B497-5E89CBEE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39052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batch size = 64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固定随机种子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验证集完整参与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指标定义与论文一致</a:t>
            </a:r>
          </a:p>
        </p:txBody>
      </p:sp>
      <p:sp>
        <p:nvSpPr>
          <p:cNvPr id="7" name="problem-gap">
            <a:extLst xmlns:a="http://schemas.openxmlformats.org/drawingml/2006/main">
              <a:ext uri="{FF2B5EF4-FFF2-40B4-BE49-F238E27FC236}">
                <a16:creationId xmlns:a16="http://schemas.microsoft.com/office/drawing/2014/main" id="{48F5A4BD-3AB2-467A-88BC-D34AB931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缺少对应关系</a:t>
            </a:r>
          </a:p>
        </p:txBody>
      </p:sp>
      <p:sp>
        <p:nvSpPr>
          <p:cNvPr id="8" name="problem-gap-line">
            <a:extLst xmlns:a="http://schemas.openxmlformats.org/drawingml/2006/main">
              <a:ext uri="{FF2B5EF4-FFF2-40B4-BE49-F238E27FC236}">
                <a16:creationId xmlns:a16="http://schemas.microsoft.com/office/drawing/2014/main" id="{A24E0C83-C947-4D84-8F54-2E20D0FA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2900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9" name="problem-right-label">
            <a:extLst xmlns:a="http://schemas.openxmlformats.org/drawingml/2006/main">
              <a:ext uri="{FF2B5EF4-FFF2-40B4-BE49-F238E27FC236}">
                <a16:creationId xmlns:a16="http://schemas.microsoft.com/office/drawing/2014/main" id="{1ECAB61D-5668-4083-8AF0-96C99F85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193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3543F"/>
                </a:solidFill>
              </a:defRPr>
            </a:pPr>
            <a:r>
              <a:rPr sz="1650" b="1">
                <a:solidFill>
                  <a:srgbClr val="D3543F"/>
                </a:solidFill>
              </a:rPr>
              <a:t>Pull Request</a:t>
            </a:r>
          </a:p>
        </p:txBody>
      </p:sp>
      <p:sp>
        <p:nvSpPr>
          <p:cNvPr id="10" name="problem-right">
            <a:extLst xmlns:a="http://schemas.openxmlformats.org/drawingml/2006/main">
              <a:ext uri="{FF2B5EF4-FFF2-40B4-BE49-F238E27FC236}">
                <a16:creationId xmlns:a16="http://schemas.microsoft.com/office/drawing/2014/main" id="{DE0AB7B8-E599-4BC9-B8FE-7E07F16A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90800"/>
            <a:ext cx="3714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参数改为 32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随机种子被删除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drop_last=True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评价公式或路径变化</a:t>
            </a:r>
          </a:p>
        </p:txBody>
      </p:sp>
      <p:sp>
        <p:nvSpPr>
          <p:cNvPr id="11" name="problem-takeaway-bg">
            <a:extLst xmlns:a="http://schemas.openxmlformats.org/drawingml/2006/main">
              <a:ext uri="{FF2B5EF4-FFF2-40B4-BE49-F238E27FC236}">
                <a16:creationId xmlns:a16="http://schemas.microsoft.com/office/drawing/2014/main" id="{2384B486-FA65-4CB5-B95A-C5E7CB70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28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ED8"/>
          </a:solidFill>
          <a:ln xmlns:a="http://schemas.openxmlformats.org/drawingml/2006/main" w="0">
            <a:solidFill>
              <a:srgbClr val="F1DED8"/>
            </a:solidFill>
            <a:prstDash val="solid"/>
          </a:ln>
        </p:spPr>
      </p:sp>
      <p:sp>
        <p:nvSpPr>
          <p:cNvPr id="12" name="problem-takeaway">
            <a:extLst xmlns:a="http://schemas.openxmlformats.org/drawingml/2006/main">
              <a:ext uri="{FF2B5EF4-FFF2-40B4-BE49-F238E27FC236}">
                <a16:creationId xmlns:a16="http://schemas.microsoft.com/office/drawing/2014/main" id="{9F818FCC-09F3-4666-ABF3-4AAEE265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72125"/>
            <a:ext cx="981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2B"/>
                </a:solidFill>
              </a:defRPr>
            </a:pPr>
            <a:r>
              <a:rPr sz="1500" b="1">
                <a:solidFill>
                  <a:srgbClr val="18212B"/>
                </a:solidFill>
              </a:rPr>
              <a:t>ReproGuard 审查的不是代码“好不好看”，而是这次变化是否改写了复现路径。</a:t>
            </a:r>
          </a:p>
        </p:txBody>
      </p:sp>
    </p:spTree>
    <p:extLst>
      <p:ext uri="{BB962C8B-B14F-4D97-AF65-F5344CB8AC3E}">
        <p14:creationId xmlns:p14="http://schemas.microsoft.com/office/powerpoint/2010/main" val="5214815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3">
            <a:extLst xmlns:a="http://schemas.openxmlformats.org/drawingml/2006/main">
              <a:ext uri="{FF2B5EF4-FFF2-40B4-BE49-F238E27FC236}">
                <a16:creationId xmlns:a16="http://schemas.microsoft.com/office/drawing/2014/main" id="{78FD3E9B-4609-475E-9952-E1FD7C63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方案设计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DF418119-E607-4DCA-A4BB-904057F4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ReproGuard 把一次 PR 变成可追溯的复现风险证据</a:t>
            </a:r>
          </a:p>
        </p:txBody>
      </p:sp>
      <p:sp>
        <p:nvSpPr>
          <p:cNvPr id="3" name="rule-3">
            <a:extLst xmlns:a="http://schemas.openxmlformats.org/drawingml/2006/main">
              <a:ext uri="{FF2B5EF4-FFF2-40B4-BE49-F238E27FC236}">
                <a16:creationId xmlns:a16="http://schemas.microsoft.com/office/drawing/2014/main" id="{A0C3BEFF-6FCE-4CB5-8CAC-5F01EB7B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7D6EF7B1-C885-472B-B1CC-854490BC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03</a:t>
            </a:r>
          </a:p>
        </p:txBody>
      </p:sp>
      <p:sp>
        <p:nvSpPr>
          <p:cNvPr id="5" name="flow-edge-0">
            <a:extLst xmlns:a="http://schemas.openxmlformats.org/drawingml/2006/main">
              <a:ext uri="{FF2B5EF4-FFF2-40B4-BE49-F238E27FC236}">
                <a16:creationId xmlns:a16="http://schemas.microsoft.com/office/drawing/2014/main" id="{CA5CE6C7-CE98-4F69-B872-03EDA902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6" name="flow-node-0">
            <a:extLst xmlns:a="http://schemas.openxmlformats.org/drawingml/2006/main">
              <a:ext uri="{FF2B5EF4-FFF2-40B4-BE49-F238E27FC236}">
                <a16:creationId xmlns:a16="http://schemas.microsoft.com/office/drawing/2014/main" id="{61B00ACB-AF31-43D8-AC3F-E9521D5E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7" name="flow-num-0">
            <a:extLst xmlns:a="http://schemas.openxmlformats.org/drawingml/2006/main">
              <a:ext uri="{FF2B5EF4-FFF2-40B4-BE49-F238E27FC236}">
                <a16:creationId xmlns:a16="http://schemas.microsoft.com/office/drawing/2014/main" id="{566210EB-CAE1-4861-A2CA-AA6A0D99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01</a:t>
            </a:r>
          </a:p>
        </p:txBody>
      </p:sp>
      <p:sp>
        <p:nvSpPr>
          <p:cNvPr id="8" name="flow-label-0">
            <a:extLst xmlns:a="http://schemas.openxmlformats.org/drawingml/2006/main">
              <a:ext uri="{FF2B5EF4-FFF2-40B4-BE49-F238E27FC236}">
                <a16:creationId xmlns:a16="http://schemas.microsoft.com/office/drawing/2014/main" id="{F1EED3C2-5B14-4DDD-AF05-66F9A6E5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读取 PR diff</a:t>
            </a:r>
          </a:p>
        </p:txBody>
      </p:sp>
      <p:sp>
        <p:nvSpPr>
          <p:cNvPr id="9" name="flow-edge-1">
            <a:extLst xmlns:a="http://schemas.openxmlformats.org/drawingml/2006/main">
              <a:ext uri="{FF2B5EF4-FFF2-40B4-BE49-F238E27FC236}">
                <a16:creationId xmlns:a16="http://schemas.microsoft.com/office/drawing/2014/main" id="{D39AE923-E499-45D9-A434-EFA9BE85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0" name="flow-node-1">
            <a:extLst xmlns:a="http://schemas.openxmlformats.org/drawingml/2006/main">
              <a:ext uri="{FF2B5EF4-FFF2-40B4-BE49-F238E27FC236}">
                <a16:creationId xmlns:a16="http://schemas.microsoft.com/office/drawing/2014/main" id="{613E8CA9-DA15-437B-851F-D87E8D6B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11" name="flow-num-1">
            <a:extLst xmlns:a="http://schemas.openxmlformats.org/drawingml/2006/main">
              <a:ext uri="{FF2B5EF4-FFF2-40B4-BE49-F238E27FC236}">
                <a16:creationId xmlns:a16="http://schemas.microsoft.com/office/drawing/2014/main" id="{CDA14A17-866B-4CAF-B115-41F185A9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02</a:t>
            </a:r>
          </a:p>
        </p:txBody>
      </p:sp>
      <p:sp>
        <p:nvSpPr>
          <p:cNvPr id="12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E3EFA9E0-3952-4ADA-8082-BCC290F7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提取论文 / 协议约束</a:t>
            </a:r>
          </a:p>
        </p:txBody>
      </p:sp>
      <p:sp>
        <p:nvSpPr>
          <p:cNvPr id="13" name="flow-edge-2">
            <a:extLst xmlns:a="http://schemas.openxmlformats.org/drawingml/2006/main">
              <a:ext uri="{FF2B5EF4-FFF2-40B4-BE49-F238E27FC236}">
                <a16:creationId xmlns:a16="http://schemas.microsoft.com/office/drawing/2014/main" id="{0DC79DF7-0D63-4E3A-AEAB-AA6CB848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4" name="flow-node-2">
            <a:extLst xmlns:a="http://schemas.openxmlformats.org/drawingml/2006/main">
              <a:ext uri="{FF2B5EF4-FFF2-40B4-BE49-F238E27FC236}">
                <a16:creationId xmlns:a16="http://schemas.microsoft.com/office/drawing/2014/main" id="{A2457175-CD5D-4EFE-BC2A-DAB443C4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15" name="flow-num-2">
            <a:extLst xmlns:a="http://schemas.openxmlformats.org/drawingml/2006/main">
              <a:ext uri="{FF2B5EF4-FFF2-40B4-BE49-F238E27FC236}">
                <a16:creationId xmlns:a16="http://schemas.microsoft.com/office/drawing/2014/main" id="{2F5AC950-41C7-42A1-943C-0F1D5C3F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03</a:t>
            </a:r>
          </a:p>
        </p:txBody>
      </p:sp>
      <p:sp>
        <p:nvSpPr>
          <p:cNvPr id="16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7E61CFB5-8C04-416A-AD47-A9A65748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确定性规则检测</a:t>
            </a:r>
          </a:p>
        </p:txBody>
      </p:sp>
      <p:sp>
        <p:nvSpPr>
          <p:cNvPr id="17" name="flow-edge-3">
            <a:extLst xmlns:a="http://schemas.openxmlformats.org/drawingml/2006/main">
              <a:ext uri="{FF2B5EF4-FFF2-40B4-BE49-F238E27FC236}">
                <a16:creationId xmlns:a16="http://schemas.microsoft.com/office/drawing/2014/main" id="{D178B44D-4825-4CBF-BA11-74B8492E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8" name="flow-node-3">
            <a:extLst xmlns:a="http://schemas.openxmlformats.org/drawingml/2006/main">
              <a:ext uri="{FF2B5EF4-FFF2-40B4-BE49-F238E27FC236}">
                <a16:creationId xmlns:a16="http://schemas.microsoft.com/office/drawing/2014/main" id="{E40A8FDC-4BCC-4462-A45F-BCB3DA48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7C"/>
          </a:solidFill>
          <a:ln xmlns:a="http://schemas.openxmlformats.org/drawingml/2006/main" w="19050">
            <a:solidFill>
              <a:srgbClr val="2F5D7C"/>
            </a:solidFill>
            <a:prstDash val="solid"/>
          </a:ln>
        </p:spPr>
      </p:sp>
      <p:sp>
        <p:nvSpPr>
          <p:cNvPr id="19" name="flow-num-3">
            <a:extLst xmlns:a="http://schemas.openxmlformats.org/drawingml/2006/main">
              <a:ext uri="{FF2B5EF4-FFF2-40B4-BE49-F238E27FC236}">
                <a16:creationId xmlns:a16="http://schemas.microsoft.com/office/drawing/2014/main" id="{FA7C2376-AF87-4610-9DDB-BC16DB98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flow-label-3">
            <a:extLst xmlns:a="http://schemas.openxmlformats.org/drawingml/2006/main">
              <a:ext uri="{FF2B5EF4-FFF2-40B4-BE49-F238E27FC236}">
                <a16:creationId xmlns:a16="http://schemas.microsoft.com/office/drawing/2014/main" id="{58216104-AA64-4050-AC10-19711425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AI 补充语义</a:t>
            </a:r>
          </a:p>
        </p:txBody>
      </p:sp>
      <p:sp>
        <p:nvSpPr>
          <p:cNvPr id="21" name="flow-edge-4">
            <a:extLst xmlns:a="http://schemas.openxmlformats.org/drawingml/2006/main">
              <a:ext uri="{FF2B5EF4-FFF2-40B4-BE49-F238E27FC236}">
                <a16:creationId xmlns:a16="http://schemas.microsoft.com/office/drawing/2014/main" id="{415652C0-B44F-4B05-9A47-FA3164D3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22" name="flow-node-4">
            <a:extLst xmlns:a="http://schemas.openxmlformats.org/drawingml/2006/main">
              <a:ext uri="{FF2B5EF4-FFF2-40B4-BE49-F238E27FC236}">
                <a16:creationId xmlns:a16="http://schemas.microsoft.com/office/drawing/2014/main" id="{A067732C-6D91-45BF-A323-A9231E2F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23" name="flow-num-4">
            <a:extLst xmlns:a="http://schemas.openxmlformats.org/drawingml/2006/main">
              <a:ext uri="{FF2B5EF4-FFF2-40B4-BE49-F238E27FC236}">
                <a16:creationId xmlns:a16="http://schemas.microsoft.com/office/drawing/2014/main" id="{67BC67A5-EEE6-4EC3-B270-6F15B348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05</a:t>
            </a:r>
          </a:p>
        </p:txBody>
      </p:sp>
      <p:sp>
        <p:nvSpPr>
          <p:cNvPr id="24" name="flow-label-4">
            <a:extLst xmlns:a="http://schemas.openxmlformats.org/drawingml/2006/main">
              <a:ext uri="{FF2B5EF4-FFF2-40B4-BE49-F238E27FC236}">
                <a16:creationId xmlns:a16="http://schemas.microsoft.com/office/drawing/2014/main" id="{B59F4A01-0127-4AA0-AC36-9D2BC932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绑定双向证据</a:t>
            </a:r>
          </a:p>
        </p:txBody>
      </p:sp>
      <p:sp>
        <p:nvSpPr>
          <p:cNvPr id="25" name="flow-node-5">
            <a:extLst xmlns:a="http://schemas.openxmlformats.org/drawingml/2006/main">
              <a:ext uri="{FF2B5EF4-FFF2-40B4-BE49-F238E27FC236}">
                <a16:creationId xmlns:a16="http://schemas.microsoft.com/office/drawing/2014/main" id="{12BF6CD3-F756-446A-A7AF-C34E21B6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26" name="flow-num-5">
            <a:extLst xmlns:a="http://schemas.openxmlformats.org/drawingml/2006/main">
              <a:ext uri="{FF2B5EF4-FFF2-40B4-BE49-F238E27FC236}">
                <a16:creationId xmlns:a16="http://schemas.microsoft.com/office/drawing/2014/main" id="{1F945163-6531-452B-9DE0-EC100143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06</a:t>
            </a:r>
          </a:p>
        </p:txBody>
      </p:sp>
      <p:sp>
        <p:nvSpPr>
          <p:cNvPr id="27" name="flow-label-5">
            <a:extLst xmlns:a="http://schemas.openxmlformats.org/drawingml/2006/main">
              <a:ext uri="{FF2B5EF4-FFF2-40B4-BE49-F238E27FC236}">
                <a16:creationId xmlns:a16="http://schemas.microsoft.com/office/drawing/2014/main" id="{83E1EEBE-2957-4521-BFE1-404DD457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人工确认结论</a:t>
            </a:r>
          </a:p>
        </p:txBody>
      </p:sp>
      <p:sp>
        <p:nvSpPr>
          <p:cNvPr id="28" name="flow-boundary-bg">
            <a:extLst xmlns:a="http://schemas.openxmlformats.org/drawingml/2006/main">
              <a:ext uri="{FF2B5EF4-FFF2-40B4-BE49-F238E27FC236}">
                <a16:creationId xmlns:a16="http://schemas.microsoft.com/office/drawing/2014/main" id="{D8E63EEC-0D24-467F-BBF4-CD3BB117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29" name="flow-boundary">
            <a:extLst xmlns:a="http://schemas.openxmlformats.org/drawingml/2006/main">
              <a:ext uri="{FF2B5EF4-FFF2-40B4-BE49-F238E27FC236}">
                <a16:creationId xmlns:a16="http://schemas.microsoft.com/office/drawing/2014/main" id="{CAF83DAA-D2A8-4235-A54C-671DB5B1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2F5D7C"/>
                </a:solidFill>
              </a:defRPr>
            </a:pPr>
            <a:r>
              <a:rPr sz="1425">
                <a:solidFill>
                  <a:srgbClr val="2F5D7C"/>
                </a:solidFill>
              </a:rPr>
              <a:t>规则结论是权威层；模型只处理非结构化语义，并且只能引用系统提供的 D### / P### 来源。所有科研风险默认 needs_review。</a:t>
            </a:r>
          </a:p>
        </p:txBody>
      </p:sp>
    </p:spTree>
    <p:extLst>
      <p:ext uri="{BB962C8B-B14F-4D97-AF65-F5344CB8AC3E}">
        <p14:creationId xmlns:p14="http://schemas.microsoft.com/office/powerpoint/2010/main" val="11499478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4">
            <a:extLst xmlns:a="http://schemas.openxmlformats.org/drawingml/2006/main">
              <a:ext uri="{FF2B5EF4-FFF2-40B4-BE49-F238E27FC236}">
                <a16:creationId xmlns:a16="http://schemas.microsoft.com/office/drawing/2014/main" id="{BB4486D5-9001-4147-9305-70AE8D7E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创新性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DC3B6B38-D24A-40A6-95FA-F14F6CAD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核心创新是把审查对象从“代码质量”扩展到“复现约束”</a:t>
            </a:r>
          </a:p>
        </p:txBody>
      </p:sp>
      <p:sp>
        <p:nvSpPr>
          <p:cNvPr id="3" name="rule-4">
            <a:extLst xmlns:a="http://schemas.openxmlformats.org/drawingml/2006/main">
              <a:ext uri="{FF2B5EF4-FFF2-40B4-BE49-F238E27FC236}">
                <a16:creationId xmlns:a16="http://schemas.microsoft.com/office/drawing/2014/main" id="{6E58DC8F-4C5A-4D17-9122-5AB77A78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4546DFEC-95FF-47A8-8D29-01B964E7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04</a:t>
            </a:r>
          </a:p>
        </p:txBody>
      </p:sp>
      <p:sp>
        <p:nvSpPr>
          <p:cNvPr id="5" name="innovation-accent-0">
            <a:extLst xmlns:a="http://schemas.openxmlformats.org/drawingml/2006/main">
              <a:ext uri="{FF2B5EF4-FFF2-40B4-BE49-F238E27FC236}">
                <a16:creationId xmlns:a16="http://schemas.microsoft.com/office/drawing/2014/main" id="{3984B4E6-2FF3-4D65-9068-AB717D5E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6" name="innovation-title-0">
            <a:extLst xmlns:a="http://schemas.openxmlformats.org/drawingml/2006/main">
              <a:ext uri="{FF2B5EF4-FFF2-40B4-BE49-F238E27FC236}">
                <a16:creationId xmlns:a16="http://schemas.microsoft.com/office/drawing/2014/main" id="{924EADBD-F016-4DBB-B748-FBCB2775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研究约束对齐</a:t>
            </a:r>
          </a:p>
        </p:txBody>
      </p:sp>
      <p:sp>
        <p:nvSpPr>
          <p:cNvPr id="7" name="innovation-body-0">
            <a:extLst xmlns:a="http://schemas.openxmlformats.org/drawingml/2006/main">
              <a:ext uri="{FF2B5EF4-FFF2-40B4-BE49-F238E27FC236}">
                <a16:creationId xmlns:a16="http://schemas.microsoft.com/office/drawing/2014/main" id="{123C5A32-CF25-4F0C-B490-48A828AA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把论文页码、协议字段与代码变更放进同一条审查链。</a:t>
            </a:r>
          </a:p>
        </p:txBody>
      </p:sp>
      <p:sp>
        <p:nvSpPr>
          <p:cNvPr id="8" name="innovation-accent-1">
            <a:extLst xmlns:a="http://schemas.openxmlformats.org/drawingml/2006/main">
              <a:ext uri="{FF2B5EF4-FFF2-40B4-BE49-F238E27FC236}">
                <a16:creationId xmlns:a16="http://schemas.microsoft.com/office/drawing/2014/main" id="{06B9BDA6-A5C9-4D20-83C4-10168F74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7C"/>
          </a:solidFill>
          <a:ln xmlns:a="http://schemas.openxmlformats.org/drawingml/2006/main" w="0">
            <a:solidFill>
              <a:srgbClr val="2F5D7C"/>
            </a:solidFill>
            <a:prstDash val="solid"/>
          </a:ln>
        </p:spPr>
      </p:sp>
      <p:sp>
        <p:nvSpPr>
          <p:cNvPr id="9" name="innovation-title-1">
            <a:extLst xmlns:a="http://schemas.openxmlformats.org/drawingml/2006/main">
              <a:ext uri="{FF2B5EF4-FFF2-40B4-BE49-F238E27FC236}">
                <a16:creationId xmlns:a16="http://schemas.microsoft.com/office/drawing/2014/main" id="{75D12066-0985-4710-82D8-6D0DFF2F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权限隔离</a:t>
            </a:r>
          </a:p>
        </p:txBody>
      </p:sp>
      <p:sp>
        <p:nvSpPr>
          <p:cNvPr id="10" name="innovation-body-1">
            <a:extLst xmlns:a="http://schemas.openxmlformats.org/drawingml/2006/main">
              <a:ext uri="{FF2B5EF4-FFF2-40B4-BE49-F238E27FC236}">
                <a16:creationId xmlns:a16="http://schemas.microsoft.com/office/drawing/2014/main" id="{C23F46F0-F9C3-4939-913D-096E99A7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确定性规则不可被模型覆盖；无效来源直接丢弃。</a:t>
            </a:r>
          </a:p>
        </p:txBody>
      </p:sp>
      <p:sp>
        <p:nvSpPr>
          <p:cNvPr id="11" name="innovation-accent-2">
            <a:extLst xmlns:a="http://schemas.openxmlformats.org/drawingml/2006/main">
              <a:ext uri="{FF2B5EF4-FFF2-40B4-BE49-F238E27FC236}">
                <a16:creationId xmlns:a16="http://schemas.microsoft.com/office/drawing/2014/main" id="{B104B84E-ED3B-4A1A-97B1-529069EB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12" name="innovation-title-2">
            <a:extLst xmlns:a="http://schemas.openxmlformats.org/drawingml/2006/main">
              <a:ext uri="{FF2B5EF4-FFF2-40B4-BE49-F238E27FC236}">
                <a16:creationId xmlns:a16="http://schemas.microsoft.com/office/drawing/2014/main" id="{1EBAABAD-7172-41AF-8496-6567AE7F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可复核输出</a:t>
            </a:r>
          </a:p>
        </p:txBody>
      </p:sp>
      <p:sp>
        <p:nvSpPr>
          <p:cNvPr id="13" name="innovation-body-2">
            <a:extLst xmlns:a="http://schemas.openxmlformats.org/drawingml/2006/main">
              <a:ext uri="{FF2B5EF4-FFF2-40B4-BE49-F238E27FC236}">
                <a16:creationId xmlns:a16="http://schemas.microsoft.com/office/drawing/2014/main" id="{FA7F9777-ACAB-4D7E-9D0F-A3FB4306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每条风险绑定 diff 行号、来源位置、建议和人工状态。</a:t>
            </a:r>
          </a:p>
        </p:txBody>
      </p:sp>
      <p:sp>
        <p:nvSpPr>
          <p:cNvPr id="14" name="innovation-bottom-rule">
            <a:extLst xmlns:a="http://schemas.openxmlformats.org/drawingml/2006/main">
              <a:ext uri="{FF2B5EF4-FFF2-40B4-BE49-F238E27FC236}">
                <a16:creationId xmlns:a16="http://schemas.microsoft.com/office/drawing/2014/main" id="{83A0BEDA-3007-4152-8055-969875CB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5" name="innovation-bottom">
            <a:extLst xmlns:a="http://schemas.openxmlformats.org/drawingml/2006/main">
              <a:ext uri="{FF2B5EF4-FFF2-40B4-BE49-F238E27FC236}">
                <a16:creationId xmlns:a16="http://schemas.microsoft.com/office/drawing/2014/main" id="{DEDBABF7-075E-4CCA-87BB-8D2EC627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5D7C"/>
                </a:solidFill>
              </a:defRPr>
            </a:pPr>
            <a:r>
              <a:rPr sz="1500" b="1">
                <a:solidFill>
                  <a:srgbClr val="2F5D7C"/>
                </a:solidFill>
              </a:rPr>
              <a:t>产品形态：GitHub Composite Action + CLI + 网页原型 + 开放 Schema + 评测脚本</a:t>
            </a:r>
          </a:p>
        </p:txBody>
      </p:sp>
    </p:spTree>
    <p:extLst>
      <p:ext uri="{BB962C8B-B14F-4D97-AF65-F5344CB8AC3E}">
        <p14:creationId xmlns:p14="http://schemas.microsoft.com/office/powerpoint/2010/main" val="6559280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5">
            <a:extLst xmlns:a="http://schemas.openxmlformats.org/drawingml/2006/main">
              <a:ext uri="{FF2B5EF4-FFF2-40B4-BE49-F238E27FC236}">
                <a16:creationId xmlns:a16="http://schemas.microsoft.com/office/drawing/2014/main" id="{24297377-4EA7-44D0-8E9A-A088BFDE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真实案例 · PYTORCH-UNET PR #141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3C82192-BE38-4B56-AEB7-5A5C893E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真实历史 PR 回放：一次改动触发三类复现风险</a:t>
            </a:r>
          </a:p>
        </p:txBody>
      </p:sp>
      <p:sp>
        <p:nvSpPr>
          <p:cNvPr id="3" name="rule-5">
            <a:extLst xmlns:a="http://schemas.openxmlformats.org/drawingml/2006/main">
              <a:ext uri="{FF2B5EF4-FFF2-40B4-BE49-F238E27FC236}">
                <a16:creationId xmlns:a16="http://schemas.microsoft.com/office/drawing/2014/main" id="{25812A49-0FBD-418B-AE62-304A3CB3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C408D550-9A2A-4694-8E5F-972C6F71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05</a:t>
            </a:r>
          </a:p>
        </p:txBody>
      </p:sp>
      <p:sp>
        <p:nvSpPr>
          <p:cNvPr id="5" name="case-fact">
            <a:extLst xmlns:a="http://schemas.openxmlformats.org/drawingml/2006/main">
              <a:ext uri="{FF2B5EF4-FFF2-40B4-BE49-F238E27FC236}">
                <a16:creationId xmlns:a16="http://schemas.microsoft.com/office/drawing/2014/main" id="{76986680-41EF-4365-A404-8F44CEF9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公开历史 PR · 已合并 · 完整 diff 回放 · 结论仍需研究者确认</a:t>
            </a:r>
          </a:p>
        </p:txBody>
      </p:sp>
      <p:sp>
        <p:nvSpPr>
          <p:cNvPr id="6" name="case-num-0">
            <a:extLst xmlns:a="http://schemas.openxmlformats.org/drawingml/2006/main">
              <a:ext uri="{FF2B5EF4-FFF2-40B4-BE49-F238E27FC236}">
                <a16:creationId xmlns:a16="http://schemas.microsoft.com/office/drawing/2014/main" id="{23792836-854D-4713-B0FB-D79C3D35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01</a:t>
            </a:r>
          </a:p>
        </p:txBody>
      </p:sp>
      <p:sp>
        <p:nvSpPr>
          <p:cNvPr id="7" name="case-title-0">
            <a:extLst xmlns:a="http://schemas.openxmlformats.org/drawingml/2006/main">
              <a:ext uri="{FF2B5EF4-FFF2-40B4-BE49-F238E27FC236}">
                <a16:creationId xmlns:a16="http://schemas.microsoft.com/office/drawing/2014/main" id="{0C55A48B-B844-4954-ABC0-A7C9BFE9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765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评价分母变化</a:t>
            </a:r>
          </a:p>
        </p:txBody>
      </p:sp>
      <p:sp>
        <p:nvSpPr>
          <p:cNvPr id="8" name="case-body-0">
            <a:extLst xmlns:a="http://schemas.openxmlformats.org/drawingml/2006/main">
              <a:ext uri="{FF2B5EF4-FFF2-40B4-BE49-F238E27FC236}">
                <a16:creationId xmlns:a16="http://schemas.microsoft.com/office/drawing/2014/main" id="{13A8EB01-B5EA-4A49-A464-B0C8F4E5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n_val = len(loader) 后以批次数归一化，需核对论文与测试口径。</a:t>
            </a:r>
          </a:p>
        </p:txBody>
      </p:sp>
      <p:sp>
        <p:nvSpPr>
          <p:cNvPr id="9" name="case-rule-0">
            <a:extLst xmlns:a="http://schemas.openxmlformats.org/drawingml/2006/main">
              <a:ext uri="{FF2B5EF4-FFF2-40B4-BE49-F238E27FC236}">
                <a16:creationId xmlns:a16="http://schemas.microsoft.com/office/drawing/2014/main" id="{1C32517C-0598-4664-969A-68F71571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986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0" name="case-num-1">
            <a:extLst xmlns:a="http://schemas.openxmlformats.org/drawingml/2006/main">
              <a:ext uri="{FF2B5EF4-FFF2-40B4-BE49-F238E27FC236}">
                <a16:creationId xmlns:a16="http://schemas.microsoft.com/office/drawing/2014/main" id="{77743478-552A-49C6-AB2A-123A78A7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02</a:t>
            </a:r>
          </a:p>
        </p:txBody>
      </p:sp>
      <p:sp>
        <p:nvSpPr>
          <p:cNvPr id="11" name="case-title-1">
            <a:extLst xmlns:a="http://schemas.openxmlformats.org/drawingml/2006/main">
              <a:ext uri="{FF2B5EF4-FFF2-40B4-BE49-F238E27FC236}">
                <a16:creationId xmlns:a16="http://schemas.microsoft.com/office/drawing/2014/main" id="{84FB45BC-4332-44C8-8DE9-B674FAA3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5623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评价流程变化</a:t>
            </a:r>
          </a:p>
        </p:txBody>
      </p:sp>
      <p:sp>
        <p:nvSpPr>
          <p:cNvPr id="12" name="case-body-1">
            <a:extLst xmlns:a="http://schemas.openxmlformats.org/drawingml/2006/main">
              <a:ext uri="{FF2B5EF4-FFF2-40B4-BE49-F238E27FC236}">
                <a16:creationId xmlns:a16="http://schemas.microsoft.com/office/drawing/2014/main" id="{E610C8CE-D1B9-459F-93C5-5502AE72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623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Sigmoid、Dice 与交叉熵相关路径变化，需确认指标定义是否同步。</a:t>
            </a:r>
          </a:p>
        </p:txBody>
      </p:sp>
      <p:sp>
        <p:nvSpPr>
          <p:cNvPr id="13" name="case-rule-1">
            <a:extLst xmlns:a="http://schemas.openxmlformats.org/drawingml/2006/main">
              <a:ext uri="{FF2B5EF4-FFF2-40B4-BE49-F238E27FC236}">
                <a16:creationId xmlns:a16="http://schemas.microsoft.com/office/drawing/2014/main" id="{055DD03B-A433-4C31-826E-C65CCA79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986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4" name="case-num-2">
            <a:extLst xmlns:a="http://schemas.openxmlformats.org/drawingml/2006/main">
              <a:ext uri="{FF2B5EF4-FFF2-40B4-BE49-F238E27FC236}">
                <a16:creationId xmlns:a16="http://schemas.microsoft.com/office/drawing/2014/main" id="{BDFD9CA0-E10F-4D89-A07D-4AD095F6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03</a:t>
            </a:r>
          </a:p>
        </p:txBody>
      </p:sp>
      <p:sp>
        <p:nvSpPr>
          <p:cNvPr id="15" name="case-title-2">
            <a:extLst xmlns:a="http://schemas.openxmlformats.org/drawingml/2006/main">
              <a:ext uri="{FF2B5EF4-FFF2-40B4-BE49-F238E27FC236}">
                <a16:creationId xmlns:a16="http://schemas.microsoft.com/office/drawing/2014/main" id="{ABADE0EF-2DB7-41D2-A96C-F9DE14B0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482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样本范围变化</a:t>
            </a:r>
          </a:p>
        </p:txBody>
      </p:sp>
      <p:sp>
        <p:nvSpPr>
          <p:cNvPr id="16" name="case-body-2">
            <a:extLst xmlns:a="http://schemas.openxmlformats.org/drawingml/2006/main">
              <a:ext uri="{FF2B5EF4-FFF2-40B4-BE49-F238E27FC236}">
                <a16:creationId xmlns:a16="http://schemas.microsoft.com/office/drawing/2014/main" id="{C414E7B0-16F6-4C2C-9729-E71311A6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482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drop_last=True 可能排除最后一个不完整批次。</a:t>
            </a:r>
          </a:p>
        </p:txBody>
      </p:sp>
      <p:sp>
        <p:nvSpPr>
          <p:cNvPr id="17" name="case-caveat">
            <a:extLst xmlns:a="http://schemas.openxmlformats.org/drawingml/2006/main">
              <a:ext uri="{FF2B5EF4-FFF2-40B4-BE49-F238E27FC236}">
                <a16:creationId xmlns:a16="http://schemas.microsoft.com/office/drawing/2014/main" id="{C3C9F64B-631B-4194-AA4C-0139D248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3405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5D7C"/>
                </a:solidFill>
              </a:defRPr>
            </a:pPr>
            <a:r>
              <a:rPr sz="1350" b="1">
                <a:solidFill>
                  <a:srgbClr val="2F5D7C"/>
                </a:solidFill>
              </a:rPr>
              <a:t>这是“发现需要复核”的真实证据，不是自动证明论文一定不可复现。</a:t>
            </a:r>
          </a:p>
        </p:txBody>
      </p:sp>
    </p:spTree>
    <p:extLst>
      <p:ext uri="{BB962C8B-B14F-4D97-AF65-F5344CB8AC3E}">
        <p14:creationId xmlns:p14="http://schemas.microsoft.com/office/powerpoint/2010/main" val="9932023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6">
            <a:extLst xmlns:a="http://schemas.openxmlformats.org/drawingml/2006/main">
              <a:ext uri="{FF2B5EF4-FFF2-40B4-BE49-F238E27FC236}">
                <a16:creationId xmlns:a16="http://schemas.microsoft.com/office/drawing/2014/main" id="{F0450538-C627-40F5-90F7-483D19F8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实现完成度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398CED1A-929B-4937-94B6-68244713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GitHub Action 已跑通同仓库与跨仓库完整链路</a:t>
            </a:r>
          </a:p>
        </p:txBody>
      </p:sp>
      <p:sp>
        <p:nvSpPr>
          <p:cNvPr id="3" name="rule-6">
            <a:extLst xmlns:a="http://schemas.openxmlformats.org/drawingml/2006/main">
              <a:ext uri="{FF2B5EF4-FFF2-40B4-BE49-F238E27FC236}">
                <a16:creationId xmlns:a16="http://schemas.microsoft.com/office/drawing/2014/main" id="{31CEFBF4-2E70-4448-9AC1-FE32047D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3DD3EA0C-83CD-4160-AF48-02C6D98B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06</a:t>
            </a:r>
          </a:p>
        </p:txBody>
      </p:sp>
      <p:sp>
        <p:nvSpPr>
          <p:cNvPr id="5" name="action-frame">
            <a:extLst xmlns:a="http://schemas.openxmlformats.org/drawingml/2006/main">
              <a:ext uri="{FF2B5EF4-FFF2-40B4-BE49-F238E27FC236}">
                <a16:creationId xmlns:a16="http://schemas.microsoft.com/office/drawing/2014/main" id="{5533DAEA-74F7-4D39-8D7F-A93BC22D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37147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D0C8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55eddfce84e44"/>
          <a:stretch xmlns:a="http://schemas.openxmlformats.org/drawingml/2006/main"/>
        </p:blipFill>
        <p:spPr>
          <a:xfrm xmlns:a="http://schemas.openxmlformats.org/drawingml/2006/main">
            <a:off x="1279297" y="1981200"/>
            <a:ext cx="2642057" cy="3600450"/>
          </a:xfrm>
          <a:prstGeom xmlns:a="http://schemas.openxmlformats.org/drawingml/2006/main" prst="rect">
            <a:avLst/>
          </a:prstGeom>
        </p:spPr>
      </p:pic>
      <p:sp>
        <p:nvSpPr>
          <p:cNvPr id="7" name="action-proof-title">
            <a:extLst xmlns:a="http://schemas.openxmlformats.org/drawingml/2006/main">
              <a:ext uri="{FF2B5EF4-FFF2-40B4-BE49-F238E27FC236}">
                <a16:creationId xmlns:a16="http://schemas.microsoft.com/office/drawing/2014/main" id="{05651357-37AF-41E2-9C9F-218D8FFF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212B"/>
                </a:solidFill>
              </a:defRPr>
            </a:pPr>
            <a:r>
              <a:rPr sz="1950" b="1">
                <a:solidFill>
                  <a:srgbClr val="18212B"/>
                </a:solidFill>
              </a:rPr>
              <a:t>PR #1 · Run 39933280765</a:t>
            </a:r>
          </a:p>
        </p:txBody>
      </p:sp>
      <p:sp>
        <p:nvSpPr>
          <p:cNvPr id="8" name="action-proof-list">
            <a:extLst xmlns:a="http://schemas.openxmlformats.org/drawingml/2006/main">
              <a:ext uri="{FF2B5EF4-FFF2-40B4-BE49-F238E27FC236}">
                <a16:creationId xmlns:a16="http://schemas.microsoft.com/office/drawing/2014/main" id="{9FD9CDC1-86BE-4AEE-86E4-36139587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24150"/>
            <a:ext cx="5715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行级 warning 精确定位 train.py:10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Job Summary 展示风险摘要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同一条 PR 评论被更新，避免重复刷屏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JSON / Markdown artifact 上传成功</a:t>
            </a:r>
          </a:p>
        </p:txBody>
      </p:sp>
      <p:sp>
        <p:nvSpPr>
          <p:cNvPr id="9" name="action-boundary-bg">
            <a:extLst xmlns:a="http://schemas.openxmlformats.org/drawingml/2006/main">
              <a:ext uri="{FF2B5EF4-FFF2-40B4-BE49-F238E27FC236}">
                <a16:creationId xmlns:a16="http://schemas.microsoft.com/office/drawing/2014/main" id="{DF16F852-F265-4BE9-B11A-9AD79D7C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53000"/>
            <a:ext cx="5715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ED8"/>
          </a:solidFill>
          <a:ln xmlns:a="http://schemas.openxmlformats.org/drawingml/2006/main" w="0">
            <a:solidFill>
              <a:srgbClr val="F1DED8"/>
            </a:solidFill>
            <a:prstDash val="solid"/>
          </a:ln>
        </p:spPr>
      </p:sp>
      <p:sp>
        <p:nvSpPr>
          <p:cNvPr id="10" name="action-boundary">
            <a:extLst xmlns:a="http://schemas.openxmlformats.org/drawingml/2006/main">
              <a:ext uri="{FF2B5EF4-FFF2-40B4-BE49-F238E27FC236}">
                <a16:creationId xmlns:a16="http://schemas.microsoft.com/office/drawing/2014/main" id="{10A2CB0C-B89A-44BE-84BD-24A417E0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143500"/>
            <a:ext cx="523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3543F"/>
                </a:solidFill>
              </a:defRPr>
            </a:pPr>
            <a:r>
              <a:rPr sz="1275" b="1">
                <a:solidFill>
                  <a:srgbClr val="D3543F"/>
                </a:solidFill>
              </a:rPr>
              <a:t>已完成 uses: ./ 同仓库验收与公开仓库 @v1 跨仓库验证。</a:t>
            </a:r>
          </a:p>
        </p:txBody>
      </p:sp>
    </p:spTree>
    <p:extLst>
      <p:ext uri="{BB962C8B-B14F-4D97-AF65-F5344CB8AC3E}">
        <p14:creationId xmlns:p14="http://schemas.microsoft.com/office/powerpoint/2010/main" val="2695585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-7">
            <a:extLst xmlns:a="http://schemas.openxmlformats.org/drawingml/2006/main">
              <a:ext uri="{FF2B5EF4-FFF2-40B4-BE49-F238E27FC236}">
                <a16:creationId xmlns:a16="http://schemas.microsoft.com/office/drawing/2014/main" id="{1CE836D3-428A-4A1F-8C9A-090522C2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可验证效果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203C6420-6AB1-44AA-AF72-D7EBD67B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效果验证同时保留通过、人工评测和边界说明</a:t>
            </a:r>
          </a:p>
        </p:txBody>
      </p:sp>
      <p:sp>
        <p:nvSpPr>
          <p:cNvPr id="3" name="rule-7">
            <a:extLst xmlns:a="http://schemas.openxmlformats.org/drawingml/2006/main">
              <a:ext uri="{FF2B5EF4-FFF2-40B4-BE49-F238E27FC236}">
                <a16:creationId xmlns:a16="http://schemas.microsoft.com/office/drawing/2014/main" id="{167ABD8B-37D2-4488-AADC-A081B77D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7A331448-99C5-4BF6-A32B-65362D3B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07</a:t>
            </a:r>
          </a:p>
        </p:txBody>
      </p:sp>
      <p:sp>
        <p:nvSpPr>
          <p:cNvPr id="5" name="项自动化测试全部通过-value">
            <a:extLst xmlns:a="http://schemas.openxmlformats.org/drawingml/2006/main">
              <a:ext uri="{FF2B5EF4-FFF2-40B4-BE49-F238E27FC236}">
                <a16:creationId xmlns:a16="http://schemas.microsoft.com/office/drawing/2014/main" id="{E8BCACE2-4CE5-4BB1-A610-6970ED3F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3543F"/>
                </a:solidFill>
              </a:defRPr>
            </a:pPr>
            <a:r>
              <a:rPr sz="4350" b="1">
                <a:solidFill>
                  <a:srgbClr val="D3543F"/>
                </a:solidFill>
              </a:rPr>
              <a:t>154</a:t>
            </a:r>
          </a:p>
        </p:txBody>
      </p:sp>
      <p:sp>
        <p:nvSpPr>
          <p:cNvPr id="6" name="项自动化测试全部通过-label">
            <a:extLst xmlns:a="http://schemas.openxmlformats.org/drawingml/2006/main">
              <a:ext uri="{FF2B5EF4-FFF2-40B4-BE49-F238E27FC236}">
                <a16:creationId xmlns:a16="http://schemas.microsoft.com/office/drawing/2014/main" id="{0EF06EA5-8F0B-4EA4-9584-C9F23617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项自动化测试全部通过</a:t>
            </a:r>
          </a:p>
        </p:txBody>
      </p:sp>
      <p:sp>
        <p:nvSpPr>
          <p:cNvPr id="7" name="条核心规则完成逐条人工评测-value">
            <a:extLst xmlns:a="http://schemas.openxmlformats.org/drawingml/2006/main">
              <a:ext uri="{FF2B5EF4-FFF2-40B4-BE49-F238E27FC236}">
                <a16:creationId xmlns:a16="http://schemas.microsoft.com/office/drawing/2014/main" id="{71308D2F-4DED-4A05-8149-16C4F12F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479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F5D7C"/>
                </a:solidFill>
              </a:defRPr>
            </a:pPr>
            <a:r>
              <a:rPr sz="4350" b="1">
                <a:solidFill>
                  <a:srgbClr val="2F5D7C"/>
                </a:solidFill>
              </a:rPr>
              <a:t>6</a:t>
            </a:r>
          </a:p>
        </p:txBody>
      </p:sp>
      <p:sp>
        <p:nvSpPr>
          <p:cNvPr id="8" name="条核心规则完成逐条人工评测-label">
            <a:extLst xmlns:a="http://schemas.openxmlformats.org/drawingml/2006/main">
              <a:ext uri="{FF2B5EF4-FFF2-40B4-BE49-F238E27FC236}">
                <a16:creationId xmlns:a16="http://schemas.microsoft.com/office/drawing/2014/main" id="{60A93328-18BE-4B11-B1FD-48A7761C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条核心规则完成逐条人工评测</a:t>
            </a:r>
          </a:p>
        </p:txBody>
      </p:sp>
      <p:sp>
        <p:nvSpPr>
          <p:cNvPr id="9" name="次 DeepSeek 真实调用并人工复核-value">
            <a:extLst xmlns:a="http://schemas.openxmlformats.org/drawingml/2006/main">
              <a:ext uri="{FF2B5EF4-FFF2-40B4-BE49-F238E27FC236}">
                <a16:creationId xmlns:a16="http://schemas.microsoft.com/office/drawing/2014/main" id="{876CDB9E-5F02-4C3A-9DAE-4E5B5C99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479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F7D6B"/>
                </a:solidFill>
              </a:defRPr>
            </a:pPr>
            <a:r>
              <a:rPr sz="4350" b="1">
                <a:solidFill>
                  <a:srgbClr val="2F7D6B"/>
                </a:solidFill>
              </a:rPr>
              <a:t>1</a:t>
            </a:r>
          </a:p>
        </p:txBody>
      </p:sp>
      <p:sp>
        <p:nvSpPr>
          <p:cNvPr id="10" name="次 DeepSeek 真实调用并人工复核-label">
            <a:extLst xmlns:a="http://schemas.openxmlformats.org/drawingml/2006/main">
              <a:ext uri="{FF2B5EF4-FFF2-40B4-BE49-F238E27FC236}">
                <a16:creationId xmlns:a16="http://schemas.microsoft.com/office/drawing/2014/main" id="{EC260741-64B4-4099-8FC3-66D961D5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次 DeepSeek 真实调用并人工复核</a:t>
            </a:r>
          </a:p>
        </p:txBody>
      </p:sp>
      <p:sp>
        <p:nvSpPr>
          <p:cNvPr id="11" name="eval-rule">
            <a:extLst xmlns:a="http://schemas.openxmlformats.org/drawingml/2006/main">
              <a:ext uri="{FF2B5EF4-FFF2-40B4-BE49-F238E27FC236}">
                <a16:creationId xmlns:a16="http://schemas.microsoft.com/office/drawing/2014/main" id="{E5396F1B-378E-4AA4-8931-3A6EFF45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2" name="eval-boundary-title">
            <a:extLst xmlns:a="http://schemas.openxmlformats.org/drawingml/2006/main">
              <a:ext uri="{FF2B5EF4-FFF2-40B4-BE49-F238E27FC236}">
                <a16:creationId xmlns:a16="http://schemas.microsoft.com/office/drawing/2014/main" id="{76485EE4-1481-4709-9952-EFA101D5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212B"/>
                </a:solidFill>
              </a:defRPr>
            </a:pPr>
            <a:r>
              <a:rPr sz="1650" b="1">
                <a:solidFill>
                  <a:srgbClr val="18212B"/>
                </a:solidFill>
              </a:rPr>
              <a:t>必须如实说明的边界</a:t>
            </a:r>
          </a:p>
        </p:txBody>
      </p:sp>
      <p:sp>
        <p:nvSpPr>
          <p:cNvPr id="13" name="eval-boundary">
            <a:extLst xmlns:a="http://schemas.openxmlformats.org/drawingml/2006/main">
              <a:ext uri="{FF2B5EF4-FFF2-40B4-BE49-F238E27FC236}">
                <a16:creationId xmlns:a16="http://schemas.microsoft.com/office/drawing/2014/main" id="{E1AD19A3-ED42-489C-A5CA-B0654CE6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9580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6/6 是当前样本的正类复测，不等于整体准确率 100%。</a:t>
            </a:r>
          </a:p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未声称覆盖所有论文、语言或实验类型。</a:t>
            </a:r>
          </a:p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模型输出、跨学科语义和最终风险都需要人工确认。</a:t>
            </a:r>
          </a:p>
        </p:txBody>
      </p:sp>
    </p:spTree>
    <p:extLst>
      <p:ext uri="{BB962C8B-B14F-4D97-AF65-F5344CB8AC3E}">
        <p14:creationId xmlns:p14="http://schemas.microsoft.com/office/powerpoint/2010/main" val="5003587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-8">
            <a:extLst xmlns:a="http://schemas.openxmlformats.org/drawingml/2006/main">
              <a:ext uri="{FF2B5EF4-FFF2-40B4-BE49-F238E27FC236}">
                <a16:creationId xmlns:a16="http://schemas.microsoft.com/office/drawing/2014/main" id="{8A762F7F-94E2-4CF0-9C73-2D3EFEC5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差异化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EE638017-0185-42C2-BDCA-EA1A3BE3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现有工具查代码，ReproGuard 查代码与研究约束之间的断点</a:t>
            </a:r>
          </a:p>
        </p:txBody>
      </p:sp>
      <p:sp>
        <p:nvSpPr>
          <p:cNvPr id="3" name="rule-8">
            <a:extLst xmlns:a="http://schemas.openxmlformats.org/drawingml/2006/main">
              <a:ext uri="{FF2B5EF4-FFF2-40B4-BE49-F238E27FC236}">
                <a16:creationId xmlns:a16="http://schemas.microsoft.com/office/drawing/2014/main" id="{295FDD28-E484-4141-A5A6-728CE57B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8">
            <a:extLst xmlns:a="http://schemas.openxmlformats.org/drawingml/2006/main">
              <a:ext uri="{FF2B5EF4-FFF2-40B4-BE49-F238E27FC236}">
                <a16:creationId xmlns:a16="http://schemas.microsoft.com/office/drawing/2014/main" id="{F0366FE3-C19B-48EE-AC9E-43290113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08</a:t>
            </a:r>
          </a:p>
        </p:txBody>
      </p:sp>
      <p:sp>
        <p:nvSpPr>
          <p:cNvPr id="5" name="compare-head">
            <a:extLst xmlns:a="http://schemas.openxmlformats.org/drawingml/2006/main">
              <a:ext uri="{FF2B5EF4-FFF2-40B4-BE49-F238E27FC236}">
                <a16:creationId xmlns:a16="http://schemas.microsoft.com/office/drawing/2014/main" id="{F4A46F5F-5C26-43A1-B807-B9F1086C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1076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0">
            <a:solidFill>
              <a:srgbClr val="18212B"/>
            </a:solidFill>
            <a:prstDash val="solid"/>
          </a:ln>
        </p:spPr>
      </p:sp>
      <p:sp>
        <p:nvSpPr>
          <p:cNvPr id="6" name="compare-head-0">
            <a:extLst xmlns:a="http://schemas.openxmlformats.org/drawingml/2006/main">
              <a:ext uri="{FF2B5EF4-FFF2-40B4-BE49-F238E27FC236}">
                <a16:creationId xmlns:a16="http://schemas.microsoft.com/office/drawing/2014/main" id="{C08566F5-E085-4AB4-B50C-1608FDBA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能力点</a:t>
            </a:r>
          </a:p>
        </p:txBody>
      </p:sp>
      <p:sp>
        <p:nvSpPr>
          <p:cNvPr id="7" name="compare-head-1">
            <a:extLst xmlns:a="http://schemas.openxmlformats.org/drawingml/2006/main">
              <a:ext uri="{FF2B5EF4-FFF2-40B4-BE49-F238E27FC236}">
                <a16:creationId xmlns:a16="http://schemas.microsoft.com/office/drawing/2014/main" id="{FC0F0482-14A0-4099-B874-CBE0ED13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 Review</a:t>
            </a:r>
          </a:p>
        </p:txBody>
      </p:sp>
      <p:sp>
        <p:nvSpPr>
          <p:cNvPr id="8" name="compare-head-2">
            <a:extLst xmlns:a="http://schemas.openxmlformats.org/drawingml/2006/main">
              <a:ext uri="{FF2B5EF4-FFF2-40B4-BE49-F238E27FC236}">
                <a16:creationId xmlns:a16="http://schemas.microsoft.com/office/drawing/2014/main" id="{3D2D766C-A838-4A1B-A98F-024D3805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Dependabot</a:t>
            </a:r>
          </a:p>
        </p:txBody>
      </p:sp>
      <p:sp>
        <p:nvSpPr>
          <p:cNvPr id="9" name="compare-head-3">
            <a:extLst xmlns:a="http://schemas.openxmlformats.org/drawingml/2006/main">
              <a:ext uri="{FF2B5EF4-FFF2-40B4-BE49-F238E27FC236}">
                <a16:creationId xmlns:a16="http://schemas.microsoft.com/office/drawing/2014/main" id="{38FF4682-BEB6-4166-8728-69186D65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CodeQL</a:t>
            </a:r>
          </a:p>
        </p:txBody>
      </p:sp>
      <p:sp>
        <p:nvSpPr>
          <p:cNvPr id="10" name="compare-head-4">
            <a:extLst xmlns:a="http://schemas.openxmlformats.org/drawingml/2006/main">
              <a:ext uri="{FF2B5EF4-FFF2-40B4-BE49-F238E27FC236}">
                <a16:creationId xmlns:a16="http://schemas.microsoft.com/office/drawing/2014/main" id="{A52E28F6-DD79-4D43-96A4-B89DD211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057400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ReproGuard</a:t>
            </a:r>
          </a:p>
        </p:txBody>
      </p:sp>
      <p:sp>
        <p:nvSpPr>
          <p:cNvPr id="11" name="compare-row-0">
            <a:extLst xmlns:a="http://schemas.openxmlformats.org/drawingml/2006/main">
              <a:ext uri="{FF2B5EF4-FFF2-40B4-BE49-F238E27FC236}">
                <a16:creationId xmlns:a16="http://schemas.microsoft.com/office/drawing/2014/main" id="{79A8854F-9685-4CC2-BF98-8258F019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12" name="compare-0-0">
            <a:extLst xmlns:a="http://schemas.openxmlformats.org/drawingml/2006/main">
              <a:ext uri="{FF2B5EF4-FFF2-40B4-BE49-F238E27FC236}">
                <a16:creationId xmlns:a16="http://schemas.microsoft.com/office/drawing/2014/main" id="{95542DF2-3B19-4C60-B3F4-E8DC8064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0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语法 / 风格</a:t>
            </a:r>
          </a:p>
        </p:txBody>
      </p:sp>
      <p:sp>
        <p:nvSpPr>
          <p:cNvPr id="13" name="compare-0-1">
            <a:extLst xmlns:a="http://schemas.openxmlformats.org/drawingml/2006/main">
              <a:ext uri="{FF2B5EF4-FFF2-40B4-BE49-F238E27FC236}">
                <a16:creationId xmlns:a16="http://schemas.microsoft.com/office/drawing/2014/main" id="{287DF087-7CC5-416A-A519-D85C86D1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14" name="compare-0-2">
            <a:extLst xmlns:a="http://schemas.openxmlformats.org/drawingml/2006/main">
              <a:ext uri="{FF2B5EF4-FFF2-40B4-BE49-F238E27FC236}">
                <a16:creationId xmlns:a16="http://schemas.microsoft.com/office/drawing/2014/main" id="{B9559B1B-0E91-41CC-99E5-5ADA0356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15" name="compare-0-3">
            <a:extLst xmlns:a="http://schemas.openxmlformats.org/drawingml/2006/main">
              <a:ext uri="{FF2B5EF4-FFF2-40B4-BE49-F238E27FC236}">
                <a16:creationId xmlns:a16="http://schemas.microsoft.com/office/drawing/2014/main" id="{D07CB117-AD8D-46EE-A490-CB8F27D3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16" name="compare-0-4">
            <a:extLst xmlns:a="http://schemas.openxmlformats.org/drawingml/2006/main">
              <a:ext uri="{FF2B5EF4-FFF2-40B4-BE49-F238E27FC236}">
                <a16:creationId xmlns:a16="http://schemas.microsoft.com/office/drawing/2014/main" id="{D84856D3-FF3B-48E3-84F8-D73C0535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600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17" name="compare-row-1">
            <a:extLst xmlns:a="http://schemas.openxmlformats.org/drawingml/2006/main">
              <a:ext uri="{FF2B5EF4-FFF2-40B4-BE49-F238E27FC236}">
                <a16:creationId xmlns:a16="http://schemas.microsoft.com/office/drawing/2014/main" id="{755FDA11-5D5C-4F9A-928B-4F2A6701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E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18" name="compare-1-0">
            <a:extLst xmlns:a="http://schemas.openxmlformats.org/drawingml/2006/main">
              <a:ext uri="{FF2B5EF4-FFF2-40B4-BE49-F238E27FC236}">
                <a16:creationId xmlns:a16="http://schemas.microsoft.com/office/drawing/2014/main" id="{E06A1A72-3044-4B84-BEAA-23D7164C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718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依赖漏洞</a:t>
            </a:r>
          </a:p>
        </p:txBody>
      </p:sp>
      <p:sp>
        <p:nvSpPr>
          <p:cNvPr id="19" name="compare-1-1">
            <a:extLst xmlns:a="http://schemas.openxmlformats.org/drawingml/2006/main">
              <a:ext uri="{FF2B5EF4-FFF2-40B4-BE49-F238E27FC236}">
                <a16:creationId xmlns:a16="http://schemas.microsoft.com/office/drawing/2014/main" id="{570B8D29-AF3C-4C14-8FE1-7196B7B7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0" name="compare-1-2">
            <a:extLst xmlns:a="http://schemas.openxmlformats.org/drawingml/2006/main">
              <a:ext uri="{FF2B5EF4-FFF2-40B4-BE49-F238E27FC236}">
                <a16:creationId xmlns:a16="http://schemas.microsoft.com/office/drawing/2014/main" id="{C0217A28-F8E9-47AB-B81C-35FDEF92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21" name="compare-1-3">
            <a:extLst xmlns:a="http://schemas.openxmlformats.org/drawingml/2006/main">
              <a:ext uri="{FF2B5EF4-FFF2-40B4-BE49-F238E27FC236}">
                <a16:creationId xmlns:a16="http://schemas.microsoft.com/office/drawing/2014/main" id="{AA3DBEF4-8F16-4B5F-9DC5-06A3DADE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2" name="compare-1-4">
            <a:extLst xmlns:a="http://schemas.openxmlformats.org/drawingml/2006/main">
              <a:ext uri="{FF2B5EF4-FFF2-40B4-BE49-F238E27FC236}">
                <a16:creationId xmlns:a16="http://schemas.microsoft.com/office/drawing/2014/main" id="{AB77EEC2-9C73-44D9-8BC6-B5E18E2C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1718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23" name="compare-row-2">
            <a:extLst xmlns:a="http://schemas.openxmlformats.org/drawingml/2006/main">
              <a:ext uri="{FF2B5EF4-FFF2-40B4-BE49-F238E27FC236}">
                <a16:creationId xmlns:a16="http://schemas.microsoft.com/office/drawing/2014/main" id="{204338CD-F80A-402E-A9FF-FF96E94B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24" name="compare-2-0">
            <a:extLst xmlns:a="http://schemas.openxmlformats.org/drawingml/2006/main">
              <a:ext uri="{FF2B5EF4-FFF2-40B4-BE49-F238E27FC236}">
                <a16:creationId xmlns:a16="http://schemas.microsoft.com/office/drawing/2014/main" id="{C7FE733F-F6CC-46DE-9FCD-F3FF91BE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43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安全语义</a:t>
            </a:r>
          </a:p>
        </p:txBody>
      </p:sp>
      <p:sp>
        <p:nvSpPr>
          <p:cNvPr id="25" name="compare-2-1">
            <a:extLst xmlns:a="http://schemas.openxmlformats.org/drawingml/2006/main">
              <a:ext uri="{FF2B5EF4-FFF2-40B4-BE49-F238E27FC236}">
                <a16:creationId xmlns:a16="http://schemas.microsoft.com/office/drawing/2014/main" id="{FFA34043-332D-462F-82E7-0F428264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6" name="compare-2-2">
            <a:extLst xmlns:a="http://schemas.openxmlformats.org/drawingml/2006/main">
              <a:ext uri="{FF2B5EF4-FFF2-40B4-BE49-F238E27FC236}">
                <a16:creationId xmlns:a16="http://schemas.microsoft.com/office/drawing/2014/main" id="{66A1E856-69E3-48BC-AC28-A3D99DB9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7" name="compare-2-3">
            <a:extLst xmlns:a="http://schemas.openxmlformats.org/drawingml/2006/main">
              <a:ext uri="{FF2B5EF4-FFF2-40B4-BE49-F238E27FC236}">
                <a16:creationId xmlns:a16="http://schemas.microsoft.com/office/drawing/2014/main" id="{9CE8A0F8-3E1A-4D89-8BB2-D7F49FD4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28" name="compare-2-4">
            <a:extLst xmlns:a="http://schemas.openxmlformats.org/drawingml/2006/main">
              <a:ext uri="{FF2B5EF4-FFF2-40B4-BE49-F238E27FC236}">
                <a16:creationId xmlns:a16="http://schemas.microsoft.com/office/drawing/2014/main" id="{F674D149-20F9-4CB3-87ED-555FD175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743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29" name="compare-row-3">
            <a:extLst xmlns:a="http://schemas.openxmlformats.org/drawingml/2006/main">
              <a:ext uri="{FF2B5EF4-FFF2-40B4-BE49-F238E27FC236}">
                <a16:creationId xmlns:a16="http://schemas.microsoft.com/office/drawing/2014/main" id="{183FA15E-C016-4228-A7BA-708059D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E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30" name="compare-3-0">
            <a:extLst xmlns:a="http://schemas.openxmlformats.org/drawingml/2006/main">
              <a:ext uri="{FF2B5EF4-FFF2-40B4-BE49-F238E27FC236}">
                <a16:creationId xmlns:a16="http://schemas.microsoft.com/office/drawing/2014/main" id="{8FDB1BC1-4DDA-4881-A9BF-66AB2E83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148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实验参数漂移</a:t>
            </a:r>
          </a:p>
        </p:txBody>
      </p:sp>
      <p:sp>
        <p:nvSpPr>
          <p:cNvPr id="31" name="compare-3-1">
            <a:extLst xmlns:a="http://schemas.openxmlformats.org/drawingml/2006/main">
              <a:ext uri="{FF2B5EF4-FFF2-40B4-BE49-F238E27FC236}">
                <a16:creationId xmlns:a16="http://schemas.microsoft.com/office/drawing/2014/main" id="{513A0F82-AE61-4916-9178-D14DD59B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2" name="compare-3-2">
            <a:extLst xmlns:a="http://schemas.openxmlformats.org/drawingml/2006/main">
              <a:ext uri="{FF2B5EF4-FFF2-40B4-BE49-F238E27FC236}">
                <a16:creationId xmlns:a16="http://schemas.microsoft.com/office/drawing/2014/main" id="{480F9302-A2D6-4E00-B03D-BDF4C893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3" name="compare-3-3">
            <a:extLst xmlns:a="http://schemas.openxmlformats.org/drawingml/2006/main">
              <a:ext uri="{FF2B5EF4-FFF2-40B4-BE49-F238E27FC236}">
                <a16:creationId xmlns:a16="http://schemas.microsoft.com/office/drawing/2014/main" id="{95BDBD35-C144-45D6-BA11-C2DA2CF6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4" name="compare-3-4">
            <a:extLst xmlns:a="http://schemas.openxmlformats.org/drawingml/2006/main">
              <a:ext uri="{FF2B5EF4-FFF2-40B4-BE49-F238E27FC236}">
                <a16:creationId xmlns:a16="http://schemas.microsoft.com/office/drawing/2014/main" id="{2403F273-B327-4945-B635-E5A9892F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3148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✓</a:t>
            </a:r>
          </a:p>
        </p:txBody>
      </p:sp>
      <p:sp>
        <p:nvSpPr>
          <p:cNvPr id="35" name="compare-row-4">
            <a:extLst xmlns:a="http://schemas.openxmlformats.org/drawingml/2006/main">
              <a:ext uri="{FF2B5EF4-FFF2-40B4-BE49-F238E27FC236}">
                <a16:creationId xmlns:a16="http://schemas.microsoft.com/office/drawing/2014/main" id="{52FC0A3A-8057-4E27-856D-621B6B39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36" name="compare-4-0">
            <a:extLst xmlns:a="http://schemas.openxmlformats.org/drawingml/2006/main">
              <a:ext uri="{FF2B5EF4-FFF2-40B4-BE49-F238E27FC236}">
                <a16:creationId xmlns:a16="http://schemas.microsoft.com/office/drawing/2014/main" id="{733D4D0C-598D-4952-AE8B-22B7F609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86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论文 / 协议对齐</a:t>
            </a:r>
          </a:p>
        </p:txBody>
      </p:sp>
      <p:sp>
        <p:nvSpPr>
          <p:cNvPr id="37" name="compare-4-1">
            <a:extLst xmlns:a="http://schemas.openxmlformats.org/drawingml/2006/main">
              <a:ext uri="{FF2B5EF4-FFF2-40B4-BE49-F238E27FC236}">
                <a16:creationId xmlns:a16="http://schemas.microsoft.com/office/drawing/2014/main" id="{975DD16E-5646-4B46-82D1-DD8CFA22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8" name="compare-4-2">
            <a:extLst xmlns:a="http://schemas.openxmlformats.org/drawingml/2006/main">
              <a:ext uri="{FF2B5EF4-FFF2-40B4-BE49-F238E27FC236}">
                <a16:creationId xmlns:a16="http://schemas.microsoft.com/office/drawing/2014/main" id="{66868ED3-267B-41CE-8FB3-70E1F851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9" name="compare-4-3">
            <a:extLst xmlns:a="http://schemas.openxmlformats.org/drawingml/2006/main">
              <a:ext uri="{FF2B5EF4-FFF2-40B4-BE49-F238E27FC236}">
                <a16:creationId xmlns:a16="http://schemas.microsoft.com/office/drawing/2014/main" id="{5FBB4BA2-3E12-49A6-BC46-C3E09A24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40" name="compare-4-4">
            <a:extLst xmlns:a="http://schemas.openxmlformats.org/drawingml/2006/main">
              <a:ext uri="{FF2B5EF4-FFF2-40B4-BE49-F238E27FC236}">
                <a16:creationId xmlns:a16="http://schemas.microsoft.com/office/drawing/2014/main" id="{5C5CE5A2-7F1C-4C96-A91A-21100E2F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886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✓</a:t>
            </a:r>
          </a:p>
        </p:txBody>
      </p:sp>
      <p:sp>
        <p:nvSpPr>
          <p:cNvPr id="41" name="compare-takeaway-bg">
            <a:extLst xmlns:a="http://schemas.openxmlformats.org/drawingml/2006/main">
              <a:ext uri="{FF2B5EF4-FFF2-40B4-BE49-F238E27FC236}">
                <a16:creationId xmlns:a16="http://schemas.microsoft.com/office/drawing/2014/main" id="{247E6066-FECF-4214-A31A-148A2800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42" name="compare-takeaway">
            <a:extLst xmlns:a="http://schemas.openxmlformats.org/drawingml/2006/main">
              <a:ext uri="{FF2B5EF4-FFF2-40B4-BE49-F238E27FC236}">
                <a16:creationId xmlns:a16="http://schemas.microsoft.com/office/drawing/2014/main" id="{31BAF3B6-164E-4CD1-8E9E-5E2C4A5C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959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5D7C"/>
                </a:solidFill>
              </a:defRPr>
            </a:pPr>
            <a:r>
              <a:rPr sz="1425" b="1">
                <a:solidFill>
                  <a:srgbClr val="2F5D7C"/>
                </a:solidFill>
              </a:rPr>
              <a:t>核心空白：把“科研复现条件”作为 PR 审查的一等对象。</a:t>
            </a:r>
          </a:p>
        </p:txBody>
      </p:sp>
    </p:spTree>
    <p:extLst>
      <p:ext uri="{BB962C8B-B14F-4D97-AF65-F5344CB8AC3E}">
        <p14:creationId xmlns:p14="http://schemas.microsoft.com/office/powerpoint/2010/main" val="12803388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kicker-9">
            <a:extLst xmlns:a="http://schemas.openxmlformats.org/drawingml/2006/main">
              <a:ext uri="{FF2B5EF4-FFF2-40B4-BE49-F238E27FC236}">
                <a16:creationId xmlns:a16="http://schemas.microsoft.com/office/drawing/2014/main" id="{D5F0444E-CE23-471A-AD6D-1CACD89E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AI 与开源融合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68C2CF73-6150-446A-B7EB-D9F14ECE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AI 只负责受约束的语义补充，规则与开放工作流负责可复核</a:t>
            </a:r>
          </a:p>
        </p:txBody>
      </p:sp>
      <p:sp>
        <p:nvSpPr>
          <p:cNvPr id="3" name="rule-9">
            <a:extLst xmlns:a="http://schemas.openxmlformats.org/drawingml/2006/main">
              <a:ext uri="{FF2B5EF4-FFF2-40B4-BE49-F238E27FC236}">
                <a16:creationId xmlns:a16="http://schemas.microsoft.com/office/drawing/2014/main" id="{C3814212-174A-46AD-970C-5296605E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CC1042BA-72EB-4AFE-8084-2BE0BF20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09</a:t>
            </a:r>
          </a:p>
        </p:txBody>
      </p:sp>
      <p:sp>
        <p:nvSpPr>
          <p:cNvPr id="5" name="ai-left-bg">
            <a:extLst xmlns:a="http://schemas.openxmlformats.org/drawingml/2006/main">
              <a:ext uri="{FF2B5EF4-FFF2-40B4-BE49-F238E27FC236}">
                <a16:creationId xmlns:a16="http://schemas.microsoft.com/office/drawing/2014/main" id="{4802503C-FF2B-4437-80AD-EDE3E11B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572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6" name="ai-right-bg">
            <a:extLst xmlns:a="http://schemas.openxmlformats.org/drawingml/2006/main">
              <a:ext uri="{FF2B5EF4-FFF2-40B4-BE49-F238E27FC236}">
                <a16:creationId xmlns:a16="http://schemas.microsoft.com/office/drawing/2014/main" id="{08A1B1F3-9B8C-4127-8085-AF7422BC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4572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7" name="ai-left-title">
            <a:extLst xmlns:a="http://schemas.openxmlformats.org/drawingml/2006/main">
              <a:ext uri="{FF2B5EF4-FFF2-40B4-BE49-F238E27FC236}">
                <a16:creationId xmlns:a16="http://schemas.microsoft.com/office/drawing/2014/main" id="{31CDBF5C-D7B5-4A04-9847-2B4C8CDA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3543F"/>
                </a:solidFill>
              </a:defRPr>
            </a:pPr>
            <a:r>
              <a:rPr sz="1950" b="1">
                <a:solidFill>
                  <a:srgbClr val="D3543F"/>
                </a:solidFill>
              </a:rPr>
              <a:t>确定性层</a:t>
            </a:r>
          </a:p>
        </p:txBody>
      </p:sp>
      <p:sp>
        <p:nvSpPr>
          <p:cNvPr id="8" name="ai-left">
            <a:extLst xmlns:a="http://schemas.openxmlformats.org/drawingml/2006/main">
              <a:ext uri="{FF2B5EF4-FFF2-40B4-BE49-F238E27FC236}">
                <a16:creationId xmlns:a16="http://schemas.microsoft.com/office/drawing/2014/main" id="{6252CD98-7AFE-4CEA-9D86-A66033F6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48000"/>
            <a:ext cx="38100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参数、随机性、依赖、数据处理、评价流程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规则可独立运行，不依赖模型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输出可重复，结论不可被模型覆盖</a:t>
            </a:r>
          </a:p>
        </p:txBody>
      </p:sp>
      <p:sp>
        <p:nvSpPr>
          <p:cNvPr id="9" name="ai-right-title">
            <a:extLst xmlns:a="http://schemas.openxmlformats.org/drawingml/2006/main">
              <a:ext uri="{FF2B5EF4-FFF2-40B4-BE49-F238E27FC236}">
                <a16:creationId xmlns:a16="http://schemas.microsoft.com/office/drawing/2014/main" id="{B3B7EACA-657D-45DF-8567-962D79E4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8125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F5D7C"/>
                </a:solidFill>
              </a:defRPr>
            </a:pPr>
            <a:r>
              <a:rPr sz="1950" b="1">
                <a:solidFill>
                  <a:srgbClr val="2F5D7C"/>
                </a:solidFill>
              </a:rPr>
              <a:t>AI 语义层</a:t>
            </a:r>
          </a:p>
        </p:txBody>
      </p:sp>
      <p:sp>
        <p:nvSpPr>
          <p:cNvPr id="10" name="ai-right">
            <a:extLst xmlns:a="http://schemas.openxmlformats.org/drawingml/2006/main">
              <a:ext uri="{FF2B5EF4-FFF2-40B4-BE49-F238E27FC236}">
                <a16:creationId xmlns:a16="http://schemas.microsoft.com/office/drawing/2014/main" id="{7AD357D9-E705-40A5-BC31-A1B3C8CB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48000"/>
            <a:ext cx="38100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解释非结构化步骤和同义概念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只允许引用 D### / P### 来源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输出默认 needs_review</a:t>
            </a:r>
          </a:p>
        </p:txBody>
      </p:sp>
      <p:sp>
        <p:nvSpPr>
          <p:cNvPr id="11" name="ai-proof">
            <a:extLst xmlns:a="http://schemas.openxmlformats.org/drawingml/2006/main">
              <a:ext uri="{FF2B5EF4-FFF2-40B4-BE49-F238E27FC236}">
                <a16:creationId xmlns:a16="http://schemas.microsoft.com/office/drawing/2014/main" id="{CFD2DA7E-2520-43ED-8D5E-76CE567F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D6B"/>
                </a:solidFill>
              </a:defRPr>
            </a:pPr>
            <a:r>
              <a:rPr sz="1500" b="1">
                <a:solidFill>
                  <a:srgbClr val="2F7D6B"/>
                </a:solidFill>
              </a:rPr>
              <a:t>开源载体：Composite Action · CLI · 网页原型 · Schema · 评测脚本</a:t>
            </a:r>
          </a:p>
        </p:txBody>
      </p:sp>
    </p:spTree>
    <p:extLst>
      <p:ext uri="{BB962C8B-B14F-4D97-AF65-F5344CB8AC3E}">
        <p14:creationId xmlns:p14="http://schemas.microsoft.com/office/powerpoint/2010/main" val="11498678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821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AC865EEF-3DC8-467E-84B0-10C2835A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1DED8"/>
                </a:solidFill>
              </a:defRPr>
            </a:pPr>
            <a:r>
              <a:rPr sz="1275" b="1">
                <a:solidFill>
                  <a:srgbClr val="F1DED8"/>
                </a:solidFill>
              </a:rPr>
              <a:t>REPROGUARD</a:t>
            </a:r>
          </a:p>
        </p:txBody>
      </p:sp>
      <p:sp>
        <p:nvSpPr>
          <p:cNvPr id="2" name="close-main">
            <a:extLst xmlns:a="http://schemas.openxmlformats.org/drawingml/2006/main">
              <a:ext uri="{FF2B5EF4-FFF2-40B4-BE49-F238E27FC236}">
                <a16:creationId xmlns:a16="http://schemas.microsoft.com/office/drawing/2014/main" id="{5F7AEB45-CA26-4CA8-BF5C-884C429F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933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让关键变化更早被看见，</a:t>
            </a:r>
          </a:p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让每个判断都有证据。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D275B8EF-C087-4780-8D43-A2A2A3E5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6667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D1728140-29AE-45FF-B094-25E7650E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148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9E5DE"/>
                </a:solidFill>
              </a:defRPr>
            </a:pPr>
            <a:r>
              <a:rPr sz="1425">
                <a:solidFill>
                  <a:srgbClr val="E9E5DE"/>
                </a:solidFill>
              </a:rPr>
              <a:t>已完成：真实 PR 回放 · DeepSeek 真实调用 · 154 项测试 · @v1 跨仓库 Action 验证</a:t>
            </a:r>
          </a:p>
        </p:txBody>
      </p:sp>
      <p:sp>
        <p:nvSpPr>
          <p:cNvPr id="5" name="close-next">
            <a:extLst xmlns:a="http://schemas.openxmlformats.org/drawingml/2006/main">
              <a:ext uri="{FF2B5EF4-FFF2-40B4-BE49-F238E27FC236}">
                <a16:creationId xmlns:a16="http://schemas.microsoft.com/office/drawing/2014/main" id="{A2D6910F-96EE-472D-BFA9-2BA91E89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提交前人工确认：团队信息 · 最终 PPT/PDF · 演示视频 · 成果链接与开放范围</a:t>
            </a:r>
          </a:p>
        </p:txBody>
      </p:sp>
      <p:sp>
        <p:nvSpPr>
          <p:cNvPr id="6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0EE4DE05-6D27-47EF-82FD-409075A6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7700"/>
            <a:ext cx="8763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464166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2026-10-27T04:30:52.6420000Z</dcterms:created>
  <dcterms:modified xsi:type="dcterms:W3CDTF">2026-10-27T04:30:52.6420000Z</dcterms:modified>
</coreProperties>
</file>