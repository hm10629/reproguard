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f394de91224c60" /><Relationship Type="http://schemas.openxmlformats.org/officeDocument/2006/relationships/extended-properties" Target="/docProps/app.xml" Id="Rc4dbdd714c494798" /><Relationship Type="http://schemas.openxmlformats.org/officeDocument/2006/relationships/officeDocument" Target="/ppt/presentation.xml" Id="R730163937bc24a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79545a003d42d3"/>
  </p:sldMasterIdLst>
  <p:notesMasterIdLst>
    <p:notesMasterId xmlns:r="http://schemas.openxmlformats.org/officeDocument/2006/relationships" r:id="R5a6337b866a64a0c"/>
  </p:notesMasterIdLst>
  <p:sldIdLst>
    <p:sldId xmlns:r="http://schemas.openxmlformats.org/officeDocument/2006/relationships" id="256" r:id="Rf85c0da8349f4b49"/>
    <p:sldId xmlns:r="http://schemas.openxmlformats.org/officeDocument/2006/relationships" id="257" r:id="R56f169680d2e4608"/>
    <p:sldId xmlns:r="http://schemas.openxmlformats.org/officeDocument/2006/relationships" id="258" r:id="Rbac632b6c3f742a8"/>
    <p:sldId xmlns:r="http://schemas.openxmlformats.org/officeDocument/2006/relationships" id="259" r:id="Rae4206e5bd874393"/>
    <p:sldId xmlns:r="http://schemas.openxmlformats.org/officeDocument/2006/relationships" id="260" r:id="R5c1c44ed4ae3473c"/>
    <p:sldId xmlns:r="http://schemas.openxmlformats.org/officeDocument/2006/relationships" id="261" r:id="R290f5994ab9643e0"/>
    <p:sldId xmlns:r="http://schemas.openxmlformats.org/officeDocument/2006/relationships" id="262" r:id="R4336fcd26db44b18"/>
    <p:sldId xmlns:r="http://schemas.openxmlformats.org/officeDocument/2006/relationships" id="263" r:id="R5cd2302a080d419e"/>
    <p:sldId xmlns:r="http://schemas.openxmlformats.org/officeDocument/2006/relationships" id="264" r:id="Rb897023a6cc04d55"/>
    <p:sldId xmlns:r="http://schemas.openxmlformats.org/officeDocument/2006/relationships" id="265" r:id="Rfe8caa960bab4ef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d5d21718bd14c11" /><Relationship Type="http://schemas.openxmlformats.org/officeDocument/2006/relationships/slideMaster" Target="/ppt/slideMasters/slideMaster1.xml" Id="Rb379545a003d42d3" /><Relationship Type="http://schemas.openxmlformats.org/officeDocument/2006/relationships/notesMaster" Target="/ppt/notesMasters/notesMaster1.xml" Id="R5a6337b866a64a0c" /><Relationship Type="http://schemas.openxmlformats.org/officeDocument/2006/relationships/presProps" Target="/ppt/presProps.xml" Id="Rd62db4512c884e7f" /><Relationship Type="http://schemas.openxmlformats.org/officeDocument/2006/relationships/tableStyles" Target="/ppt/tableStyles.xml" Id="R1570c3fcb6b542c4" /><Relationship Type="http://schemas.openxmlformats.org/officeDocument/2006/relationships/slide" Target="/ppt/slides/slide1.xml" Id="Rf85c0da8349f4b49" /><Relationship Type="http://schemas.openxmlformats.org/officeDocument/2006/relationships/slide" Target="/ppt/slides/slide2.xml" Id="R56f169680d2e4608" /><Relationship Type="http://schemas.openxmlformats.org/officeDocument/2006/relationships/slide" Target="/ppt/slides/slide3.xml" Id="Rbac632b6c3f742a8" /><Relationship Type="http://schemas.openxmlformats.org/officeDocument/2006/relationships/slide" Target="/ppt/slides/slide4.xml" Id="Rae4206e5bd874393" /><Relationship Type="http://schemas.openxmlformats.org/officeDocument/2006/relationships/slide" Target="/ppt/slides/slide5.xml" Id="R5c1c44ed4ae3473c" /><Relationship Type="http://schemas.openxmlformats.org/officeDocument/2006/relationships/slide" Target="/ppt/slides/slide6.xml" Id="R290f5994ab9643e0" /><Relationship Type="http://schemas.openxmlformats.org/officeDocument/2006/relationships/slide" Target="/ppt/slides/slide7.xml" Id="R4336fcd26db44b18" /><Relationship Type="http://schemas.openxmlformats.org/officeDocument/2006/relationships/slide" Target="/ppt/slides/slide8.xml" Id="R5cd2302a080d419e" /><Relationship Type="http://schemas.openxmlformats.org/officeDocument/2006/relationships/slide" Target="/ppt/slides/slide9.xml" Id="Rb897023a6cc04d55" /><Relationship Type="http://schemas.openxmlformats.org/officeDocument/2006/relationships/slide" Target="/ppt/slides/slide10.xml" Id="Rfe8caa960bab4e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fb0e72068e467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1a314dcf8a4508" /><Relationship Type="http://schemas.openxmlformats.org/officeDocument/2006/relationships/notesMaster" Target="/ppt/notesMasters/notesMaster1.xml" Id="R734058fb79354cd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1eb821d567a4d70" /><Relationship Type="http://schemas.openxmlformats.org/officeDocument/2006/relationships/notesMaster" Target="/ppt/notesMasters/notesMaster1.xml" Id="R94762a1b53774e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1018c7bcf24183" /><Relationship Type="http://schemas.openxmlformats.org/officeDocument/2006/relationships/notesMaster" Target="/ppt/notesMasters/notesMaster1.xml" Id="Ra2046ddb68544a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3fe993583b4755" /><Relationship Type="http://schemas.openxmlformats.org/officeDocument/2006/relationships/notesMaster" Target="/ppt/notesMasters/notesMaster1.xml" Id="Rec3188fdaa4e472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44f3c85ca624911" /><Relationship Type="http://schemas.openxmlformats.org/officeDocument/2006/relationships/notesMaster" Target="/ppt/notesMasters/notesMaster1.xml" Id="Ra1e66333d2f844a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844d469c53c49ba" /><Relationship Type="http://schemas.openxmlformats.org/officeDocument/2006/relationships/notesMaster" Target="/ppt/notesMasters/notesMaster1.xml" Id="R186badc61c124ba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8fbf78c356242a1" /><Relationship Type="http://schemas.openxmlformats.org/officeDocument/2006/relationships/notesMaster" Target="/ppt/notesMasters/notesMaster1.xml" Id="Rbcd5f77968344c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3b6bcb9019d47e3" /><Relationship Type="http://schemas.openxmlformats.org/officeDocument/2006/relationships/notesMaster" Target="/ppt/notesMasters/notesMaster1.xml" Id="Rd3355106149944c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b0bcabe025a4c2c" /><Relationship Type="http://schemas.openxmlformats.org/officeDocument/2006/relationships/notesMaster" Target="/ppt/notesMasters/notesMaster1.xml" Id="R3684d59497794f3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d6ce9f515e44a41" /><Relationship Type="http://schemas.openxmlformats.org/officeDocument/2006/relationships/notesMaster" Target="/ppt/notesMasters/notesMaster1.xml" Id="R992c8d8147294c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项目定位与竞赛方向：docs/参赛作品信息.md；docs/技术报告初稿.md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问题定义：docs/技术报告初稿.md，第 1、3 节</a:t>
            </a:r>
          </a:p>
          <a:p xmlns:a="http://schemas.openxmlformats.org/drawingml/2006/main">
            <a:r>
              <a:t>GitHub Pull Request 审查范围：https://docs.github.com/en/pull-requests/collaborating-with-pull-requests/reviewing-changes-in-pull-requests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工作流与 AI 边界：docs/技术报告初稿.md，第 3、4 节</a:t>
            </a:r>
          </a:p>
          <a:p xmlns:a="http://schemas.openxmlformats.org/drawingml/2006/main">
            <a:r>
              <a:t>来源标识约束：README.md 与规则引擎实现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创新点与实现范围：docs/技术报告初稿.md，第 2—4 节</a:t>
            </a:r>
          </a:p>
          <a:p xmlns:a="http://schemas.openxmlformats.org/drawingml/2006/main">
            <a:r>
              <a:t>开放成果说明：docs/开源发布说明.md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历史 PR：https://github.com/milesial/Pytorch-UNet/pull/141</a:t>
            </a:r>
          </a:p>
          <a:p xmlns:a="http://schemas.openxmlformats.org/drawingml/2006/main">
            <a:r>
              <a:t>回放来源：data/cases/pytorch-unet-pr-141/source.md</a:t>
            </a:r>
          </a:p>
          <a:p xmlns:a="http://schemas.openxmlformats.org/drawingml/2006/main">
            <a:r>
              <a:t>人工复核：data/cases/pytorch-unet-pr-141/human-review.md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截图证据：公开仓库 Action 运行页面</a:t>
            </a:r>
          </a:p>
          <a:p xmlns:a="http://schemas.openxmlformats.org/drawingml/2006/main">
            <a:r>
              <a:t>验收记录：docs/在线Action验收记录.md</a:t>
            </a:r>
          </a:p>
          <a:p xmlns:a="http://schemas.openxmlformats.org/drawingml/2006/main">
            <a:r>
              <a:t>运行链接：https://github.com/hm10629/reproguard/actions/runs/39933280765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测试与评测：reports/evaluation.md、reports/evaluation-unet-pytorch.md</a:t>
            </a:r>
          </a:p>
          <a:p xmlns:a="http://schemas.openxmlformats.org/drawingml/2006/main">
            <a:r>
              <a:t>真实模型调用：reports/ai-real-call.md、docs/AI真实调用人工复核.md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对比矩阵：docs/竞品与差异化对比.md</a:t>
            </a:r>
          </a:p>
          <a:p xmlns:a="http://schemas.openxmlformats.org/drawingml/2006/main">
            <a:r>
              <a:t>GitHub Review：https://docs.github.com/en/pull-requests/collaborating-with-pull-requests/reviewing-changes-in-pull-requests</a:t>
            </a:r>
          </a:p>
          <a:p xmlns:a="http://schemas.openxmlformats.org/drawingml/2006/main">
            <a:r>
              <a:t>Dependabot：https://docs.github.com/en/code-security/dependabot</a:t>
            </a:r>
          </a:p>
          <a:p xmlns:a="http://schemas.openxmlformats.org/drawingml/2006/main">
            <a:r>
              <a:t>CodeQL：https://codeql.github.com/docs/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AI 边界与真实调用：reports/ai-real-call.md、docs/AI真实调用人工复核.md</a:t>
            </a:r>
          </a:p>
          <a:p xmlns:a="http://schemas.openxmlformats.org/drawingml/2006/main">
            <a:r>
              <a:t>开源资源清单：docs/开源及第三方资源使用清单.md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完成状态与人工待办：docs/发布检查清单.md</a:t>
            </a:r>
          </a:p>
          <a:p xmlns:a="http://schemas.openxmlformats.org/drawingml/2006/main">
            <a:r>
              <a:t>项目仓库（公开）：https://github.com/hm10629/reproguard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1f011ab9164a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8748ba526f4e63" /><Relationship Type="http://schemas.openxmlformats.org/officeDocument/2006/relationships/slideLayout" Target="/ppt/slideLayouts/slideLayout1.xml" Id="R4f900205b42d43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900205b42d43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2a219e67c94074" /><Relationship Type="http://schemas.openxmlformats.org/officeDocument/2006/relationships/notesSlide" Target="/ppt/notesSlides/notesSlide1.xml" Id="R3fbce4326cfa4b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edc98a121142a0" /><Relationship Type="http://schemas.openxmlformats.org/officeDocument/2006/relationships/notesSlide" Target="/ppt/notesSlides/notesSlide2.xml" Id="Rb1331cad9c524be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ebba5a79704268" /><Relationship Type="http://schemas.openxmlformats.org/officeDocument/2006/relationships/notesSlide" Target="/ppt/notesSlides/notesSlide3.xml" Id="R8c1085e9d03142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ad1c6dbf0348e8" /><Relationship Type="http://schemas.openxmlformats.org/officeDocument/2006/relationships/notesSlide" Target="/ppt/notesSlides/notesSlide4.xml" Id="R28203bbc71c34e4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9ec43224444a69" /><Relationship Type="http://schemas.openxmlformats.org/officeDocument/2006/relationships/notesSlide" Target="/ppt/notesSlides/notesSlide5.xml" Id="Rb308ca9f9b8e4e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814e5fffd5463d" /><Relationship Type="http://schemas.openxmlformats.org/officeDocument/2006/relationships/image" Target="/ppt/media/image.jpeg" Id="Rd9936e20b1d64efd" /><Relationship Type="http://schemas.openxmlformats.org/officeDocument/2006/relationships/notesSlide" Target="/ppt/notesSlides/notesSlide6.xml" Id="R8b566a3336c34aa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b1d0a3ba004661" /><Relationship Type="http://schemas.openxmlformats.org/officeDocument/2006/relationships/notesSlide" Target="/ppt/notesSlides/notesSlide7.xml" Id="R455c07b7b26441f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f7927110cd4b90" /><Relationship Type="http://schemas.openxmlformats.org/officeDocument/2006/relationships/notesSlide" Target="/ppt/notesSlides/notesSlide8.xml" Id="R12cb7729d1d740f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d44b1b5dcc4bd7" /><Relationship Type="http://schemas.openxmlformats.org/officeDocument/2006/relationships/notesSlide" Target="/ppt/notesSlides/notesSlide9.xml" Id="Rfcfb34994cbe4c2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5051a4b907497b" /><Relationship Type="http://schemas.openxmlformats.org/officeDocument/2006/relationships/notesSlide" Target="/ppt/notesSlides/notesSlide10.xml" Id="Rdf8c8a46c49e4d7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kicker">
            <a:extLst xmlns:a="http://schemas.openxmlformats.org/drawingml/2006/main">
              <a:ext uri="{FF2B5EF4-FFF2-40B4-BE49-F238E27FC236}">
                <a16:creationId xmlns:a16="http://schemas.microsoft.com/office/drawing/2014/main" id="{E698460B-2984-4C54-B8F5-B665F950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3543F"/>
                </a:solidFill>
              </a:defRPr>
            </a:pPr>
            <a:r>
              <a:rPr sz="1275" b="1">
                <a:solidFill>
                  <a:srgbClr val="D3543F"/>
                </a:solidFill>
              </a:rPr>
              <a:t>AI + 开源 · 科研协作工具</a:t>
            </a:r>
          </a:p>
        </p:txBody>
      </p:sp>
      <p:sp>
        <p:nvSpPr>
          <p:cNvPr id="2" name="title-main">
            <a:extLst xmlns:a="http://schemas.openxmlformats.org/drawingml/2006/main">
              <a:ext uri="{FF2B5EF4-FFF2-40B4-BE49-F238E27FC236}">
                <a16:creationId xmlns:a16="http://schemas.microsoft.com/office/drawing/2014/main" id="{7ECED063-2B84-45AA-B5FA-1BB06B4A2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810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8212B"/>
                </a:solidFill>
              </a:defRPr>
            </a:pPr>
            <a:r>
              <a:rPr sz="4350" b="1">
                <a:solidFill>
                  <a:srgbClr val="18212B"/>
                </a:solidFill>
              </a:rPr>
              <a:t>ReproGuard</a:t>
            </a:r>
          </a:p>
          <a:p xmlns:a="http://schemas.openxmlformats.org/drawingml/2006/main">
            <a:pPr>
              <a:defRPr sz="4350" b="1">
                <a:solidFill>
                  <a:srgbClr val="18212B"/>
                </a:solidFill>
              </a:defRPr>
            </a:pPr>
            <a:r>
              <a:rPr sz="4350" b="1">
                <a:solidFill>
                  <a:srgbClr val="18212B"/>
                </a:solidFill>
              </a:rPr>
              <a:t>复现守门人</a:t>
            </a:r>
          </a:p>
        </p:txBody>
      </p:sp>
      <p:sp>
        <p:nvSpPr>
          <p:cNvPr id="3" name="title-sub">
            <a:extLst xmlns:a="http://schemas.openxmlformats.org/drawingml/2006/main">
              <a:ext uri="{FF2B5EF4-FFF2-40B4-BE49-F238E27FC236}">
                <a16:creationId xmlns:a16="http://schemas.microsoft.com/office/drawing/2014/main" id="{CB423AEB-3A82-4478-AD3B-AB69924D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838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C6670"/>
                </a:solidFill>
              </a:defRPr>
            </a:pPr>
            <a:r>
              <a:rPr sz="1800">
                <a:solidFill>
                  <a:srgbClr val="5C6670"/>
                </a:solidFill>
              </a:rPr>
              <a:t>把论文与实验协议中的复现约束，带进 GitHub Pull Request</a:t>
            </a:r>
          </a:p>
        </p:txBody>
      </p:sp>
      <p:sp>
        <p:nvSpPr>
          <p:cNvPr id="4" name="title-team">
            <a:extLst xmlns:a="http://schemas.openxmlformats.org/drawingml/2006/main">
              <a:ext uri="{FF2B5EF4-FFF2-40B4-BE49-F238E27FC236}">
                <a16:creationId xmlns:a16="http://schemas.microsoft.com/office/drawing/2014/main" id="{9B5478DC-FE18-436C-9679-719B5060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817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C6670"/>
                </a:solidFill>
              </a:defRPr>
            </a:pPr>
            <a:r>
              <a:rPr sz="1200">
                <a:solidFill>
                  <a:srgbClr val="5C6670"/>
                </a:solidFill>
              </a:rPr>
              <a:t>团队：启源者 · 学校：海南大学 · 指导教师：陈敏、迟阔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23867FDE-7B30-4560-AF4D-5AFA131CE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7200"/>
            <a:ext cx="161925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543F"/>
          </a:solidFill>
          <a:ln xmlns:a="http://schemas.openxmlformats.org/drawingml/2006/main" w="0">
            <a:solidFill>
              <a:srgbClr val="D3543F"/>
            </a:solidFill>
            <a:prstDash val="solid"/>
          </a:ln>
        </p:spPr>
      </p:sp>
      <p:sp>
        <p:nvSpPr>
          <p:cNvPr id="6" name="title-side">
            <a:extLst xmlns:a="http://schemas.openxmlformats.org/drawingml/2006/main">
              <a:ext uri="{FF2B5EF4-FFF2-40B4-BE49-F238E27FC236}">
                <a16:creationId xmlns:a16="http://schemas.microsoft.com/office/drawing/2014/main" id="{1F5A36E6-7DE2-4036-9945-80F550B23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762125"/>
            <a:ext cx="1047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PR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→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证据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→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复核</a:t>
            </a:r>
          </a:p>
        </p:txBody>
      </p:sp>
    </p:spTree>
    <p:extLst>
      <p:ext uri="{BB962C8B-B14F-4D97-AF65-F5344CB8AC3E}">
        <p14:creationId xmlns:p14="http://schemas.microsoft.com/office/powerpoint/2010/main" val="6003791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-2">
            <a:extLst xmlns:a="http://schemas.openxmlformats.org/drawingml/2006/main">
              <a:ext uri="{FF2B5EF4-FFF2-40B4-BE49-F238E27FC236}">
                <a16:creationId xmlns:a16="http://schemas.microsoft.com/office/drawing/2014/main" id="{43A15C60-7613-4120-975B-992DB685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3543F"/>
                </a:solidFill>
              </a:defRPr>
            </a:pPr>
            <a:r>
              <a:rPr sz="1050" b="1">
                <a:solidFill>
                  <a:srgbClr val="D3543F"/>
                </a:solidFill>
              </a:rPr>
              <a:t>问题与场景价值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5E8B453B-D4DB-4E04-883F-933D31F87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12B"/>
                </a:solidFill>
              </a:defRPr>
            </a:pPr>
            <a:r>
              <a:rPr sz="2550" b="1">
                <a:solidFill>
                  <a:srgbClr val="18212B"/>
                </a:solidFill>
              </a:rPr>
              <a:t>代码审查能看到改了什么，却看不到复现条件是否被改写</a:t>
            </a:r>
          </a:p>
        </p:txBody>
      </p:sp>
      <p:sp>
        <p:nvSpPr>
          <p:cNvPr id="3" name="rule-2">
            <a:extLst xmlns:a="http://schemas.openxmlformats.org/drawingml/2006/main">
              <a:ext uri="{FF2B5EF4-FFF2-40B4-BE49-F238E27FC236}">
                <a16:creationId xmlns:a16="http://schemas.microsoft.com/office/drawing/2014/main" id="{DC2FF730-FBF7-4EB4-81AC-F3DAE81C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0C8"/>
          </a:solidFill>
          <a:ln xmlns:a="http://schemas.openxmlformats.org/drawingml/2006/main" w="0">
            <a:solidFill>
              <a:srgbClr val="D4D0C8"/>
            </a:solidFill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E3295B7C-34BC-45D6-B949-C1F3E403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86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C6670"/>
                </a:solidFill>
              </a:defRPr>
            </a:pPr>
            <a:r>
              <a:rPr sz="975" b="1">
                <a:solidFill>
                  <a:srgbClr val="5C6670"/>
                </a:solidFill>
              </a:rPr>
              <a:t>02</a:t>
            </a:r>
          </a:p>
        </p:txBody>
      </p:sp>
      <p:sp>
        <p:nvSpPr>
          <p:cNvPr id="5" name="problem-left-label">
            <a:extLst xmlns:a="http://schemas.openxmlformats.org/drawingml/2006/main">
              <a:ext uri="{FF2B5EF4-FFF2-40B4-BE49-F238E27FC236}">
                <a16:creationId xmlns:a16="http://schemas.microsoft.com/office/drawing/2014/main" id="{17E34B5C-6A04-4A0C-AB0F-BA9F19763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193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F5D7C"/>
                </a:solidFill>
              </a:defRPr>
            </a:pPr>
            <a:r>
              <a:rPr sz="1650" b="1">
                <a:solidFill>
                  <a:srgbClr val="2F5D7C"/>
                </a:solidFill>
              </a:rPr>
              <a:t>论文 / 实验协议</a:t>
            </a:r>
          </a:p>
        </p:txBody>
      </p:sp>
      <p:sp>
        <p:nvSpPr>
          <p:cNvPr id="6" name="problem-left">
            <a:extLst xmlns:a="http://schemas.openxmlformats.org/drawingml/2006/main">
              <a:ext uri="{FF2B5EF4-FFF2-40B4-BE49-F238E27FC236}">
                <a16:creationId xmlns:a16="http://schemas.microsoft.com/office/drawing/2014/main" id="{2295CA51-E10D-4968-A151-2437B986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90800"/>
            <a:ext cx="390525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8212B"/>
                </a:solidFill>
              </a:defRPr>
            </a:pPr>
            <a:r>
              <a:rPr sz="1650">
                <a:solidFill>
                  <a:srgbClr val="18212B"/>
                </a:solidFill>
              </a:rPr>
              <a:t>• batch size = 64</a:t>
            </a:r>
          </a:p>
          <a:p xmlns:a="http://schemas.openxmlformats.org/drawingml/2006/main">
            <a:pPr>
              <a:defRPr sz="1650">
                <a:solidFill>
                  <a:srgbClr val="18212B"/>
                </a:solidFill>
              </a:defRPr>
            </a:pPr>
            <a:r>
              <a:rPr sz="1650">
                <a:solidFill>
                  <a:srgbClr val="18212B"/>
                </a:solidFill>
              </a:rPr>
              <a:t>• 固定随机种子</a:t>
            </a:r>
          </a:p>
          <a:p xmlns:a="http://schemas.openxmlformats.org/drawingml/2006/main">
            <a:pPr>
              <a:defRPr sz="1650">
                <a:solidFill>
                  <a:srgbClr val="18212B"/>
                </a:solidFill>
              </a:defRPr>
            </a:pPr>
            <a:r>
              <a:rPr sz="1650">
                <a:solidFill>
                  <a:srgbClr val="18212B"/>
                </a:solidFill>
              </a:rPr>
              <a:t>• 验证集完整参与</a:t>
            </a:r>
          </a:p>
          <a:p xmlns:a="http://schemas.openxmlformats.org/drawingml/2006/main">
            <a:pPr>
              <a:defRPr sz="1650">
                <a:solidFill>
                  <a:srgbClr val="18212B"/>
                </a:solidFill>
              </a:defRPr>
            </a:pPr>
            <a:r>
              <a:rPr sz="1650">
                <a:solidFill>
                  <a:srgbClr val="18212B"/>
                </a:solidFill>
              </a:rPr>
              <a:t>• 指标定义与论文一致</a:t>
            </a:r>
          </a:p>
        </p:txBody>
      </p:sp>
      <p:sp>
        <p:nvSpPr>
          <p:cNvPr id="7" name="problem-gap">
            <a:extLst xmlns:a="http://schemas.openxmlformats.org/drawingml/2006/main">
              <a:ext uri="{FF2B5EF4-FFF2-40B4-BE49-F238E27FC236}">
                <a16:creationId xmlns:a16="http://schemas.microsoft.com/office/drawing/2014/main" id="{6C3889CF-D072-4335-A4DF-887BA343B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575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3543F"/>
                </a:solidFill>
              </a:defRPr>
            </a:pPr>
            <a:r>
              <a:rPr sz="1350" b="1">
                <a:solidFill>
                  <a:srgbClr val="D3543F"/>
                </a:solidFill>
              </a:rPr>
              <a:t>缺少对应关系</a:t>
            </a:r>
          </a:p>
        </p:txBody>
      </p:sp>
      <p:sp>
        <p:nvSpPr>
          <p:cNvPr id="8" name="problem-gap-line">
            <a:extLst xmlns:a="http://schemas.openxmlformats.org/drawingml/2006/main">
              <a:ext uri="{FF2B5EF4-FFF2-40B4-BE49-F238E27FC236}">
                <a16:creationId xmlns:a16="http://schemas.microsoft.com/office/drawing/2014/main" id="{58EFCE44-152C-427C-85AA-6D648EE63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29000"/>
            <a:ext cx="190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543F"/>
          </a:solidFill>
          <a:ln xmlns:a="http://schemas.openxmlformats.org/drawingml/2006/main" w="0">
            <a:solidFill>
              <a:srgbClr val="D3543F"/>
            </a:solidFill>
            <a:prstDash val="solid"/>
          </a:ln>
        </p:spPr>
      </p:sp>
      <p:sp>
        <p:nvSpPr>
          <p:cNvPr id="9" name="problem-right-label">
            <a:extLst xmlns:a="http://schemas.openxmlformats.org/drawingml/2006/main">
              <a:ext uri="{FF2B5EF4-FFF2-40B4-BE49-F238E27FC236}">
                <a16:creationId xmlns:a16="http://schemas.microsoft.com/office/drawing/2014/main" id="{6C30B190-1B05-4EEA-BF26-F975DD329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193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3543F"/>
                </a:solidFill>
              </a:defRPr>
            </a:pPr>
            <a:r>
              <a:rPr sz="1650" b="1">
                <a:solidFill>
                  <a:srgbClr val="D3543F"/>
                </a:solidFill>
              </a:rPr>
              <a:t>Pull Request</a:t>
            </a:r>
          </a:p>
        </p:txBody>
      </p:sp>
      <p:sp>
        <p:nvSpPr>
          <p:cNvPr id="10" name="problem-right">
            <a:extLst xmlns:a="http://schemas.openxmlformats.org/drawingml/2006/main">
              <a:ext uri="{FF2B5EF4-FFF2-40B4-BE49-F238E27FC236}">
                <a16:creationId xmlns:a16="http://schemas.microsoft.com/office/drawing/2014/main" id="{FFA4EE9D-0BE0-433A-B6AB-ECD98FDF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90800"/>
            <a:ext cx="371475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8212B"/>
                </a:solidFill>
              </a:defRPr>
            </a:pPr>
            <a:r>
              <a:rPr sz="1650">
                <a:solidFill>
                  <a:srgbClr val="18212B"/>
                </a:solidFill>
              </a:rPr>
              <a:t>• 参数改为 32</a:t>
            </a:r>
          </a:p>
          <a:p xmlns:a="http://schemas.openxmlformats.org/drawingml/2006/main">
            <a:pPr>
              <a:defRPr sz="1650">
                <a:solidFill>
                  <a:srgbClr val="18212B"/>
                </a:solidFill>
              </a:defRPr>
            </a:pPr>
            <a:r>
              <a:rPr sz="1650">
                <a:solidFill>
                  <a:srgbClr val="18212B"/>
                </a:solidFill>
              </a:rPr>
              <a:t>• 随机种子被删除</a:t>
            </a:r>
          </a:p>
          <a:p xmlns:a="http://schemas.openxmlformats.org/drawingml/2006/main">
            <a:pPr>
              <a:defRPr sz="1650">
                <a:solidFill>
                  <a:srgbClr val="18212B"/>
                </a:solidFill>
              </a:defRPr>
            </a:pPr>
            <a:r>
              <a:rPr sz="1650">
                <a:solidFill>
                  <a:srgbClr val="18212B"/>
                </a:solidFill>
              </a:rPr>
              <a:t>• drop_last=True</a:t>
            </a:r>
          </a:p>
          <a:p xmlns:a="http://schemas.openxmlformats.org/drawingml/2006/main">
            <a:pPr>
              <a:defRPr sz="1650">
                <a:solidFill>
                  <a:srgbClr val="18212B"/>
                </a:solidFill>
              </a:defRPr>
            </a:pPr>
            <a:r>
              <a:rPr sz="1650">
                <a:solidFill>
                  <a:srgbClr val="18212B"/>
                </a:solidFill>
              </a:rPr>
              <a:t>• 评价公式或路径变化</a:t>
            </a:r>
          </a:p>
        </p:txBody>
      </p:sp>
      <p:sp>
        <p:nvSpPr>
          <p:cNvPr id="11" name="problem-takeaway-bg">
            <a:extLst xmlns:a="http://schemas.openxmlformats.org/drawingml/2006/main">
              <a:ext uri="{FF2B5EF4-FFF2-40B4-BE49-F238E27FC236}">
                <a16:creationId xmlns:a16="http://schemas.microsoft.com/office/drawing/2014/main" id="{007A69DF-B2A5-4620-9453-F3AA34E0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1028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ED8"/>
          </a:solidFill>
          <a:ln xmlns:a="http://schemas.openxmlformats.org/drawingml/2006/main" w="0">
            <a:solidFill>
              <a:srgbClr val="F1DED8"/>
            </a:solidFill>
            <a:prstDash val="solid"/>
          </a:ln>
        </p:spPr>
      </p:sp>
      <p:sp>
        <p:nvSpPr>
          <p:cNvPr id="12" name="problem-takeaway">
            <a:extLst xmlns:a="http://schemas.openxmlformats.org/drawingml/2006/main">
              <a:ext uri="{FF2B5EF4-FFF2-40B4-BE49-F238E27FC236}">
                <a16:creationId xmlns:a16="http://schemas.microsoft.com/office/drawing/2014/main" id="{9319DF8D-3844-492D-9E19-1D84262C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7212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212B"/>
                </a:solidFill>
              </a:defRPr>
            </a:pPr>
            <a:r>
              <a:rPr sz="1500" b="1">
                <a:solidFill>
                  <a:srgbClr val="18212B"/>
                </a:solidFill>
              </a:rPr>
              <a:t>ReproGuard 审查的不是代码“好不好看”，而是这次变化是否改写了复现路径。</a:t>
            </a:r>
          </a:p>
        </p:txBody>
      </p:sp>
    </p:spTree>
    <p:extLst>
      <p:ext uri="{BB962C8B-B14F-4D97-AF65-F5344CB8AC3E}">
        <p14:creationId xmlns:p14="http://schemas.microsoft.com/office/powerpoint/2010/main" val="9632268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kicker-3">
            <a:extLst xmlns:a="http://schemas.openxmlformats.org/drawingml/2006/main">
              <a:ext uri="{FF2B5EF4-FFF2-40B4-BE49-F238E27FC236}">
                <a16:creationId xmlns:a16="http://schemas.microsoft.com/office/drawing/2014/main" id="{898AABE6-F3C3-48B3-AA2E-8BEDEB25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3543F"/>
                </a:solidFill>
              </a:defRPr>
            </a:pPr>
            <a:r>
              <a:rPr sz="1050" b="1">
                <a:solidFill>
                  <a:srgbClr val="D3543F"/>
                </a:solidFill>
              </a:rPr>
              <a:t>方案设计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CAC6B127-8AB1-41DA-9EA1-A0FEBFE73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12B"/>
                </a:solidFill>
              </a:defRPr>
            </a:pPr>
            <a:r>
              <a:rPr sz="2550" b="1">
                <a:solidFill>
                  <a:srgbClr val="18212B"/>
                </a:solidFill>
              </a:rPr>
              <a:t>ReproGuard 把一次 PR 变成可追溯的复现风险证据</a:t>
            </a:r>
          </a:p>
        </p:txBody>
      </p:sp>
      <p:sp>
        <p:nvSpPr>
          <p:cNvPr id="3" name="rule-3">
            <a:extLst xmlns:a="http://schemas.openxmlformats.org/drawingml/2006/main">
              <a:ext uri="{FF2B5EF4-FFF2-40B4-BE49-F238E27FC236}">
                <a16:creationId xmlns:a16="http://schemas.microsoft.com/office/drawing/2014/main" id="{1CD9B76F-036D-4A1D-B4D4-C57BF5E2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0C8"/>
          </a:solidFill>
          <a:ln xmlns:a="http://schemas.openxmlformats.org/drawingml/2006/main" w="0">
            <a:solidFill>
              <a:srgbClr val="D4D0C8"/>
            </a:solidFill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4CE1454E-9D1C-4594-9691-C3EF8C695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86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C6670"/>
                </a:solidFill>
              </a:defRPr>
            </a:pPr>
            <a:r>
              <a:rPr sz="975" b="1">
                <a:solidFill>
                  <a:srgbClr val="5C6670"/>
                </a:solidFill>
              </a:rPr>
              <a:t>03</a:t>
            </a:r>
          </a:p>
        </p:txBody>
      </p:sp>
      <p:sp>
        <p:nvSpPr>
          <p:cNvPr id="5" name="flow-edge-0">
            <a:extLst xmlns:a="http://schemas.openxmlformats.org/drawingml/2006/main">
              <a:ext uri="{FF2B5EF4-FFF2-40B4-BE49-F238E27FC236}">
                <a16:creationId xmlns:a16="http://schemas.microsoft.com/office/drawing/2014/main" id="{81C2CC70-317A-4C97-AAD7-3E13ECAC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21945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0C8"/>
          </a:solidFill>
          <a:ln xmlns:a="http://schemas.openxmlformats.org/drawingml/2006/main" w="0">
            <a:solidFill>
              <a:srgbClr val="D4D0C8"/>
            </a:solidFill>
            <a:prstDash val="solid"/>
          </a:ln>
        </p:spPr>
      </p:sp>
      <p:sp>
        <p:nvSpPr>
          <p:cNvPr id="6" name="flow-node-0">
            <a:extLst xmlns:a="http://schemas.openxmlformats.org/drawingml/2006/main">
              <a:ext uri="{FF2B5EF4-FFF2-40B4-BE49-F238E27FC236}">
                <a16:creationId xmlns:a16="http://schemas.microsoft.com/office/drawing/2014/main" id="{BE7192B4-F610-4584-91C8-AEA9E8DDD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1333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3543F"/>
            </a:solidFill>
            <a:prstDash val="solid"/>
          </a:ln>
        </p:spPr>
      </p:sp>
      <p:sp>
        <p:nvSpPr>
          <p:cNvPr id="7" name="flow-num-0">
            <a:extLst xmlns:a="http://schemas.openxmlformats.org/drawingml/2006/main">
              <a:ext uri="{FF2B5EF4-FFF2-40B4-BE49-F238E27FC236}">
                <a16:creationId xmlns:a16="http://schemas.microsoft.com/office/drawing/2014/main" id="{8C164B96-9AE4-4088-B71D-EEC16DF4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3543F"/>
                </a:solidFill>
              </a:defRPr>
            </a:pPr>
            <a:r>
              <a:rPr sz="1350" b="1">
                <a:solidFill>
                  <a:srgbClr val="D3543F"/>
                </a:solidFill>
              </a:rPr>
              <a:t>01</a:t>
            </a:r>
          </a:p>
        </p:txBody>
      </p:sp>
      <p:sp>
        <p:nvSpPr>
          <p:cNvPr id="8" name="flow-label-0">
            <a:extLst xmlns:a="http://schemas.openxmlformats.org/drawingml/2006/main">
              <a:ext uri="{FF2B5EF4-FFF2-40B4-BE49-F238E27FC236}">
                <a16:creationId xmlns:a16="http://schemas.microsoft.com/office/drawing/2014/main" id="{BDD60326-2117-4D01-85C8-87A0B7683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104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12B"/>
                </a:solidFill>
              </a:defRPr>
            </a:pPr>
            <a:r>
              <a:rPr sz="1275" b="1">
                <a:solidFill>
                  <a:srgbClr val="18212B"/>
                </a:solidFill>
              </a:rPr>
              <a:t>读取 PR diff</a:t>
            </a:r>
          </a:p>
        </p:txBody>
      </p:sp>
      <p:sp>
        <p:nvSpPr>
          <p:cNvPr id="9" name="flow-edge-1">
            <a:extLst xmlns:a="http://schemas.openxmlformats.org/drawingml/2006/main">
              <a:ext uri="{FF2B5EF4-FFF2-40B4-BE49-F238E27FC236}">
                <a16:creationId xmlns:a16="http://schemas.microsoft.com/office/drawing/2014/main" id="{A7A9F0CE-E972-409D-8FB5-8CD48E9F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21945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0C8"/>
          </a:solidFill>
          <a:ln xmlns:a="http://schemas.openxmlformats.org/drawingml/2006/main" w="0">
            <a:solidFill>
              <a:srgbClr val="D4D0C8"/>
            </a:solidFill>
            <a:prstDash val="solid"/>
          </a:ln>
        </p:spPr>
      </p:sp>
      <p:sp>
        <p:nvSpPr>
          <p:cNvPr id="10" name="flow-node-1">
            <a:extLst xmlns:a="http://schemas.openxmlformats.org/drawingml/2006/main">
              <a:ext uri="{FF2B5EF4-FFF2-40B4-BE49-F238E27FC236}">
                <a16:creationId xmlns:a16="http://schemas.microsoft.com/office/drawing/2014/main" id="{8AAEFD5B-1790-4651-A86A-52FDC896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552700"/>
            <a:ext cx="1333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3543F"/>
            </a:solidFill>
            <a:prstDash val="solid"/>
          </a:ln>
        </p:spPr>
      </p:sp>
      <p:sp>
        <p:nvSpPr>
          <p:cNvPr id="11" name="flow-num-1">
            <a:extLst xmlns:a="http://schemas.openxmlformats.org/drawingml/2006/main">
              <a:ext uri="{FF2B5EF4-FFF2-40B4-BE49-F238E27FC236}">
                <a16:creationId xmlns:a16="http://schemas.microsoft.com/office/drawing/2014/main" id="{ABE5FE3F-107B-4863-A2DD-405298BE2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4320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3543F"/>
                </a:solidFill>
              </a:defRPr>
            </a:pPr>
            <a:r>
              <a:rPr sz="1350" b="1">
                <a:solidFill>
                  <a:srgbClr val="D3543F"/>
                </a:solidFill>
              </a:rPr>
              <a:t>02</a:t>
            </a:r>
          </a:p>
        </p:txBody>
      </p:sp>
      <p:sp>
        <p:nvSpPr>
          <p:cNvPr id="12" name="flow-label-1">
            <a:extLst xmlns:a="http://schemas.openxmlformats.org/drawingml/2006/main">
              <a:ext uri="{FF2B5EF4-FFF2-40B4-BE49-F238E27FC236}">
                <a16:creationId xmlns:a16="http://schemas.microsoft.com/office/drawing/2014/main" id="{F197E598-2404-4438-B402-5F63A2DEE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181350"/>
            <a:ext cx="1104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12B"/>
                </a:solidFill>
              </a:defRPr>
            </a:pPr>
            <a:r>
              <a:rPr sz="1275" b="1">
                <a:solidFill>
                  <a:srgbClr val="18212B"/>
                </a:solidFill>
              </a:rPr>
              <a:t>提取论文 / 协议约束</a:t>
            </a:r>
          </a:p>
        </p:txBody>
      </p:sp>
      <p:sp>
        <p:nvSpPr>
          <p:cNvPr id="13" name="flow-edge-2">
            <a:extLst xmlns:a="http://schemas.openxmlformats.org/drawingml/2006/main">
              <a:ext uri="{FF2B5EF4-FFF2-40B4-BE49-F238E27FC236}">
                <a16:creationId xmlns:a16="http://schemas.microsoft.com/office/drawing/2014/main" id="{3CF97B69-79B5-43AE-B4E2-5D71F42C3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1945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0C8"/>
          </a:solidFill>
          <a:ln xmlns:a="http://schemas.openxmlformats.org/drawingml/2006/main" w="0">
            <a:solidFill>
              <a:srgbClr val="D4D0C8"/>
            </a:solidFill>
            <a:prstDash val="solid"/>
          </a:ln>
        </p:spPr>
      </p:sp>
      <p:sp>
        <p:nvSpPr>
          <p:cNvPr id="14" name="flow-node-2">
            <a:extLst xmlns:a="http://schemas.openxmlformats.org/drawingml/2006/main">
              <a:ext uri="{FF2B5EF4-FFF2-40B4-BE49-F238E27FC236}">
                <a16:creationId xmlns:a16="http://schemas.microsoft.com/office/drawing/2014/main" id="{2E6CC8D9-C141-4020-A243-E5044901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52700"/>
            <a:ext cx="1333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3543F"/>
            </a:solidFill>
            <a:prstDash val="solid"/>
          </a:ln>
        </p:spPr>
      </p:sp>
      <p:sp>
        <p:nvSpPr>
          <p:cNvPr id="15" name="flow-num-2">
            <a:extLst xmlns:a="http://schemas.openxmlformats.org/drawingml/2006/main">
              <a:ext uri="{FF2B5EF4-FFF2-40B4-BE49-F238E27FC236}">
                <a16:creationId xmlns:a16="http://schemas.microsoft.com/office/drawing/2014/main" id="{C5B50183-CEC1-4373-8474-612838E0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4320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3543F"/>
                </a:solidFill>
              </a:defRPr>
            </a:pPr>
            <a:r>
              <a:rPr sz="1350" b="1">
                <a:solidFill>
                  <a:srgbClr val="D3543F"/>
                </a:solidFill>
              </a:rPr>
              <a:t>03</a:t>
            </a:r>
          </a:p>
        </p:txBody>
      </p:sp>
      <p:sp>
        <p:nvSpPr>
          <p:cNvPr id="16" name="flow-label-2">
            <a:extLst xmlns:a="http://schemas.openxmlformats.org/drawingml/2006/main">
              <a:ext uri="{FF2B5EF4-FFF2-40B4-BE49-F238E27FC236}">
                <a16:creationId xmlns:a16="http://schemas.microsoft.com/office/drawing/2014/main" id="{03EBE55C-E93F-470B-9D27-15EF6609B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81350"/>
            <a:ext cx="1104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12B"/>
                </a:solidFill>
              </a:defRPr>
            </a:pPr>
            <a:r>
              <a:rPr sz="1275" b="1">
                <a:solidFill>
                  <a:srgbClr val="18212B"/>
                </a:solidFill>
              </a:rPr>
              <a:t>确定性规则检测</a:t>
            </a:r>
          </a:p>
        </p:txBody>
      </p:sp>
      <p:sp>
        <p:nvSpPr>
          <p:cNvPr id="17" name="flow-edge-3">
            <a:extLst xmlns:a="http://schemas.openxmlformats.org/drawingml/2006/main">
              <a:ext uri="{FF2B5EF4-FFF2-40B4-BE49-F238E27FC236}">
                <a16:creationId xmlns:a16="http://schemas.microsoft.com/office/drawing/2014/main" id="{AEA833E6-DD7D-4CB2-8F3E-B14E3625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1945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0C8"/>
          </a:solidFill>
          <a:ln xmlns:a="http://schemas.openxmlformats.org/drawingml/2006/main" w="0">
            <a:solidFill>
              <a:srgbClr val="D4D0C8"/>
            </a:solidFill>
            <a:prstDash val="solid"/>
          </a:ln>
        </p:spPr>
      </p:sp>
      <p:sp>
        <p:nvSpPr>
          <p:cNvPr id="18" name="flow-node-3">
            <a:extLst xmlns:a="http://schemas.openxmlformats.org/drawingml/2006/main">
              <a:ext uri="{FF2B5EF4-FFF2-40B4-BE49-F238E27FC236}">
                <a16:creationId xmlns:a16="http://schemas.microsoft.com/office/drawing/2014/main" id="{DE2D2908-7052-4A5B-91EA-623B30AAE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52700"/>
            <a:ext cx="1333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D7C"/>
          </a:solidFill>
          <a:ln xmlns:a="http://schemas.openxmlformats.org/drawingml/2006/main" w="19050">
            <a:solidFill>
              <a:srgbClr val="2F5D7C"/>
            </a:solidFill>
            <a:prstDash val="solid"/>
          </a:ln>
        </p:spPr>
      </p:sp>
      <p:sp>
        <p:nvSpPr>
          <p:cNvPr id="19" name="flow-num-3">
            <a:extLst xmlns:a="http://schemas.openxmlformats.org/drawingml/2006/main">
              <a:ext uri="{FF2B5EF4-FFF2-40B4-BE49-F238E27FC236}">
                <a16:creationId xmlns:a16="http://schemas.microsoft.com/office/drawing/2014/main" id="{21E5BF85-BF81-4284-899D-9B9C30005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4320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0" name="flow-label-3">
            <a:extLst xmlns:a="http://schemas.openxmlformats.org/drawingml/2006/main">
              <a:ext uri="{FF2B5EF4-FFF2-40B4-BE49-F238E27FC236}">
                <a16:creationId xmlns:a16="http://schemas.microsoft.com/office/drawing/2014/main" id="{26F8D32A-7711-4DB8-BD8E-6623F6757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81350"/>
            <a:ext cx="1104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AI 补充语义</a:t>
            </a:r>
          </a:p>
        </p:txBody>
      </p:sp>
      <p:sp>
        <p:nvSpPr>
          <p:cNvPr id="21" name="flow-edge-4">
            <a:extLst xmlns:a="http://schemas.openxmlformats.org/drawingml/2006/main">
              <a:ext uri="{FF2B5EF4-FFF2-40B4-BE49-F238E27FC236}">
                <a16:creationId xmlns:a16="http://schemas.microsoft.com/office/drawing/2014/main" id="{4FCDD011-95EF-4391-A1A9-5016EC0C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1945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0C8"/>
          </a:solidFill>
          <a:ln xmlns:a="http://schemas.openxmlformats.org/drawingml/2006/main" w="0">
            <a:solidFill>
              <a:srgbClr val="D4D0C8"/>
            </a:solidFill>
            <a:prstDash val="solid"/>
          </a:ln>
        </p:spPr>
      </p:sp>
      <p:sp>
        <p:nvSpPr>
          <p:cNvPr id="22" name="flow-node-4">
            <a:extLst xmlns:a="http://schemas.openxmlformats.org/drawingml/2006/main">
              <a:ext uri="{FF2B5EF4-FFF2-40B4-BE49-F238E27FC236}">
                <a16:creationId xmlns:a16="http://schemas.microsoft.com/office/drawing/2014/main" id="{92BA7F8C-6C2F-4E93-83B0-DA1F037E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52700"/>
            <a:ext cx="1333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3543F"/>
            </a:solidFill>
            <a:prstDash val="solid"/>
          </a:ln>
        </p:spPr>
      </p:sp>
      <p:sp>
        <p:nvSpPr>
          <p:cNvPr id="23" name="flow-num-4">
            <a:extLst xmlns:a="http://schemas.openxmlformats.org/drawingml/2006/main">
              <a:ext uri="{FF2B5EF4-FFF2-40B4-BE49-F238E27FC236}">
                <a16:creationId xmlns:a16="http://schemas.microsoft.com/office/drawing/2014/main" id="{11A4FE5E-2082-49C7-85D4-BFA039C8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4320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3543F"/>
                </a:solidFill>
              </a:defRPr>
            </a:pPr>
            <a:r>
              <a:rPr sz="1350" b="1">
                <a:solidFill>
                  <a:srgbClr val="D3543F"/>
                </a:solidFill>
              </a:rPr>
              <a:t>05</a:t>
            </a:r>
          </a:p>
        </p:txBody>
      </p:sp>
      <p:sp>
        <p:nvSpPr>
          <p:cNvPr id="24" name="flow-label-4">
            <a:extLst xmlns:a="http://schemas.openxmlformats.org/drawingml/2006/main">
              <a:ext uri="{FF2B5EF4-FFF2-40B4-BE49-F238E27FC236}">
                <a16:creationId xmlns:a16="http://schemas.microsoft.com/office/drawing/2014/main" id="{CF7ADEE2-118B-4A45-98B4-3B094B8D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81350"/>
            <a:ext cx="1104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12B"/>
                </a:solidFill>
              </a:defRPr>
            </a:pPr>
            <a:r>
              <a:rPr sz="1275" b="1">
                <a:solidFill>
                  <a:srgbClr val="18212B"/>
                </a:solidFill>
              </a:rPr>
              <a:t>绑定双向证据</a:t>
            </a:r>
          </a:p>
        </p:txBody>
      </p:sp>
      <p:sp>
        <p:nvSpPr>
          <p:cNvPr id="25" name="flow-node-5">
            <a:extLst xmlns:a="http://schemas.openxmlformats.org/drawingml/2006/main">
              <a:ext uri="{FF2B5EF4-FFF2-40B4-BE49-F238E27FC236}">
                <a16:creationId xmlns:a16="http://schemas.microsoft.com/office/drawing/2014/main" id="{7586AF14-0A8B-4FCF-828A-6FD76113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552700"/>
            <a:ext cx="1333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3543F"/>
            </a:solidFill>
            <a:prstDash val="solid"/>
          </a:ln>
        </p:spPr>
      </p:sp>
      <p:sp>
        <p:nvSpPr>
          <p:cNvPr id="26" name="flow-num-5">
            <a:extLst xmlns:a="http://schemas.openxmlformats.org/drawingml/2006/main">
              <a:ext uri="{FF2B5EF4-FFF2-40B4-BE49-F238E27FC236}">
                <a16:creationId xmlns:a16="http://schemas.microsoft.com/office/drawing/2014/main" id="{666819FC-9E80-494B-87FF-DF959B71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74320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3543F"/>
                </a:solidFill>
              </a:defRPr>
            </a:pPr>
            <a:r>
              <a:rPr sz="1350" b="1">
                <a:solidFill>
                  <a:srgbClr val="D3543F"/>
                </a:solidFill>
              </a:rPr>
              <a:t>06</a:t>
            </a:r>
          </a:p>
        </p:txBody>
      </p:sp>
      <p:sp>
        <p:nvSpPr>
          <p:cNvPr id="27" name="flow-label-5">
            <a:extLst xmlns:a="http://schemas.openxmlformats.org/drawingml/2006/main">
              <a:ext uri="{FF2B5EF4-FFF2-40B4-BE49-F238E27FC236}">
                <a16:creationId xmlns:a16="http://schemas.microsoft.com/office/drawing/2014/main" id="{DB7E76B8-D646-40AF-9376-5312443A0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181350"/>
            <a:ext cx="1104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12B"/>
                </a:solidFill>
              </a:defRPr>
            </a:pPr>
            <a:r>
              <a:rPr sz="1275" b="1">
                <a:solidFill>
                  <a:srgbClr val="18212B"/>
                </a:solidFill>
              </a:rPr>
              <a:t>人工确认结论</a:t>
            </a:r>
          </a:p>
        </p:txBody>
      </p:sp>
      <p:sp>
        <p:nvSpPr>
          <p:cNvPr id="28" name="flow-boundary-bg">
            <a:extLst xmlns:a="http://schemas.openxmlformats.org/drawingml/2006/main">
              <a:ext uri="{FF2B5EF4-FFF2-40B4-BE49-F238E27FC236}">
                <a16:creationId xmlns:a16="http://schemas.microsoft.com/office/drawing/2014/main" id="{ED6590D5-12F9-4458-9FAC-E47E9EC9C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9906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F0"/>
          </a:solidFill>
          <a:ln xmlns:a="http://schemas.openxmlformats.org/drawingml/2006/main" w="0">
            <a:solidFill>
              <a:srgbClr val="DFEAF0"/>
            </a:solidFill>
            <a:prstDash val="solid"/>
          </a:ln>
        </p:spPr>
      </p:sp>
      <p:sp>
        <p:nvSpPr>
          <p:cNvPr id="29" name="flow-boundary">
            <a:extLst xmlns:a="http://schemas.openxmlformats.org/drawingml/2006/main">
              <a:ext uri="{FF2B5EF4-FFF2-40B4-BE49-F238E27FC236}">
                <a16:creationId xmlns:a16="http://schemas.microsoft.com/office/drawing/2014/main" id="{A69960E6-2A9E-41F5-BDD4-C4AC5C17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720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2F5D7C"/>
                </a:solidFill>
              </a:defRPr>
            </a:pPr>
            <a:r>
              <a:rPr sz="1425">
                <a:solidFill>
                  <a:srgbClr val="2F5D7C"/>
                </a:solidFill>
              </a:rPr>
              <a:t>规则结论是权威层；模型只处理非结构化语义，并且只能引用系统提供的 D### / P### 来源。所有科研风险默认 needs_review。</a:t>
            </a:r>
          </a:p>
        </p:txBody>
      </p:sp>
    </p:spTree>
    <p:extLst>
      <p:ext uri="{BB962C8B-B14F-4D97-AF65-F5344CB8AC3E}">
        <p14:creationId xmlns:p14="http://schemas.microsoft.com/office/powerpoint/2010/main" val="2696670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-4">
            <a:extLst xmlns:a="http://schemas.openxmlformats.org/drawingml/2006/main">
              <a:ext uri="{FF2B5EF4-FFF2-40B4-BE49-F238E27FC236}">
                <a16:creationId xmlns:a16="http://schemas.microsoft.com/office/drawing/2014/main" id="{AA0EC150-B320-4328-BFB5-A84AF5B1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3543F"/>
                </a:solidFill>
              </a:defRPr>
            </a:pPr>
            <a:r>
              <a:rPr sz="1050" b="1">
                <a:solidFill>
                  <a:srgbClr val="D3543F"/>
                </a:solidFill>
              </a:rPr>
              <a:t>创新性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7E016446-B10F-4691-B7C1-2BDB3B67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12B"/>
                </a:solidFill>
              </a:defRPr>
            </a:pPr>
            <a:r>
              <a:rPr sz="2550" b="1">
                <a:solidFill>
                  <a:srgbClr val="18212B"/>
                </a:solidFill>
              </a:rPr>
              <a:t>核心创新是把审查对象从“代码质量”扩展到“复现约束”</a:t>
            </a:r>
          </a:p>
        </p:txBody>
      </p:sp>
      <p:sp>
        <p:nvSpPr>
          <p:cNvPr id="3" name="rule-4">
            <a:extLst xmlns:a="http://schemas.openxmlformats.org/drawingml/2006/main">
              <a:ext uri="{FF2B5EF4-FFF2-40B4-BE49-F238E27FC236}">
                <a16:creationId xmlns:a16="http://schemas.microsoft.com/office/drawing/2014/main" id="{304196E5-BFCA-4ACE-807B-B27524A2A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0C8"/>
          </a:solidFill>
          <a:ln xmlns:a="http://schemas.openxmlformats.org/drawingml/2006/main" w="0">
            <a:solidFill>
              <a:srgbClr val="D4D0C8"/>
            </a:solidFill>
            <a:prstDash val="solid"/>
          </a:ln>
        </p:spPr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7208C482-915E-4E4E-8847-5F432D0E7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86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C6670"/>
                </a:solidFill>
              </a:defRPr>
            </a:pPr>
            <a:r>
              <a:rPr sz="975" b="1">
                <a:solidFill>
                  <a:srgbClr val="5C6670"/>
                </a:solidFill>
              </a:rPr>
              <a:t>04</a:t>
            </a:r>
          </a:p>
        </p:txBody>
      </p:sp>
      <p:sp>
        <p:nvSpPr>
          <p:cNvPr id="5" name="innovation-accent-0">
            <a:extLst xmlns:a="http://schemas.openxmlformats.org/drawingml/2006/main">
              <a:ext uri="{FF2B5EF4-FFF2-40B4-BE49-F238E27FC236}">
                <a16:creationId xmlns:a16="http://schemas.microsoft.com/office/drawing/2014/main" id="{66660273-DC3E-4971-A5D6-1ED7E1298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3360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543F"/>
          </a:solidFill>
          <a:ln xmlns:a="http://schemas.openxmlformats.org/drawingml/2006/main" w="0">
            <a:solidFill>
              <a:srgbClr val="D3543F"/>
            </a:solidFill>
            <a:prstDash val="solid"/>
          </a:ln>
        </p:spPr>
      </p:sp>
      <p:sp>
        <p:nvSpPr>
          <p:cNvPr id="6" name="innovation-title-0">
            <a:extLst xmlns:a="http://schemas.openxmlformats.org/drawingml/2006/main">
              <a:ext uri="{FF2B5EF4-FFF2-40B4-BE49-F238E27FC236}">
                <a16:creationId xmlns:a16="http://schemas.microsoft.com/office/drawing/2014/main" id="{B761B322-0986-4F93-B9A5-DEFDC89F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12B"/>
                </a:solidFill>
              </a:defRPr>
            </a:pPr>
            <a:r>
              <a:rPr sz="1875" b="1">
                <a:solidFill>
                  <a:srgbClr val="18212B"/>
                </a:solidFill>
              </a:rPr>
              <a:t>研究约束对齐</a:t>
            </a:r>
          </a:p>
        </p:txBody>
      </p:sp>
      <p:sp>
        <p:nvSpPr>
          <p:cNvPr id="7" name="innovation-body-0">
            <a:extLst xmlns:a="http://schemas.openxmlformats.org/drawingml/2006/main">
              <a:ext uri="{FF2B5EF4-FFF2-40B4-BE49-F238E27FC236}">
                <a16:creationId xmlns:a16="http://schemas.microsoft.com/office/drawing/2014/main" id="{69F50967-93EA-4601-A45F-D6DB8FA8A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14700"/>
            <a:ext cx="2857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C6670"/>
                </a:solidFill>
              </a:defRPr>
            </a:pPr>
            <a:r>
              <a:rPr sz="1425">
                <a:solidFill>
                  <a:srgbClr val="5C6670"/>
                </a:solidFill>
              </a:rPr>
              <a:t>把论文页码、协议字段与代码变更放进同一条审查链。</a:t>
            </a:r>
          </a:p>
        </p:txBody>
      </p:sp>
      <p:sp>
        <p:nvSpPr>
          <p:cNvPr id="8" name="innovation-accent-1">
            <a:extLst xmlns:a="http://schemas.openxmlformats.org/drawingml/2006/main">
              <a:ext uri="{FF2B5EF4-FFF2-40B4-BE49-F238E27FC236}">
                <a16:creationId xmlns:a16="http://schemas.microsoft.com/office/drawing/2014/main" id="{C15F1E01-6740-45C7-AABA-08D2A84F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3360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7C"/>
          </a:solidFill>
          <a:ln xmlns:a="http://schemas.openxmlformats.org/drawingml/2006/main" w="0">
            <a:solidFill>
              <a:srgbClr val="2F5D7C"/>
            </a:solidFill>
            <a:prstDash val="solid"/>
          </a:ln>
        </p:spPr>
      </p:sp>
      <p:sp>
        <p:nvSpPr>
          <p:cNvPr id="9" name="innovation-title-1">
            <a:extLst xmlns:a="http://schemas.openxmlformats.org/drawingml/2006/main">
              <a:ext uri="{FF2B5EF4-FFF2-40B4-BE49-F238E27FC236}">
                <a16:creationId xmlns:a16="http://schemas.microsoft.com/office/drawing/2014/main" id="{DBEF640B-5455-4D3D-8EA1-12997AAC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717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12B"/>
                </a:solidFill>
              </a:defRPr>
            </a:pPr>
            <a:r>
              <a:rPr sz="1875" b="1">
                <a:solidFill>
                  <a:srgbClr val="18212B"/>
                </a:solidFill>
              </a:rPr>
              <a:t>权限隔离</a:t>
            </a:r>
          </a:p>
        </p:txBody>
      </p:sp>
      <p:sp>
        <p:nvSpPr>
          <p:cNvPr id="10" name="innovation-body-1">
            <a:extLst xmlns:a="http://schemas.openxmlformats.org/drawingml/2006/main">
              <a:ext uri="{FF2B5EF4-FFF2-40B4-BE49-F238E27FC236}">
                <a16:creationId xmlns:a16="http://schemas.microsoft.com/office/drawing/2014/main" id="{F46609EF-08B9-466A-A5E5-4981DD3AC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314700"/>
            <a:ext cx="2857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C6670"/>
                </a:solidFill>
              </a:defRPr>
            </a:pPr>
            <a:r>
              <a:rPr sz="1425">
                <a:solidFill>
                  <a:srgbClr val="5C6670"/>
                </a:solidFill>
              </a:rPr>
              <a:t>确定性规则不可被模型覆盖；无效来源直接丢弃。</a:t>
            </a:r>
          </a:p>
        </p:txBody>
      </p:sp>
      <p:sp>
        <p:nvSpPr>
          <p:cNvPr id="11" name="innovation-accent-2">
            <a:extLst xmlns:a="http://schemas.openxmlformats.org/drawingml/2006/main">
              <a:ext uri="{FF2B5EF4-FFF2-40B4-BE49-F238E27FC236}">
                <a16:creationId xmlns:a16="http://schemas.microsoft.com/office/drawing/2014/main" id="{1DF26909-6891-4B6B-986A-1A0723C2D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3360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543F"/>
          </a:solidFill>
          <a:ln xmlns:a="http://schemas.openxmlformats.org/drawingml/2006/main" w="0">
            <a:solidFill>
              <a:srgbClr val="D3543F"/>
            </a:solidFill>
            <a:prstDash val="solid"/>
          </a:ln>
        </p:spPr>
      </p:sp>
      <p:sp>
        <p:nvSpPr>
          <p:cNvPr id="12" name="innovation-title-2">
            <a:extLst xmlns:a="http://schemas.openxmlformats.org/drawingml/2006/main">
              <a:ext uri="{FF2B5EF4-FFF2-40B4-BE49-F238E27FC236}">
                <a16:creationId xmlns:a16="http://schemas.microsoft.com/office/drawing/2014/main" id="{F3A3CA84-A93D-4646-8673-C6D7625E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717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12B"/>
                </a:solidFill>
              </a:defRPr>
            </a:pPr>
            <a:r>
              <a:rPr sz="1875" b="1">
                <a:solidFill>
                  <a:srgbClr val="18212B"/>
                </a:solidFill>
              </a:rPr>
              <a:t>可复核输出</a:t>
            </a:r>
          </a:p>
        </p:txBody>
      </p:sp>
      <p:sp>
        <p:nvSpPr>
          <p:cNvPr id="13" name="innovation-body-2">
            <a:extLst xmlns:a="http://schemas.openxmlformats.org/drawingml/2006/main">
              <a:ext uri="{FF2B5EF4-FFF2-40B4-BE49-F238E27FC236}">
                <a16:creationId xmlns:a16="http://schemas.microsoft.com/office/drawing/2014/main" id="{523F68DF-1B5D-433C-80BF-106E2866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14700"/>
            <a:ext cx="2857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C6670"/>
                </a:solidFill>
              </a:defRPr>
            </a:pPr>
            <a:r>
              <a:rPr sz="1425">
                <a:solidFill>
                  <a:srgbClr val="5C6670"/>
                </a:solidFill>
              </a:rPr>
              <a:t>每条风险绑定 diff 行号、来源位置、建议和人工状态。</a:t>
            </a:r>
          </a:p>
        </p:txBody>
      </p:sp>
      <p:sp>
        <p:nvSpPr>
          <p:cNvPr id="14" name="innovation-bottom-rule">
            <a:extLst xmlns:a="http://schemas.openxmlformats.org/drawingml/2006/main">
              <a:ext uri="{FF2B5EF4-FFF2-40B4-BE49-F238E27FC236}">
                <a16:creationId xmlns:a16="http://schemas.microsoft.com/office/drawing/2014/main" id="{31454C5B-341E-4D5D-9A32-092A71BB8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0C8"/>
          </a:solidFill>
          <a:ln xmlns:a="http://schemas.openxmlformats.org/drawingml/2006/main" w="0">
            <a:solidFill>
              <a:srgbClr val="D4D0C8"/>
            </a:solidFill>
            <a:prstDash val="solid"/>
          </a:ln>
        </p:spPr>
      </p:sp>
      <p:sp>
        <p:nvSpPr>
          <p:cNvPr id="15" name="innovation-bottom">
            <a:extLst xmlns:a="http://schemas.openxmlformats.org/drawingml/2006/main">
              <a:ext uri="{FF2B5EF4-FFF2-40B4-BE49-F238E27FC236}">
                <a16:creationId xmlns:a16="http://schemas.microsoft.com/office/drawing/2014/main" id="{E7474967-96B1-4F02-AC85-5D29ED04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F5D7C"/>
                </a:solidFill>
              </a:defRPr>
            </a:pPr>
            <a:r>
              <a:rPr sz="1500" b="1">
                <a:solidFill>
                  <a:srgbClr val="2F5D7C"/>
                </a:solidFill>
              </a:rPr>
              <a:t>产品形态：GitHub Composite Action + CLI + 网页原型 + 开放 Schema + 评测脚本</a:t>
            </a:r>
          </a:p>
        </p:txBody>
      </p:sp>
    </p:spTree>
    <p:extLst>
      <p:ext uri="{BB962C8B-B14F-4D97-AF65-F5344CB8AC3E}">
        <p14:creationId xmlns:p14="http://schemas.microsoft.com/office/powerpoint/2010/main" val="17690817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-5">
            <a:extLst xmlns:a="http://schemas.openxmlformats.org/drawingml/2006/main">
              <a:ext uri="{FF2B5EF4-FFF2-40B4-BE49-F238E27FC236}">
                <a16:creationId xmlns:a16="http://schemas.microsoft.com/office/drawing/2014/main" id="{1CCF4AB7-7324-4C33-9D02-762225CA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3543F"/>
                </a:solidFill>
              </a:defRPr>
            </a:pPr>
            <a:r>
              <a:rPr sz="1050" b="1">
                <a:solidFill>
                  <a:srgbClr val="D3543F"/>
                </a:solidFill>
              </a:rPr>
              <a:t>真实案例 · PYTORCH-UNET PR #141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CF0F75DD-AE24-40B0-821E-A1868A0A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12B"/>
                </a:solidFill>
              </a:defRPr>
            </a:pPr>
            <a:r>
              <a:rPr sz="2550" b="1">
                <a:solidFill>
                  <a:srgbClr val="18212B"/>
                </a:solidFill>
              </a:rPr>
              <a:t>真实历史 PR 回放：一次改动触发三类复现风险</a:t>
            </a:r>
          </a:p>
        </p:txBody>
      </p:sp>
      <p:sp>
        <p:nvSpPr>
          <p:cNvPr id="3" name="rule-5">
            <a:extLst xmlns:a="http://schemas.openxmlformats.org/drawingml/2006/main">
              <a:ext uri="{FF2B5EF4-FFF2-40B4-BE49-F238E27FC236}">
                <a16:creationId xmlns:a16="http://schemas.microsoft.com/office/drawing/2014/main" id="{4014066B-5E4A-4444-A5DE-DF76CCAF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0C8"/>
          </a:solidFill>
          <a:ln xmlns:a="http://schemas.openxmlformats.org/drawingml/2006/main" w="0">
            <a:solidFill>
              <a:srgbClr val="D4D0C8"/>
            </a:solidFill>
            <a:prstDash val="solid"/>
          </a:ln>
        </p:spPr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4F4410A3-6306-4913-8068-7A619AA8A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86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C6670"/>
                </a:solidFill>
              </a:defRPr>
            </a:pPr>
            <a:r>
              <a:rPr sz="975" b="1">
                <a:solidFill>
                  <a:srgbClr val="5C6670"/>
                </a:solidFill>
              </a:rPr>
              <a:t>05</a:t>
            </a:r>
          </a:p>
        </p:txBody>
      </p:sp>
      <p:sp>
        <p:nvSpPr>
          <p:cNvPr id="5" name="case-fact">
            <a:extLst xmlns:a="http://schemas.openxmlformats.org/drawingml/2006/main">
              <a:ext uri="{FF2B5EF4-FFF2-40B4-BE49-F238E27FC236}">
                <a16:creationId xmlns:a16="http://schemas.microsoft.com/office/drawing/2014/main" id="{84B9C7C4-ED10-4DD2-B315-9163AD2DC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C6670"/>
                </a:solidFill>
              </a:defRPr>
            </a:pPr>
            <a:r>
              <a:rPr sz="1350">
                <a:solidFill>
                  <a:srgbClr val="5C6670"/>
                </a:solidFill>
              </a:rPr>
              <a:t>公开历史 PR · 已合并 · 完整 diff 回放 · 结论仍需研究者确认</a:t>
            </a:r>
          </a:p>
        </p:txBody>
      </p:sp>
      <p:sp>
        <p:nvSpPr>
          <p:cNvPr id="6" name="case-num-0">
            <a:extLst xmlns:a="http://schemas.openxmlformats.org/drawingml/2006/main">
              <a:ext uri="{FF2B5EF4-FFF2-40B4-BE49-F238E27FC236}">
                <a16:creationId xmlns:a16="http://schemas.microsoft.com/office/drawing/2014/main" id="{408E90AA-53BA-41AD-9120-C40ED131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3543F"/>
                </a:solidFill>
              </a:defRPr>
            </a:pPr>
            <a:r>
              <a:rPr sz="2100" b="1">
                <a:solidFill>
                  <a:srgbClr val="D3543F"/>
                </a:solidFill>
              </a:rPr>
              <a:t>01</a:t>
            </a:r>
          </a:p>
        </p:txBody>
      </p:sp>
      <p:sp>
        <p:nvSpPr>
          <p:cNvPr id="7" name="case-title-0">
            <a:extLst xmlns:a="http://schemas.openxmlformats.org/drawingml/2006/main">
              <a:ext uri="{FF2B5EF4-FFF2-40B4-BE49-F238E27FC236}">
                <a16:creationId xmlns:a16="http://schemas.microsoft.com/office/drawing/2014/main" id="{D6C53855-31DA-4E79-86E5-62C50AB9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7650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212B"/>
                </a:solidFill>
              </a:defRPr>
            </a:pPr>
            <a:r>
              <a:rPr sz="1725" b="1">
                <a:solidFill>
                  <a:srgbClr val="18212B"/>
                </a:solidFill>
              </a:rPr>
              <a:t>评价分母变化</a:t>
            </a:r>
          </a:p>
        </p:txBody>
      </p:sp>
      <p:sp>
        <p:nvSpPr>
          <p:cNvPr id="8" name="case-body-0">
            <a:extLst xmlns:a="http://schemas.openxmlformats.org/drawingml/2006/main">
              <a:ext uri="{FF2B5EF4-FFF2-40B4-BE49-F238E27FC236}">
                <a16:creationId xmlns:a16="http://schemas.microsoft.com/office/drawing/2014/main" id="{8784322B-3781-44B8-92C8-21317A9C1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76500"/>
            <a:ext cx="581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C6670"/>
                </a:solidFill>
              </a:defRPr>
            </a:pPr>
            <a:r>
              <a:rPr sz="1350">
                <a:solidFill>
                  <a:srgbClr val="5C6670"/>
                </a:solidFill>
              </a:rPr>
              <a:t>n_val = len(loader) 后以批次数归一化，需核对论文与测试口径。</a:t>
            </a:r>
          </a:p>
        </p:txBody>
      </p:sp>
      <p:sp>
        <p:nvSpPr>
          <p:cNvPr id="9" name="case-rule-0">
            <a:extLst xmlns:a="http://schemas.openxmlformats.org/drawingml/2006/main">
              <a:ext uri="{FF2B5EF4-FFF2-40B4-BE49-F238E27FC236}">
                <a16:creationId xmlns:a16="http://schemas.microsoft.com/office/drawing/2014/main" id="{17B4FF45-F582-4829-8200-8EED7A07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76600"/>
            <a:ext cx="9867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0C8"/>
          </a:solidFill>
          <a:ln xmlns:a="http://schemas.openxmlformats.org/drawingml/2006/main" w="0">
            <a:solidFill>
              <a:srgbClr val="D4D0C8"/>
            </a:solidFill>
            <a:prstDash val="solid"/>
          </a:ln>
        </p:spPr>
      </p:sp>
      <p:sp>
        <p:nvSpPr>
          <p:cNvPr id="10" name="case-num-1">
            <a:extLst xmlns:a="http://schemas.openxmlformats.org/drawingml/2006/main">
              <a:ext uri="{FF2B5EF4-FFF2-40B4-BE49-F238E27FC236}">
                <a16:creationId xmlns:a16="http://schemas.microsoft.com/office/drawing/2014/main" id="{4FEAAF4B-232B-449E-9E76-E9581B57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3543F"/>
                </a:solidFill>
              </a:defRPr>
            </a:pPr>
            <a:r>
              <a:rPr sz="2100" b="1">
                <a:solidFill>
                  <a:srgbClr val="D3543F"/>
                </a:solidFill>
              </a:rPr>
              <a:t>02</a:t>
            </a:r>
          </a:p>
        </p:txBody>
      </p:sp>
      <p:sp>
        <p:nvSpPr>
          <p:cNvPr id="11" name="case-title-1">
            <a:extLst xmlns:a="http://schemas.openxmlformats.org/drawingml/2006/main">
              <a:ext uri="{FF2B5EF4-FFF2-40B4-BE49-F238E27FC236}">
                <a16:creationId xmlns:a16="http://schemas.microsoft.com/office/drawing/2014/main" id="{7715C675-67D0-45C2-BE4F-9C0C2AC3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5623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212B"/>
                </a:solidFill>
              </a:defRPr>
            </a:pPr>
            <a:r>
              <a:rPr sz="1725" b="1">
                <a:solidFill>
                  <a:srgbClr val="18212B"/>
                </a:solidFill>
              </a:rPr>
              <a:t>评价流程变化</a:t>
            </a:r>
          </a:p>
        </p:txBody>
      </p:sp>
      <p:sp>
        <p:nvSpPr>
          <p:cNvPr id="12" name="case-body-1">
            <a:extLst xmlns:a="http://schemas.openxmlformats.org/drawingml/2006/main">
              <a:ext uri="{FF2B5EF4-FFF2-40B4-BE49-F238E27FC236}">
                <a16:creationId xmlns:a16="http://schemas.microsoft.com/office/drawing/2014/main" id="{62F5E1EE-2EE8-43E8-9379-234ADBC41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62350"/>
            <a:ext cx="581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C6670"/>
                </a:solidFill>
              </a:defRPr>
            </a:pPr>
            <a:r>
              <a:rPr sz="1350">
                <a:solidFill>
                  <a:srgbClr val="5C6670"/>
                </a:solidFill>
              </a:rPr>
              <a:t>Sigmoid、Dice 与交叉熵相关路径变化，需确认指标定义是否同步。</a:t>
            </a:r>
          </a:p>
        </p:txBody>
      </p:sp>
      <p:sp>
        <p:nvSpPr>
          <p:cNvPr id="13" name="case-rule-1">
            <a:extLst xmlns:a="http://schemas.openxmlformats.org/drawingml/2006/main">
              <a:ext uri="{FF2B5EF4-FFF2-40B4-BE49-F238E27FC236}">
                <a16:creationId xmlns:a16="http://schemas.microsoft.com/office/drawing/2014/main" id="{6E1756EE-4CE3-4C2C-AD4E-95D1A7E50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62450"/>
            <a:ext cx="9867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0C8"/>
          </a:solidFill>
          <a:ln xmlns:a="http://schemas.openxmlformats.org/drawingml/2006/main" w="0">
            <a:solidFill>
              <a:srgbClr val="D4D0C8"/>
            </a:solidFill>
            <a:prstDash val="solid"/>
          </a:ln>
        </p:spPr>
      </p:sp>
      <p:sp>
        <p:nvSpPr>
          <p:cNvPr id="14" name="case-num-2">
            <a:extLst xmlns:a="http://schemas.openxmlformats.org/drawingml/2006/main">
              <a:ext uri="{FF2B5EF4-FFF2-40B4-BE49-F238E27FC236}">
                <a16:creationId xmlns:a16="http://schemas.microsoft.com/office/drawing/2014/main" id="{0820911E-695D-40B4-8466-E337D90B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291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3543F"/>
                </a:solidFill>
              </a:defRPr>
            </a:pPr>
            <a:r>
              <a:rPr sz="2100" b="1">
                <a:solidFill>
                  <a:srgbClr val="D3543F"/>
                </a:solidFill>
              </a:rPr>
              <a:t>03</a:t>
            </a:r>
          </a:p>
        </p:txBody>
      </p:sp>
      <p:sp>
        <p:nvSpPr>
          <p:cNvPr id="15" name="case-title-2">
            <a:extLst xmlns:a="http://schemas.openxmlformats.org/drawingml/2006/main">
              <a:ext uri="{FF2B5EF4-FFF2-40B4-BE49-F238E27FC236}">
                <a16:creationId xmlns:a16="http://schemas.microsoft.com/office/drawing/2014/main" id="{6C6852D8-7CD4-4B5C-94AE-750EA06F1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64820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212B"/>
                </a:solidFill>
              </a:defRPr>
            </a:pPr>
            <a:r>
              <a:rPr sz="1725" b="1">
                <a:solidFill>
                  <a:srgbClr val="18212B"/>
                </a:solidFill>
              </a:rPr>
              <a:t>样本范围变化</a:t>
            </a:r>
          </a:p>
        </p:txBody>
      </p:sp>
      <p:sp>
        <p:nvSpPr>
          <p:cNvPr id="16" name="case-body-2">
            <a:extLst xmlns:a="http://schemas.openxmlformats.org/drawingml/2006/main">
              <a:ext uri="{FF2B5EF4-FFF2-40B4-BE49-F238E27FC236}">
                <a16:creationId xmlns:a16="http://schemas.microsoft.com/office/drawing/2014/main" id="{954FDAA3-5D9E-4BA6-9E36-04B827867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48200"/>
            <a:ext cx="581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C6670"/>
                </a:solidFill>
              </a:defRPr>
            </a:pPr>
            <a:r>
              <a:rPr sz="1350">
                <a:solidFill>
                  <a:srgbClr val="5C6670"/>
                </a:solidFill>
              </a:rPr>
              <a:t>drop_last=True 可能排除最后一个不完整批次。</a:t>
            </a:r>
          </a:p>
        </p:txBody>
      </p:sp>
      <p:sp>
        <p:nvSpPr>
          <p:cNvPr id="17" name="case-caveat">
            <a:extLst xmlns:a="http://schemas.openxmlformats.org/drawingml/2006/main">
              <a:ext uri="{FF2B5EF4-FFF2-40B4-BE49-F238E27FC236}">
                <a16:creationId xmlns:a16="http://schemas.microsoft.com/office/drawing/2014/main" id="{31722133-34CC-44AF-BC09-319EA2DC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5D7C"/>
                </a:solidFill>
              </a:defRPr>
            </a:pPr>
            <a:r>
              <a:rPr sz="1350" b="1">
                <a:solidFill>
                  <a:srgbClr val="2F5D7C"/>
                </a:solidFill>
              </a:rPr>
              <a:t>这是“发现需要复核”的真实证据，不是自动证明论文一定不可复现。</a:t>
            </a:r>
          </a:p>
        </p:txBody>
      </p:sp>
    </p:spTree>
    <p:extLst>
      <p:ext uri="{BB962C8B-B14F-4D97-AF65-F5344CB8AC3E}">
        <p14:creationId xmlns:p14="http://schemas.microsoft.com/office/powerpoint/2010/main" val="1578720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-6">
            <a:extLst xmlns:a="http://schemas.openxmlformats.org/drawingml/2006/main">
              <a:ext uri="{FF2B5EF4-FFF2-40B4-BE49-F238E27FC236}">
                <a16:creationId xmlns:a16="http://schemas.microsoft.com/office/drawing/2014/main" id="{6A7D0944-4E02-4063-A41C-74817247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3543F"/>
                </a:solidFill>
              </a:defRPr>
            </a:pPr>
            <a:r>
              <a:rPr sz="1050" b="1">
                <a:solidFill>
                  <a:srgbClr val="D3543F"/>
                </a:solidFill>
              </a:rPr>
              <a:t>实现完成度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1F58A9C3-D390-4695-A877-F5AD7FFF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12B"/>
                </a:solidFill>
              </a:defRPr>
            </a:pPr>
            <a:r>
              <a:rPr sz="2550" b="1">
                <a:solidFill>
                  <a:srgbClr val="18212B"/>
                </a:solidFill>
              </a:rPr>
              <a:t>GitHub Action 已跑通同仓库与跨仓库完整链路</a:t>
            </a:r>
          </a:p>
        </p:txBody>
      </p:sp>
      <p:sp>
        <p:nvSpPr>
          <p:cNvPr id="3" name="rule-6">
            <a:extLst xmlns:a="http://schemas.openxmlformats.org/drawingml/2006/main">
              <a:ext uri="{FF2B5EF4-FFF2-40B4-BE49-F238E27FC236}">
                <a16:creationId xmlns:a16="http://schemas.microsoft.com/office/drawing/2014/main" id="{919E8F12-2EC2-45AC-B322-5D9A991C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0C8"/>
          </a:solidFill>
          <a:ln xmlns:a="http://schemas.openxmlformats.org/drawingml/2006/main" w="0">
            <a:solidFill>
              <a:srgbClr val="D4D0C8"/>
            </a:solidFill>
            <a:prstDash val="solid"/>
          </a:ln>
        </p:spPr>
      </p: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E2A6C53B-3929-42B5-8E41-10E787742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86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C6670"/>
                </a:solidFill>
              </a:defRPr>
            </a:pPr>
            <a:r>
              <a:rPr sz="975" b="1">
                <a:solidFill>
                  <a:srgbClr val="5C6670"/>
                </a:solidFill>
              </a:rPr>
              <a:t>06</a:t>
            </a:r>
          </a:p>
        </p:txBody>
      </p:sp>
      <p:sp>
        <p:nvSpPr>
          <p:cNvPr id="5" name="action-frame">
            <a:extLst xmlns:a="http://schemas.openxmlformats.org/drawingml/2006/main">
              <a:ext uri="{FF2B5EF4-FFF2-40B4-BE49-F238E27FC236}">
                <a16:creationId xmlns:a16="http://schemas.microsoft.com/office/drawing/2014/main" id="{760E133E-DDB3-41DA-B666-254E67C3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28800"/>
            <a:ext cx="37147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4D0C8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936e20b1d64efd"/>
          <a:stretch xmlns:a="http://schemas.openxmlformats.org/drawingml/2006/main"/>
        </p:blipFill>
        <p:spPr>
          <a:xfrm xmlns:a="http://schemas.openxmlformats.org/drawingml/2006/main">
            <a:off x="1279297" y="1981200"/>
            <a:ext cx="2642057" cy="3600450"/>
          </a:xfrm>
          <a:prstGeom xmlns:a="http://schemas.openxmlformats.org/drawingml/2006/main" prst="rect">
            <a:avLst/>
          </a:prstGeom>
        </p:spPr>
      </p:pic>
      <p:sp>
        <p:nvSpPr>
          <p:cNvPr id="7" name="action-proof-title">
            <a:extLst xmlns:a="http://schemas.openxmlformats.org/drawingml/2006/main">
              <a:ext uri="{FF2B5EF4-FFF2-40B4-BE49-F238E27FC236}">
                <a16:creationId xmlns:a16="http://schemas.microsoft.com/office/drawing/2014/main" id="{F25EFBFE-B4B0-4A06-8B90-A437D976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96215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12B"/>
                </a:solidFill>
              </a:defRPr>
            </a:pPr>
            <a:r>
              <a:rPr sz="1950" b="1">
                <a:solidFill>
                  <a:srgbClr val="18212B"/>
                </a:solidFill>
              </a:rPr>
              <a:t>PR #1 · Run 39933280765</a:t>
            </a:r>
          </a:p>
        </p:txBody>
      </p:sp>
      <p:sp>
        <p:nvSpPr>
          <p:cNvPr id="8" name="action-proof-list">
            <a:extLst xmlns:a="http://schemas.openxmlformats.org/drawingml/2006/main">
              <a:ext uri="{FF2B5EF4-FFF2-40B4-BE49-F238E27FC236}">
                <a16:creationId xmlns:a16="http://schemas.microsoft.com/office/drawing/2014/main" id="{1FCDE4FB-8384-45AE-8C2D-F5BE6AE3C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24150"/>
            <a:ext cx="571500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8212B"/>
                </a:solidFill>
              </a:defRPr>
            </a:pPr>
            <a:r>
              <a:rPr sz="1425">
                <a:solidFill>
                  <a:srgbClr val="18212B"/>
                </a:solidFill>
              </a:rPr>
              <a:t>• 行级 warning 精确定位 train.py:10</a:t>
            </a:r>
          </a:p>
          <a:p xmlns:a="http://schemas.openxmlformats.org/drawingml/2006/main">
            <a:pPr>
              <a:defRPr sz="1425">
                <a:solidFill>
                  <a:srgbClr val="18212B"/>
                </a:solidFill>
              </a:defRPr>
            </a:pPr>
            <a:r>
              <a:rPr sz="1425">
                <a:solidFill>
                  <a:srgbClr val="18212B"/>
                </a:solidFill>
              </a:rPr>
              <a:t>• Job Summary 展示风险摘要</a:t>
            </a:r>
          </a:p>
          <a:p xmlns:a="http://schemas.openxmlformats.org/drawingml/2006/main">
            <a:pPr>
              <a:defRPr sz="1425">
                <a:solidFill>
                  <a:srgbClr val="18212B"/>
                </a:solidFill>
              </a:defRPr>
            </a:pPr>
            <a:r>
              <a:rPr sz="1425">
                <a:solidFill>
                  <a:srgbClr val="18212B"/>
                </a:solidFill>
              </a:rPr>
              <a:t>• 同一条 PR 评论被更新，避免重复刷屏</a:t>
            </a:r>
          </a:p>
          <a:p xmlns:a="http://schemas.openxmlformats.org/drawingml/2006/main">
            <a:pPr>
              <a:defRPr sz="1425">
                <a:solidFill>
                  <a:srgbClr val="18212B"/>
                </a:solidFill>
              </a:defRPr>
            </a:pPr>
            <a:r>
              <a:rPr sz="1425">
                <a:solidFill>
                  <a:srgbClr val="18212B"/>
                </a:solidFill>
              </a:rPr>
              <a:t>• JSON / Markdown artifact 上传成功</a:t>
            </a:r>
          </a:p>
        </p:txBody>
      </p:sp>
      <p:sp>
        <p:nvSpPr>
          <p:cNvPr id="9" name="action-boundary-bg">
            <a:extLst xmlns:a="http://schemas.openxmlformats.org/drawingml/2006/main">
              <a:ext uri="{FF2B5EF4-FFF2-40B4-BE49-F238E27FC236}">
                <a16:creationId xmlns:a16="http://schemas.microsoft.com/office/drawing/2014/main" id="{46FCE9E2-F006-48E3-8DE0-E8410EBC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5715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ED8"/>
          </a:solidFill>
          <a:ln xmlns:a="http://schemas.openxmlformats.org/drawingml/2006/main" w="0">
            <a:solidFill>
              <a:srgbClr val="F1DED8"/>
            </a:solidFill>
            <a:prstDash val="solid"/>
          </a:ln>
        </p:spPr>
      </p:sp>
      <p:sp>
        <p:nvSpPr>
          <p:cNvPr id="10" name="action-boundary">
            <a:extLst xmlns:a="http://schemas.openxmlformats.org/drawingml/2006/main">
              <a:ext uri="{FF2B5EF4-FFF2-40B4-BE49-F238E27FC236}">
                <a16:creationId xmlns:a16="http://schemas.microsoft.com/office/drawing/2014/main" id="{9B425BAF-3213-4761-93E0-4B655295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43500"/>
            <a:ext cx="523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3543F"/>
                </a:solidFill>
              </a:defRPr>
            </a:pPr>
            <a:r>
              <a:rPr sz="1275" b="1">
                <a:solidFill>
                  <a:srgbClr val="D3543F"/>
                </a:solidFill>
              </a:rPr>
              <a:t>已完成 uses: ./ 同仓库验收与公开仓库 @v1 跨仓库验证。</a:t>
            </a:r>
          </a:p>
        </p:txBody>
      </p:sp>
    </p:spTree>
    <p:extLst>
      <p:ext uri="{BB962C8B-B14F-4D97-AF65-F5344CB8AC3E}">
        <p14:creationId xmlns:p14="http://schemas.microsoft.com/office/powerpoint/2010/main" val="18230131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icker-7">
            <a:extLst xmlns:a="http://schemas.openxmlformats.org/drawingml/2006/main">
              <a:ext uri="{FF2B5EF4-FFF2-40B4-BE49-F238E27FC236}">
                <a16:creationId xmlns:a16="http://schemas.microsoft.com/office/drawing/2014/main" id="{51B58B98-2EC6-4427-B96D-3B92D177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3543F"/>
                </a:solidFill>
              </a:defRPr>
            </a:pPr>
            <a:r>
              <a:rPr sz="1050" b="1">
                <a:solidFill>
                  <a:srgbClr val="D3543F"/>
                </a:solidFill>
              </a:rPr>
              <a:t>可验证效果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0758E86D-7C47-48AD-AA49-9D8A8490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12B"/>
                </a:solidFill>
              </a:defRPr>
            </a:pPr>
            <a:r>
              <a:rPr sz="2550" b="1">
                <a:solidFill>
                  <a:srgbClr val="18212B"/>
                </a:solidFill>
              </a:rPr>
              <a:t>效果验证同时保留通过、人工评测和边界说明</a:t>
            </a:r>
          </a:p>
        </p:txBody>
      </p:sp>
      <p:sp>
        <p:nvSpPr>
          <p:cNvPr id="3" name="rule-7">
            <a:extLst xmlns:a="http://schemas.openxmlformats.org/drawingml/2006/main">
              <a:ext uri="{FF2B5EF4-FFF2-40B4-BE49-F238E27FC236}">
                <a16:creationId xmlns:a16="http://schemas.microsoft.com/office/drawing/2014/main" id="{6B2C4634-F4E8-4E92-90D6-E2043664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0C8"/>
          </a:solidFill>
          <a:ln xmlns:a="http://schemas.openxmlformats.org/drawingml/2006/main" w="0">
            <a:solidFill>
              <a:srgbClr val="D4D0C8"/>
            </a:solidFill>
            <a:prstDash val="solid"/>
          </a:ln>
        </p:spPr>
      </p:sp>
      <p:sp>
        <p:nvSpPr>
          <p:cNvPr id="4" name="page-7">
            <a:extLst xmlns:a="http://schemas.openxmlformats.org/drawingml/2006/main">
              <a:ext uri="{FF2B5EF4-FFF2-40B4-BE49-F238E27FC236}">
                <a16:creationId xmlns:a16="http://schemas.microsoft.com/office/drawing/2014/main" id="{5442678F-94DA-4D4D-9485-AC89FA97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86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C6670"/>
                </a:solidFill>
              </a:defRPr>
            </a:pPr>
            <a:r>
              <a:rPr sz="975" b="1">
                <a:solidFill>
                  <a:srgbClr val="5C6670"/>
                </a:solidFill>
              </a:rPr>
              <a:t>07</a:t>
            </a:r>
          </a:p>
        </p:txBody>
      </p:sp>
      <p:sp>
        <p:nvSpPr>
          <p:cNvPr id="5" name="项自动化测试全部通过-value">
            <a:extLst xmlns:a="http://schemas.openxmlformats.org/drawingml/2006/main">
              <a:ext uri="{FF2B5EF4-FFF2-40B4-BE49-F238E27FC236}">
                <a16:creationId xmlns:a16="http://schemas.microsoft.com/office/drawing/2014/main" id="{B08328D5-F38B-4A10-B7F8-7E70EC90B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47900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D3543F"/>
                </a:solidFill>
              </a:defRPr>
            </a:pPr>
            <a:r>
              <a:rPr sz="4350" b="1">
                <a:solidFill>
                  <a:srgbClr val="D3543F"/>
                </a:solidFill>
              </a:rPr>
              <a:t>154</a:t>
            </a:r>
          </a:p>
        </p:txBody>
      </p:sp>
      <p:sp>
        <p:nvSpPr>
          <p:cNvPr id="6" name="项自动化测试全部通过-label">
            <a:extLst xmlns:a="http://schemas.openxmlformats.org/drawingml/2006/main">
              <a:ext uri="{FF2B5EF4-FFF2-40B4-BE49-F238E27FC236}">
                <a16:creationId xmlns:a16="http://schemas.microsoft.com/office/drawing/2014/main" id="{3A107B25-6A1A-41FB-B71E-2B2818985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C6670"/>
                </a:solidFill>
              </a:defRPr>
            </a:pPr>
            <a:r>
              <a:rPr sz="1275">
                <a:solidFill>
                  <a:srgbClr val="5C6670"/>
                </a:solidFill>
              </a:rPr>
              <a:t>项自动化测试全部通过</a:t>
            </a:r>
          </a:p>
        </p:txBody>
      </p:sp>
      <p:sp>
        <p:nvSpPr>
          <p:cNvPr id="7" name="条核心规则完成逐条人工评测-value">
            <a:extLst xmlns:a="http://schemas.openxmlformats.org/drawingml/2006/main">
              <a:ext uri="{FF2B5EF4-FFF2-40B4-BE49-F238E27FC236}">
                <a16:creationId xmlns:a16="http://schemas.microsoft.com/office/drawing/2014/main" id="{B858E5F3-4136-4F86-B799-FCE99292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4790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2F5D7C"/>
                </a:solidFill>
              </a:defRPr>
            </a:pPr>
            <a:r>
              <a:rPr sz="4350" b="1">
                <a:solidFill>
                  <a:srgbClr val="2F5D7C"/>
                </a:solidFill>
              </a:rPr>
              <a:t>6</a:t>
            </a:r>
          </a:p>
        </p:txBody>
      </p:sp>
      <p:sp>
        <p:nvSpPr>
          <p:cNvPr id="8" name="条核心规则完成逐条人工评测-label">
            <a:extLst xmlns:a="http://schemas.openxmlformats.org/drawingml/2006/main">
              <a:ext uri="{FF2B5EF4-FFF2-40B4-BE49-F238E27FC236}">
                <a16:creationId xmlns:a16="http://schemas.microsoft.com/office/drawing/2014/main" id="{1D63278C-C285-4BA5-8524-BFC2F6105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527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C6670"/>
                </a:solidFill>
              </a:defRPr>
            </a:pPr>
            <a:r>
              <a:rPr sz="1275">
                <a:solidFill>
                  <a:srgbClr val="5C6670"/>
                </a:solidFill>
              </a:rPr>
              <a:t>条核心规则完成逐条人工评测</a:t>
            </a:r>
          </a:p>
        </p:txBody>
      </p:sp>
      <p:sp>
        <p:nvSpPr>
          <p:cNvPr id="9" name="次 DeepSeek 真实调用并人工复核-value">
            <a:extLst xmlns:a="http://schemas.openxmlformats.org/drawingml/2006/main">
              <a:ext uri="{FF2B5EF4-FFF2-40B4-BE49-F238E27FC236}">
                <a16:creationId xmlns:a16="http://schemas.microsoft.com/office/drawing/2014/main" id="{DEAD1A6B-E7A2-4D26-A509-91CF5B8D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47900"/>
            <a:ext cx="323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2F7D6B"/>
                </a:solidFill>
              </a:defRPr>
            </a:pPr>
            <a:r>
              <a:rPr sz="4350" b="1">
                <a:solidFill>
                  <a:srgbClr val="2F7D6B"/>
                </a:solidFill>
              </a:rPr>
              <a:t>1</a:t>
            </a:r>
          </a:p>
        </p:txBody>
      </p:sp>
      <p:sp>
        <p:nvSpPr>
          <p:cNvPr id="10" name="次 DeepSeek 真实调用并人工复核-label">
            <a:extLst xmlns:a="http://schemas.openxmlformats.org/drawingml/2006/main">
              <a:ext uri="{FF2B5EF4-FFF2-40B4-BE49-F238E27FC236}">
                <a16:creationId xmlns:a16="http://schemas.microsoft.com/office/drawing/2014/main" id="{C2079F95-205F-4032-9462-C789167D8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527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C6670"/>
                </a:solidFill>
              </a:defRPr>
            </a:pPr>
            <a:r>
              <a:rPr sz="1275">
                <a:solidFill>
                  <a:srgbClr val="5C6670"/>
                </a:solidFill>
              </a:rPr>
              <a:t>次 DeepSeek 真实调用并人工复核</a:t>
            </a:r>
          </a:p>
        </p:txBody>
      </p:sp>
      <p:sp>
        <p:nvSpPr>
          <p:cNvPr id="11" name="eval-rule">
            <a:extLst xmlns:a="http://schemas.openxmlformats.org/drawingml/2006/main">
              <a:ext uri="{FF2B5EF4-FFF2-40B4-BE49-F238E27FC236}">
                <a16:creationId xmlns:a16="http://schemas.microsoft.com/office/drawing/2014/main" id="{1F4053CC-E8E1-4A62-8235-660C312D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2910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0C8"/>
          </a:solidFill>
          <a:ln xmlns:a="http://schemas.openxmlformats.org/drawingml/2006/main" w="0">
            <a:solidFill>
              <a:srgbClr val="D4D0C8"/>
            </a:solidFill>
            <a:prstDash val="solid"/>
          </a:ln>
        </p:spPr>
      </p:sp>
      <p:sp>
        <p:nvSpPr>
          <p:cNvPr id="12" name="eval-boundary-title">
            <a:extLst xmlns:a="http://schemas.openxmlformats.org/drawingml/2006/main">
              <a:ext uri="{FF2B5EF4-FFF2-40B4-BE49-F238E27FC236}">
                <a16:creationId xmlns:a16="http://schemas.microsoft.com/office/drawing/2014/main" id="{EDF99AED-5EB0-4C14-AA75-D753066DA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212B"/>
                </a:solidFill>
              </a:defRPr>
            </a:pPr>
            <a:r>
              <a:rPr sz="1650" b="1">
                <a:solidFill>
                  <a:srgbClr val="18212B"/>
                </a:solidFill>
              </a:rPr>
              <a:t>必须如实说明的边界</a:t>
            </a:r>
          </a:p>
        </p:txBody>
      </p:sp>
      <p:sp>
        <p:nvSpPr>
          <p:cNvPr id="13" name="eval-boundary">
            <a:extLst xmlns:a="http://schemas.openxmlformats.org/drawingml/2006/main">
              <a:ext uri="{FF2B5EF4-FFF2-40B4-BE49-F238E27FC236}">
                <a16:creationId xmlns:a16="http://schemas.microsoft.com/office/drawing/2014/main" id="{76AA5F88-6024-4358-97D2-D90C0D3F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495800"/>
            <a:ext cx="6667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C6670"/>
                </a:solidFill>
              </a:defRPr>
            </a:pPr>
            <a:r>
              <a:rPr sz="1350">
                <a:solidFill>
                  <a:srgbClr val="5C6670"/>
                </a:solidFill>
              </a:rPr>
              <a:t>• 6/6 是当前样本的正类复测，不等于整体准确率 100%。</a:t>
            </a:r>
          </a:p>
          <a:p xmlns:a="http://schemas.openxmlformats.org/drawingml/2006/main">
            <a:pPr>
              <a:defRPr sz="1350">
                <a:solidFill>
                  <a:srgbClr val="5C6670"/>
                </a:solidFill>
              </a:defRPr>
            </a:pPr>
            <a:r>
              <a:rPr sz="1350">
                <a:solidFill>
                  <a:srgbClr val="5C6670"/>
                </a:solidFill>
              </a:rPr>
              <a:t>• 未声称覆盖所有论文、语言或实验类型。</a:t>
            </a:r>
          </a:p>
          <a:p xmlns:a="http://schemas.openxmlformats.org/drawingml/2006/main">
            <a:pPr>
              <a:defRPr sz="1350">
                <a:solidFill>
                  <a:srgbClr val="5C6670"/>
                </a:solidFill>
              </a:defRPr>
            </a:pPr>
            <a:r>
              <a:rPr sz="1350">
                <a:solidFill>
                  <a:srgbClr val="5C6670"/>
                </a:solidFill>
              </a:rPr>
              <a:t>• 模型输出、跨学科语义和最终风险都需要人工确认。</a:t>
            </a:r>
          </a:p>
        </p:txBody>
      </p:sp>
    </p:spTree>
    <p:extLst>
      <p:ext uri="{BB962C8B-B14F-4D97-AF65-F5344CB8AC3E}">
        <p14:creationId xmlns:p14="http://schemas.microsoft.com/office/powerpoint/2010/main" val="17522373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kicker-8">
            <a:extLst xmlns:a="http://schemas.openxmlformats.org/drawingml/2006/main">
              <a:ext uri="{FF2B5EF4-FFF2-40B4-BE49-F238E27FC236}">
                <a16:creationId xmlns:a16="http://schemas.microsoft.com/office/drawing/2014/main" id="{1FBB1289-F6F8-4BE8-8EB5-3E0D3F17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3543F"/>
                </a:solidFill>
              </a:defRPr>
            </a:pPr>
            <a:r>
              <a:rPr sz="1050" b="1">
                <a:solidFill>
                  <a:srgbClr val="D3543F"/>
                </a:solidFill>
              </a:rPr>
              <a:t>差异化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CDBE6948-9CA7-43C2-B3E6-2D0B71D6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12B"/>
                </a:solidFill>
              </a:defRPr>
            </a:pPr>
            <a:r>
              <a:rPr sz="2550" b="1">
                <a:solidFill>
                  <a:srgbClr val="18212B"/>
                </a:solidFill>
              </a:rPr>
              <a:t>现有工具查代码，ReproGuard 查代码与研究约束之间的断点</a:t>
            </a:r>
          </a:p>
        </p:txBody>
      </p:sp>
      <p:sp>
        <p:nvSpPr>
          <p:cNvPr id="3" name="rule-8">
            <a:extLst xmlns:a="http://schemas.openxmlformats.org/drawingml/2006/main">
              <a:ext uri="{FF2B5EF4-FFF2-40B4-BE49-F238E27FC236}">
                <a16:creationId xmlns:a16="http://schemas.microsoft.com/office/drawing/2014/main" id="{A51AC5A2-36E3-4BC9-A9C7-796BD05D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0C8"/>
          </a:solidFill>
          <a:ln xmlns:a="http://schemas.openxmlformats.org/drawingml/2006/main" w="0">
            <a:solidFill>
              <a:srgbClr val="D4D0C8"/>
            </a:solidFill>
            <a:prstDash val="solid"/>
          </a:ln>
        </p:spPr>
      </p:sp>
      <p:sp>
        <p:nvSpPr>
          <p:cNvPr id="4" name="page-8">
            <a:extLst xmlns:a="http://schemas.openxmlformats.org/drawingml/2006/main">
              <a:ext uri="{FF2B5EF4-FFF2-40B4-BE49-F238E27FC236}">
                <a16:creationId xmlns:a16="http://schemas.microsoft.com/office/drawing/2014/main" id="{C7054B2A-6710-4542-B74F-C5CC41EF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86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C6670"/>
                </a:solidFill>
              </a:defRPr>
            </a:pPr>
            <a:r>
              <a:rPr sz="975" b="1">
                <a:solidFill>
                  <a:srgbClr val="5C6670"/>
                </a:solidFill>
              </a:rPr>
              <a:t>08</a:t>
            </a:r>
          </a:p>
        </p:txBody>
      </p:sp>
      <p:sp>
        <p:nvSpPr>
          <p:cNvPr id="5" name="compare-head">
            <a:extLst xmlns:a="http://schemas.openxmlformats.org/drawingml/2006/main">
              <a:ext uri="{FF2B5EF4-FFF2-40B4-BE49-F238E27FC236}">
                <a16:creationId xmlns:a16="http://schemas.microsoft.com/office/drawing/2014/main" id="{1CB2FB36-F764-4F7F-A227-09BB0EA80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1076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6" name="compare-head-0">
            <a:extLst xmlns:a="http://schemas.openxmlformats.org/drawingml/2006/main">
              <a:ext uri="{FF2B5EF4-FFF2-40B4-BE49-F238E27FC236}">
                <a16:creationId xmlns:a16="http://schemas.microsoft.com/office/drawing/2014/main" id="{EACD0671-F4F5-4130-A43B-2899BF73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57400"/>
            <a:ext cx="24860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能力点</a:t>
            </a:r>
          </a:p>
        </p:txBody>
      </p:sp>
      <p:sp>
        <p:nvSpPr>
          <p:cNvPr id="7" name="compare-head-1">
            <a:extLst xmlns:a="http://schemas.openxmlformats.org/drawingml/2006/main">
              <a:ext uri="{FF2B5EF4-FFF2-40B4-BE49-F238E27FC236}">
                <a16:creationId xmlns:a16="http://schemas.microsoft.com/office/drawing/2014/main" id="{4ED79F5B-CFBF-487E-90A2-15A64A3B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057400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GitHub Review</a:t>
            </a:r>
          </a:p>
        </p:txBody>
      </p:sp>
      <p:sp>
        <p:nvSpPr>
          <p:cNvPr id="8" name="compare-head-2">
            <a:extLst xmlns:a="http://schemas.openxmlformats.org/drawingml/2006/main">
              <a:ext uri="{FF2B5EF4-FFF2-40B4-BE49-F238E27FC236}">
                <a16:creationId xmlns:a16="http://schemas.microsoft.com/office/drawing/2014/main" id="{2D6B9A8F-14F0-43CE-B48F-C71AA01A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057400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Dependabot</a:t>
            </a:r>
          </a:p>
        </p:txBody>
      </p:sp>
      <p:sp>
        <p:nvSpPr>
          <p:cNvPr id="9" name="compare-head-3">
            <a:extLst xmlns:a="http://schemas.openxmlformats.org/drawingml/2006/main">
              <a:ext uri="{FF2B5EF4-FFF2-40B4-BE49-F238E27FC236}">
                <a16:creationId xmlns:a16="http://schemas.microsoft.com/office/drawing/2014/main" id="{5C25AFFE-9F48-4719-B09B-9AE4C137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057400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CodeQL</a:t>
            </a:r>
          </a:p>
        </p:txBody>
      </p:sp>
      <p:sp>
        <p:nvSpPr>
          <p:cNvPr id="10" name="compare-head-4">
            <a:extLst xmlns:a="http://schemas.openxmlformats.org/drawingml/2006/main">
              <a:ext uri="{FF2B5EF4-FFF2-40B4-BE49-F238E27FC236}">
                <a16:creationId xmlns:a16="http://schemas.microsoft.com/office/drawing/2014/main" id="{DFA2E3FB-962E-4AC8-ADC6-A2BEB829D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057400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ReproGuard</a:t>
            </a:r>
          </a:p>
        </p:txBody>
      </p:sp>
      <p:sp>
        <p:nvSpPr>
          <p:cNvPr id="11" name="compare-row-0">
            <a:extLst xmlns:a="http://schemas.openxmlformats.org/drawingml/2006/main">
              <a:ext uri="{FF2B5EF4-FFF2-40B4-BE49-F238E27FC236}">
                <a16:creationId xmlns:a16="http://schemas.microsoft.com/office/drawing/2014/main" id="{3039600D-B22C-4165-A3A0-79DBD93C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38400"/>
            <a:ext cx="1076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0C8"/>
            </a:solidFill>
            <a:prstDash val="solid"/>
          </a:ln>
        </p:spPr>
      </p:sp>
      <p:sp>
        <p:nvSpPr>
          <p:cNvPr id="12" name="compare-0-0">
            <a:extLst xmlns:a="http://schemas.openxmlformats.org/drawingml/2006/main">
              <a:ext uri="{FF2B5EF4-FFF2-40B4-BE49-F238E27FC236}">
                <a16:creationId xmlns:a16="http://schemas.microsoft.com/office/drawing/2014/main" id="{39E2521E-003E-4F66-BB72-D37AA068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0325"/>
            <a:ext cx="24860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</a:defRPr>
            </a:pPr>
            <a:r>
              <a:rPr sz="1275" b="0">
                <a:solidFill>
                  <a:srgbClr val="18212B"/>
                </a:solidFill>
              </a:rPr>
              <a:t>语法 / 风格</a:t>
            </a:r>
          </a:p>
        </p:txBody>
      </p:sp>
      <p:sp>
        <p:nvSpPr>
          <p:cNvPr id="13" name="compare-0-1">
            <a:extLst xmlns:a="http://schemas.openxmlformats.org/drawingml/2006/main">
              <a:ext uri="{FF2B5EF4-FFF2-40B4-BE49-F238E27FC236}">
                <a16:creationId xmlns:a16="http://schemas.microsoft.com/office/drawing/2014/main" id="{73C2D40D-8D94-4A3F-A74D-D93343BC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600325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8212B"/>
                </a:solidFill>
              </a:defRPr>
            </a:pPr>
            <a:r>
              <a:rPr sz="1575" b="0">
                <a:solidFill>
                  <a:srgbClr val="18212B"/>
                </a:solidFill>
              </a:rPr>
              <a:t>✓</a:t>
            </a:r>
          </a:p>
        </p:txBody>
      </p:sp>
      <p:sp>
        <p:nvSpPr>
          <p:cNvPr id="14" name="compare-0-2">
            <a:extLst xmlns:a="http://schemas.openxmlformats.org/drawingml/2006/main">
              <a:ext uri="{FF2B5EF4-FFF2-40B4-BE49-F238E27FC236}">
                <a16:creationId xmlns:a16="http://schemas.microsoft.com/office/drawing/2014/main" id="{EA378B8B-1C86-4814-BCC3-27E42C25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600325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8212B"/>
                </a:solidFill>
              </a:defRPr>
            </a:pPr>
            <a:r>
              <a:rPr sz="1575" b="0">
                <a:solidFill>
                  <a:srgbClr val="18212B"/>
                </a:solidFill>
              </a:rPr>
              <a:t>—</a:t>
            </a:r>
          </a:p>
        </p:txBody>
      </p:sp>
      <p:sp>
        <p:nvSpPr>
          <p:cNvPr id="15" name="compare-0-3">
            <a:extLst xmlns:a="http://schemas.openxmlformats.org/drawingml/2006/main">
              <a:ext uri="{FF2B5EF4-FFF2-40B4-BE49-F238E27FC236}">
                <a16:creationId xmlns:a16="http://schemas.microsoft.com/office/drawing/2014/main" id="{FDB189B2-6CD3-4F4E-AA89-174BD229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600325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8212B"/>
                </a:solidFill>
              </a:defRPr>
            </a:pPr>
            <a:r>
              <a:rPr sz="1575" b="0">
                <a:solidFill>
                  <a:srgbClr val="18212B"/>
                </a:solidFill>
              </a:rPr>
              <a:t>—</a:t>
            </a:r>
          </a:p>
        </p:txBody>
      </p:sp>
      <p:sp>
        <p:nvSpPr>
          <p:cNvPr id="16" name="compare-0-4">
            <a:extLst xmlns:a="http://schemas.openxmlformats.org/drawingml/2006/main">
              <a:ext uri="{FF2B5EF4-FFF2-40B4-BE49-F238E27FC236}">
                <a16:creationId xmlns:a16="http://schemas.microsoft.com/office/drawing/2014/main" id="{A057E914-CEB8-4467-A056-6BF27C4CF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600325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D3543F"/>
                </a:solidFill>
              </a:defRPr>
            </a:pPr>
            <a:r>
              <a:rPr sz="1575" b="1">
                <a:solidFill>
                  <a:srgbClr val="D3543F"/>
                </a:solidFill>
              </a:rPr>
              <a:t>—</a:t>
            </a:r>
          </a:p>
        </p:txBody>
      </p:sp>
      <p:sp>
        <p:nvSpPr>
          <p:cNvPr id="17" name="compare-row-1">
            <a:extLst xmlns:a="http://schemas.openxmlformats.org/drawingml/2006/main">
              <a:ext uri="{FF2B5EF4-FFF2-40B4-BE49-F238E27FC236}">
                <a16:creationId xmlns:a16="http://schemas.microsoft.com/office/drawing/2014/main" id="{D8061156-AA9E-4DD0-A661-CBD71A59F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1076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5DE"/>
          </a:solidFill>
          <a:ln xmlns:a="http://schemas.openxmlformats.org/drawingml/2006/main" w="9525">
            <a:solidFill>
              <a:srgbClr val="D4D0C8"/>
            </a:solidFill>
            <a:prstDash val="solid"/>
          </a:ln>
        </p:spPr>
      </p:sp>
      <p:sp>
        <p:nvSpPr>
          <p:cNvPr id="18" name="compare-1-0">
            <a:extLst xmlns:a="http://schemas.openxmlformats.org/drawingml/2006/main">
              <a:ext uri="{FF2B5EF4-FFF2-40B4-BE49-F238E27FC236}">
                <a16:creationId xmlns:a16="http://schemas.microsoft.com/office/drawing/2014/main" id="{656FDAAE-3BE1-4961-B712-5EABECEC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71825"/>
            <a:ext cx="24860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</a:defRPr>
            </a:pPr>
            <a:r>
              <a:rPr sz="1275" b="0">
                <a:solidFill>
                  <a:srgbClr val="18212B"/>
                </a:solidFill>
              </a:rPr>
              <a:t>依赖漏洞</a:t>
            </a:r>
          </a:p>
        </p:txBody>
      </p:sp>
      <p:sp>
        <p:nvSpPr>
          <p:cNvPr id="19" name="compare-1-1">
            <a:extLst xmlns:a="http://schemas.openxmlformats.org/drawingml/2006/main">
              <a:ext uri="{FF2B5EF4-FFF2-40B4-BE49-F238E27FC236}">
                <a16:creationId xmlns:a16="http://schemas.microsoft.com/office/drawing/2014/main" id="{762C5F63-61F8-4435-B572-7DD10B5B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171825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8212B"/>
                </a:solidFill>
              </a:defRPr>
            </a:pPr>
            <a:r>
              <a:rPr sz="1575" b="0">
                <a:solidFill>
                  <a:srgbClr val="18212B"/>
                </a:solidFill>
              </a:rPr>
              <a:t>—</a:t>
            </a:r>
          </a:p>
        </p:txBody>
      </p:sp>
      <p:sp>
        <p:nvSpPr>
          <p:cNvPr id="20" name="compare-1-2">
            <a:extLst xmlns:a="http://schemas.openxmlformats.org/drawingml/2006/main">
              <a:ext uri="{FF2B5EF4-FFF2-40B4-BE49-F238E27FC236}">
                <a16:creationId xmlns:a16="http://schemas.microsoft.com/office/drawing/2014/main" id="{A4A7B22B-0AEF-4756-8C68-6E57F4CF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171825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8212B"/>
                </a:solidFill>
              </a:defRPr>
            </a:pPr>
            <a:r>
              <a:rPr sz="1575" b="0">
                <a:solidFill>
                  <a:srgbClr val="18212B"/>
                </a:solidFill>
              </a:rPr>
              <a:t>✓</a:t>
            </a:r>
          </a:p>
        </p:txBody>
      </p:sp>
      <p:sp>
        <p:nvSpPr>
          <p:cNvPr id="21" name="compare-1-3">
            <a:extLst xmlns:a="http://schemas.openxmlformats.org/drawingml/2006/main">
              <a:ext uri="{FF2B5EF4-FFF2-40B4-BE49-F238E27FC236}">
                <a16:creationId xmlns:a16="http://schemas.microsoft.com/office/drawing/2014/main" id="{0E06DF14-F05C-4A25-B556-381A7ECE8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171825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8212B"/>
                </a:solidFill>
              </a:defRPr>
            </a:pPr>
            <a:r>
              <a:rPr sz="1575" b="0">
                <a:solidFill>
                  <a:srgbClr val="18212B"/>
                </a:solidFill>
              </a:rPr>
              <a:t>—</a:t>
            </a:r>
          </a:p>
        </p:txBody>
      </p:sp>
      <p:sp>
        <p:nvSpPr>
          <p:cNvPr id="22" name="compare-1-4">
            <a:extLst xmlns:a="http://schemas.openxmlformats.org/drawingml/2006/main">
              <a:ext uri="{FF2B5EF4-FFF2-40B4-BE49-F238E27FC236}">
                <a16:creationId xmlns:a16="http://schemas.microsoft.com/office/drawing/2014/main" id="{35FCB513-8AB3-4DA4-8809-28CEC3EE1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171825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D3543F"/>
                </a:solidFill>
              </a:defRPr>
            </a:pPr>
            <a:r>
              <a:rPr sz="1575" b="1">
                <a:solidFill>
                  <a:srgbClr val="D3543F"/>
                </a:solidFill>
              </a:rPr>
              <a:t>—</a:t>
            </a:r>
          </a:p>
        </p:txBody>
      </p:sp>
      <p:sp>
        <p:nvSpPr>
          <p:cNvPr id="23" name="compare-row-2">
            <a:extLst xmlns:a="http://schemas.openxmlformats.org/drawingml/2006/main">
              <a:ext uri="{FF2B5EF4-FFF2-40B4-BE49-F238E27FC236}">
                <a16:creationId xmlns:a16="http://schemas.microsoft.com/office/drawing/2014/main" id="{FBE2AC4D-93D2-42AB-A9C5-50504A8F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1076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0C8"/>
            </a:solidFill>
            <a:prstDash val="solid"/>
          </a:ln>
        </p:spPr>
      </p:sp>
      <p:sp>
        <p:nvSpPr>
          <p:cNvPr id="24" name="compare-2-0">
            <a:extLst xmlns:a="http://schemas.openxmlformats.org/drawingml/2006/main">
              <a:ext uri="{FF2B5EF4-FFF2-40B4-BE49-F238E27FC236}">
                <a16:creationId xmlns:a16="http://schemas.microsoft.com/office/drawing/2014/main" id="{B3319301-7EC1-4DED-9C16-7E90260DA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43325"/>
            <a:ext cx="24860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</a:defRPr>
            </a:pPr>
            <a:r>
              <a:rPr sz="1275" b="0">
                <a:solidFill>
                  <a:srgbClr val="18212B"/>
                </a:solidFill>
              </a:rPr>
              <a:t>安全语义</a:t>
            </a:r>
          </a:p>
        </p:txBody>
      </p:sp>
      <p:sp>
        <p:nvSpPr>
          <p:cNvPr id="25" name="compare-2-1">
            <a:extLst xmlns:a="http://schemas.openxmlformats.org/drawingml/2006/main">
              <a:ext uri="{FF2B5EF4-FFF2-40B4-BE49-F238E27FC236}">
                <a16:creationId xmlns:a16="http://schemas.microsoft.com/office/drawing/2014/main" id="{FD22CAD1-1399-4D30-A4C5-A9100182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743325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8212B"/>
                </a:solidFill>
              </a:defRPr>
            </a:pPr>
            <a:r>
              <a:rPr sz="1575" b="0">
                <a:solidFill>
                  <a:srgbClr val="18212B"/>
                </a:solidFill>
              </a:rPr>
              <a:t>—</a:t>
            </a:r>
          </a:p>
        </p:txBody>
      </p:sp>
      <p:sp>
        <p:nvSpPr>
          <p:cNvPr id="26" name="compare-2-2">
            <a:extLst xmlns:a="http://schemas.openxmlformats.org/drawingml/2006/main">
              <a:ext uri="{FF2B5EF4-FFF2-40B4-BE49-F238E27FC236}">
                <a16:creationId xmlns:a16="http://schemas.microsoft.com/office/drawing/2014/main" id="{F5FE9F8B-9B5F-4ACE-A3E2-4FA7B8C15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743325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8212B"/>
                </a:solidFill>
              </a:defRPr>
            </a:pPr>
            <a:r>
              <a:rPr sz="1575" b="0">
                <a:solidFill>
                  <a:srgbClr val="18212B"/>
                </a:solidFill>
              </a:rPr>
              <a:t>—</a:t>
            </a:r>
          </a:p>
        </p:txBody>
      </p:sp>
      <p:sp>
        <p:nvSpPr>
          <p:cNvPr id="27" name="compare-2-3">
            <a:extLst xmlns:a="http://schemas.openxmlformats.org/drawingml/2006/main">
              <a:ext uri="{FF2B5EF4-FFF2-40B4-BE49-F238E27FC236}">
                <a16:creationId xmlns:a16="http://schemas.microsoft.com/office/drawing/2014/main" id="{249B989A-85DB-4106-BA8A-10AF7D99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743325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8212B"/>
                </a:solidFill>
              </a:defRPr>
            </a:pPr>
            <a:r>
              <a:rPr sz="1575" b="0">
                <a:solidFill>
                  <a:srgbClr val="18212B"/>
                </a:solidFill>
              </a:rPr>
              <a:t>✓</a:t>
            </a:r>
          </a:p>
        </p:txBody>
      </p:sp>
      <p:sp>
        <p:nvSpPr>
          <p:cNvPr id="28" name="compare-2-4">
            <a:extLst xmlns:a="http://schemas.openxmlformats.org/drawingml/2006/main">
              <a:ext uri="{FF2B5EF4-FFF2-40B4-BE49-F238E27FC236}">
                <a16:creationId xmlns:a16="http://schemas.microsoft.com/office/drawing/2014/main" id="{020279BD-B88B-411C-B887-1C2F7A19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743325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D3543F"/>
                </a:solidFill>
              </a:defRPr>
            </a:pPr>
            <a:r>
              <a:rPr sz="1575" b="1">
                <a:solidFill>
                  <a:srgbClr val="D3543F"/>
                </a:solidFill>
              </a:rPr>
              <a:t>—</a:t>
            </a:r>
          </a:p>
        </p:txBody>
      </p:sp>
      <p:sp>
        <p:nvSpPr>
          <p:cNvPr id="29" name="compare-row-3">
            <a:extLst xmlns:a="http://schemas.openxmlformats.org/drawingml/2006/main">
              <a:ext uri="{FF2B5EF4-FFF2-40B4-BE49-F238E27FC236}">
                <a16:creationId xmlns:a16="http://schemas.microsoft.com/office/drawing/2014/main" id="{37C7A471-0599-4D00-8C3D-6841D4EF3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52900"/>
            <a:ext cx="1076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5DE"/>
          </a:solidFill>
          <a:ln xmlns:a="http://schemas.openxmlformats.org/drawingml/2006/main" w="9525">
            <a:solidFill>
              <a:srgbClr val="D4D0C8"/>
            </a:solidFill>
            <a:prstDash val="solid"/>
          </a:ln>
        </p:spPr>
      </p:sp>
      <p:sp>
        <p:nvSpPr>
          <p:cNvPr id="30" name="compare-3-0">
            <a:extLst xmlns:a="http://schemas.openxmlformats.org/drawingml/2006/main">
              <a:ext uri="{FF2B5EF4-FFF2-40B4-BE49-F238E27FC236}">
                <a16:creationId xmlns:a16="http://schemas.microsoft.com/office/drawing/2014/main" id="{2DF9FD37-657C-4BEE-A074-D2C5BE36F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14825"/>
            <a:ext cx="24860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</a:defRPr>
            </a:pPr>
            <a:r>
              <a:rPr sz="1275" b="0">
                <a:solidFill>
                  <a:srgbClr val="18212B"/>
                </a:solidFill>
              </a:rPr>
              <a:t>实验参数漂移</a:t>
            </a:r>
          </a:p>
        </p:txBody>
      </p:sp>
      <p:sp>
        <p:nvSpPr>
          <p:cNvPr id="31" name="compare-3-1">
            <a:extLst xmlns:a="http://schemas.openxmlformats.org/drawingml/2006/main">
              <a:ext uri="{FF2B5EF4-FFF2-40B4-BE49-F238E27FC236}">
                <a16:creationId xmlns:a16="http://schemas.microsoft.com/office/drawing/2014/main" id="{7113BE46-1DE0-4A24-9500-98230B37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314825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8212B"/>
                </a:solidFill>
              </a:defRPr>
            </a:pPr>
            <a:r>
              <a:rPr sz="1575" b="0">
                <a:solidFill>
                  <a:srgbClr val="18212B"/>
                </a:solidFill>
              </a:rPr>
              <a:t>—</a:t>
            </a:r>
          </a:p>
        </p:txBody>
      </p:sp>
      <p:sp>
        <p:nvSpPr>
          <p:cNvPr id="32" name="compare-3-2">
            <a:extLst xmlns:a="http://schemas.openxmlformats.org/drawingml/2006/main">
              <a:ext uri="{FF2B5EF4-FFF2-40B4-BE49-F238E27FC236}">
                <a16:creationId xmlns:a16="http://schemas.microsoft.com/office/drawing/2014/main" id="{DF75CC2A-81F7-45BB-8741-BCB92BE84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314825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8212B"/>
                </a:solidFill>
              </a:defRPr>
            </a:pPr>
            <a:r>
              <a:rPr sz="1575" b="0">
                <a:solidFill>
                  <a:srgbClr val="18212B"/>
                </a:solidFill>
              </a:rPr>
              <a:t>—</a:t>
            </a:r>
          </a:p>
        </p:txBody>
      </p:sp>
      <p:sp>
        <p:nvSpPr>
          <p:cNvPr id="33" name="compare-3-3">
            <a:extLst xmlns:a="http://schemas.openxmlformats.org/drawingml/2006/main">
              <a:ext uri="{FF2B5EF4-FFF2-40B4-BE49-F238E27FC236}">
                <a16:creationId xmlns:a16="http://schemas.microsoft.com/office/drawing/2014/main" id="{B7A8B7D3-2565-43D4-AE9D-28EAD28E4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314825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8212B"/>
                </a:solidFill>
              </a:defRPr>
            </a:pPr>
            <a:r>
              <a:rPr sz="1575" b="0">
                <a:solidFill>
                  <a:srgbClr val="18212B"/>
                </a:solidFill>
              </a:rPr>
              <a:t>—</a:t>
            </a:r>
          </a:p>
        </p:txBody>
      </p:sp>
      <p:sp>
        <p:nvSpPr>
          <p:cNvPr id="34" name="compare-3-4">
            <a:extLst xmlns:a="http://schemas.openxmlformats.org/drawingml/2006/main">
              <a:ext uri="{FF2B5EF4-FFF2-40B4-BE49-F238E27FC236}">
                <a16:creationId xmlns:a16="http://schemas.microsoft.com/office/drawing/2014/main" id="{CF732761-C73D-4551-8BB1-0A6FB5C3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314825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D3543F"/>
                </a:solidFill>
              </a:defRPr>
            </a:pPr>
            <a:r>
              <a:rPr sz="1575" b="1">
                <a:solidFill>
                  <a:srgbClr val="D3543F"/>
                </a:solidFill>
              </a:rPr>
              <a:t>✓</a:t>
            </a:r>
          </a:p>
        </p:txBody>
      </p:sp>
      <p:sp>
        <p:nvSpPr>
          <p:cNvPr id="35" name="compare-row-4">
            <a:extLst xmlns:a="http://schemas.openxmlformats.org/drawingml/2006/main">
              <a:ext uri="{FF2B5EF4-FFF2-40B4-BE49-F238E27FC236}">
                <a16:creationId xmlns:a16="http://schemas.microsoft.com/office/drawing/2014/main" id="{6F69721B-4311-4CE2-945B-B8124F28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24400"/>
            <a:ext cx="1076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0C8"/>
            </a:solidFill>
            <a:prstDash val="solid"/>
          </a:ln>
        </p:spPr>
      </p:sp>
      <p:sp>
        <p:nvSpPr>
          <p:cNvPr id="36" name="compare-4-0">
            <a:extLst xmlns:a="http://schemas.openxmlformats.org/drawingml/2006/main">
              <a:ext uri="{FF2B5EF4-FFF2-40B4-BE49-F238E27FC236}">
                <a16:creationId xmlns:a16="http://schemas.microsoft.com/office/drawing/2014/main" id="{85C8E1C6-644B-43EF-B2E4-7DE7606B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86325"/>
            <a:ext cx="24860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</a:defRPr>
            </a:pPr>
            <a:r>
              <a:rPr sz="1275" b="0">
                <a:solidFill>
                  <a:srgbClr val="18212B"/>
                </a:solidFill>
              </a:rPr>
              <a:t>论文 / 协议对齐</a:t>
            </a:r>
          </a:p>
        </p:txBody>
      </p:sp>
      <p:sp>
        <p:nvSpPr>
          <p:cNvPr id="37" name="compare-4-1">
            <a:extLst xmlns:a="http://schemas.openxmlformats.org/drawingml/2006/main">
              <a:ext uri="{FF2B5EF4-FFF2-40B4-BE49-F238E27FC236}">
                <a16:creationId xmlns:a16="http://schemas.microsoft.com/office/drawing/2014/main" id="{7F8FC10F-0765-4D02-8174-3C49FF15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886325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8212B"/>
                </a:solidFill>
              </a:defRPr>
            </a:pPr>
            <a:r>
              <a:rPr sz="1575" b="0">
                <a:solidFill>
                  <a:srgbClr val="18212B"/>
                </a:solidFill>
              </a:rPr>
              <a:t>—</a:t>
            </a:r>
          </a:p>
        </p:txBody>
      </p:sp>
      <p:sp>
        <p:nvSpPr>
          <p:cNvPr id="38" name="compare-4-2">
            <a:extLst xmlns:a="http://schemas.openxmlformats.org/drawingml/2006/main">
              <a:ext uri="{FF2B5EF4-FFF2-40B4-BE49-F238E27FC236}">
                <a16:creationId xmlns:a16="http://schemas.microsoft.com/office/drawing/2014/main" id="{646B4A0A-A4E3-42A8-ABCE-3DEBE5A57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886325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8212B"/>
                </a:solidFill>
              </a:defRPr>
            </a:pPr>
            <a:r>
              <a:rPr sz="1575" b="0">
                <a:solidFill>
                  <a:srgbClr val="18212B"/>
                </a:solidFill>
              </a:rPr>
              <a:t>—</a:t>
            </a:r>
          </a:p>
        </p:txBody>
      </p:sp>
      <p:sp>
        <p:nvSpPr>
          <p:cNvPr id="39" name="compare-4-3">
            <a:extLst xmlns:a="http://schemas.openxmlformats.org/drawingml/2006/main">
              <a:ext uri="{FF2B5EF4-FFF2-40B4-BE49-F238E27FC236}">
                <a16:creationId xmlns:a16="http://schemas.microsoft.com/office/drawing/2014/main" id="{05F8EB46-4016-4AFF-9A81-DDBDCFD4A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886325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8212B"/>
                </a:solidFill>
              </a:defRPr>
            </a:pPr>
            <a:r>
              <a:rPr sz="1575" b="0">
                <a:solidFill>
                  <a:srgbClr val="18212B"/>
                </a:solidFill>
              </a:rPr>
              <a:t>—</a:t>
            </a:r>
          </a:p>
        </p:txBody>
      </p:sp>
      <p:sp>
        <p:nvSpPr>
          <p:cNvPr id="40" name="compare-4-4">
            <a:extLst xmlns:a="http://schemas.openxmlformats.org/drawingml/2006/main">
              <a:ext uri="{FF2B5EF4-FFF2-40B4-BE49-F238E27FC236}">
                <a16:creationId xmlns:a16="http://schemas.microsoft.com/office/drawing/2014/main" id="{AFB0BAEB-8B84-429A-BA68-8602C1C8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886325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D3543F"/>
                </a:solidFill>
              </a:defRPr>
            </a:pPr>
            <a:r>
              <a:rPr sz="1575" b="1">
                <a:solidFill>
                  <a:srgbClr val="D3543F"/>
                </a:solidFill>
              </a:rPr>
              <a:t>✓</a:t>
            </a:r>
          </a:p>
        </p:txBody>
      </p:sp>
      <p:sp>
        <p:nvSpPr>
          <p:cNvPr id="41" name="compare-takeaway-bg">
            <a:extLst xmlns:a="http://schemas.openxmlformats.org/drawingml/2006/main">
              <a:ext uri="{FF2B5EF4-FFF2-40B4-BE49-F238E27FC236}">
                <a16:creationId xmlns:a16="http://schemas.microsoft.com/office/drawing/2014/main" id="{051E0383-B5C8-4975-AB12-C27525B1F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1019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F0"/>
          </a:solidFill>
          <a:ln xmlns:a="http://schemas.openxmlformats.org/drawingml/2006/main" w="0">
            <a:solidFill>
              <a:srgbClr val="DFEAF0"/>
            </a:solidFill>
            <a:prstDash val="solid"/>
          </a:ln>
        </p:spPr>
      </p:sp>
      <p:sp>
        <p:nvSpPr>
          <p:cNvPr id="42" name="compare-takeaway">
            <a:extLst xmlns:a="http://schemas.openxmlformats.org/drawingml/2006/main">
              <a:ext uri="{FF2B5EF4-FFF2-40B4-BE49-F238E27FC236}">
                <a16:creationId xmlns:a16="http://schemas.microsoft.com/office/drawing/2014/main" id="{F7503380-D23F-47DF-AD20-848E50B2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959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F5D7C"/>
                </a:solidFill>
              </a:defRPr>
            </a:pPr>
            <a:r>
              <a:rPr sz="1425" b="1">
                <a:solidFill>
                  <a:srgbClr val="2F5D7C"/>
                </a:solidFill>
              </a:rPr>
              <a:t>核心空白：把“科研复现条件”作为 PR 审查的一等对象。</a:t>
            </a:r>
          </a:p>
        </p:txBody>
      </p:sp>
    </p:spTree>
    <p:extLst>
      <p:ext uri="{BB962C8B-B14F-4D97-AF65-F5344CB8AC3E}">
        <p14:creationId xmlns:p14="http://schemas.microsoft.com/office/powerpoint/2010/main" val="11417230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-9">
            <a:extLst xmlns:a="http://schemas.openxmlformats.org/drawingml/2006/main">
              <a:ext uri="{FF2B5EF4-FFF2-40B4-BE49-F238E27FC236}">
                <a16:creationId xmlns:a16="http://schemas.microsoft.com/office/drawing/2014/main" id="{F2137537-5ABA-475F-A9E5-0EC6FFAE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3543F"/>
                </a:solidFill>
              </a:defRPr>
            </a:pPr>
            <a:r>
              <a:rPr sz="1050" b="1">
                <a:solidFill>
                  <a:srgbClr val="D3543F"/>
                </a:solidFill>
              </a:rPr>
              <a:t>AI 与开源融合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96888E7D-B61B-439F-A07D-35ADEE29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12B"/>
                </a:solidFill>
              </a:defRPr>
            </a:pPr>
            <a:r>
              <a:rPr sz="2550" b="1">
                <a:solidFill>
                  <a:srgbClr val="18212B"/>
                </a:solidFill>
              </a:rPr>
              <a:t>AI 只负责受约束的语义补充，规则与开放工作流负责可复核</a:t>
            </a:r>
          </a:p>
        </p:txBody>
      </p:sp>
      <p:sp>
        <p:nvSpPr>
          <p:cNvPr id="3" name="rule-9">
            <a:extLst xmlns:a="http://schemas.openxmlformats.org/drawingml/2006/main">
              <a:ext uri="{FF2B5EF4-FFF2-40B4-BE49-F238E27FC236}">
                <a16:creationId xmlns:a16="http://schemas.microsoft.com/office/drawing/2014/main" id="{369E29F6-EDCB-4017-BB75-2E477C43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0C8"/>
          </a:solidFill>
          <a:ln xmlns:a="http://schemas.openxmlformats.org/drawingml/2006/main" w="0">
            <a:solidFill>
              <a:srgbClr val="D4D0C8"/>
            </a:solidFill>
            <a:prstDash val="solid"/>
          </a:ln>
        </p:spPr>
      </p:sp>
      <p:sp>
        <p:nvSpPr>
          <p:cNvPr id="4" name="page-9">
            <a:extLst xmlns:a="http://schemas.openxmlformats.org/drawingml/2006/main">
              <a:ext uri="{FF2B5EF4-FFF2-40B4-BE49-F238E27FC236}">
                <a16:creationId xmlns:a16="http://schemas.microsoft.com/office/drawing/2014/main" id="{A0961328-4BA6-43DD-A953-AE19819F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86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C6670"/>
                </a:solidFill>
              </a:defRPr>
            </a:pPr>
            <a:r>
              <a:rPr sz="975" b="1">
                <a:solidFill>
                  <a:srgbClr val="5C6670"/>
                </a:solidFill>
              </a:rPr>
              <a:t>09</a:t>
            </a:r>
          </a:p>
        </p:txBody>
      </p:sp>
      <p:sp>
        <p:nvSpPr>
          <p:cNvPr id="5" name="ai-left-bg">
            <a:extLst xmlns:a="http://schemas.openxmlformats.org/drawingml/2006/main">
              <a:ext uri="{FF2B5EF4-FFF2-40B4-BE49-F238E27FC236}">
                <a16:creationId xmlns:a16="http://schemas.microsoft.com/office/drawing/2014/main" id="{9DF58FB9-62E3-4147-B08B-062A72BD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457200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0C8"/>
            </a:solidFill>
            <a:prstDash val="solid"/>
          </a:ln>
        </p:spPr>
      </p:sp>
      <p:sp>
        <p:nvSpPr>
          <p:cNvPr id="6" name="ai-right-bg">
            <a:extLst xmlns:a="http://schemas.openxmlformats.org/drawingml/2006/main">
              <a:ext uri="{FF2B5EF4-FFF2-40B4-BE49-F238E27FC236}">
                <a16:creationId xmlns:a16="http://schemas.microsoft.com/office/drawing/2014/main" id="{336C2B4D-35A5-44E3-AB88-FF23E613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95500"/>
            <a:ext cx="457200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F0"/>
          </a:solidFill>
          <a:ln xmlns:a="http://schemas.openxmlformats.org/drawingml/2006/main" w="0">
            <a:solidFill>
              <a:srgbClr val="DFEAF0"/>
            </a:solidFill>
            <a:prstDash val="solid"/>
          </a:ln>
        </p:spPr>
      </p:sp>
      <p:sp>
        <p:nvSpPr>
          <p:cNvPr id="7" name="ai-left-title">
            <a:extLst xmlns:a="http://schemas.openxmlformats.org/drawingml/2006/main">
              <a:ext uri="{FF2B5EF4-FFF2-40B4-BE49-F238E27FC236}">
                <a16:creationId xmlns:a16="http://schemas.microsoft.com/office/drawing/2014/main" id="{C80A0705-1D67-4A7A-B8E0-071552FA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8125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D3543F"/>
                </a:solidFill>
              </a:defRPr>
            </a:pPr>
            <a:r>
              <a:rPr sz="1950" b="1">
                <a:solidFill>
                  <a:srgbClr val="D3543F"/>
                </a:solidFill>
              </a:rPr>
              <a:t>确定性层</a:t>
            </a:r>
          </a:p>
        </p:txBody>
      </p:sp>
      <p:sp>
        <p:nvSpPr>
          <p:cNvPr id="8" name="ai-left">
            <a:extLst xmlns:a="http://schemas.openxmlformats.org/drawingml/2006/main">
              <a:ext uri="{FF2B5EF4-FFF2-40B4-BE49-F238E27FC236}">
                <a16:creationId xmlns:a16="http://schemas.microsoft.com/office/drawing/2014/main" id="{8C8ED991-6C18-48C0-A1EE-EBCACF73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48000"/>
            <a:ext cx="38100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8212B"/>
                </a:solidFill>
              </a:defRPr>
            </a:pPr>
            <a:r>
              <a:rPr sz="1350">
                <a:solidFill>
                  <a:srgbClr val="18212B"/>
                </a:solidFill>
              </a:rPr>
              <a:t>• 参数、随机性、依赖、数据处理、评价流程</a:t>
            </a:r>
          </a:p>
          <a:p xmlns:a="http://schemas.openxmlformats.org/drawingml/2006/main">
            <a:pPr>
              <a:defRPr sz="1350">
                <a:solidFill>
                  <a:srgbClr val="18212B"/>
                </a:solidFill>
              </a:defRPr>
            </a:pPr>
            <a:r>
              <a:rPr sz="1350">
                <a:solidFill>
                  <a:srgbClr val="18212B"/>
                </a:solidFill>
              </a:rPr>
              <a:t>• 规则可独立运行，不依赖模型</a:t>
            </a:r>
          </a:p>
          <a:p xmlns:a="http://schemas.openxmlformats.org/drawingml/2006/main">
            <a:pPr>
              <a:defRPr sz="1350">
                <a:solidFill>
                  <a:srgbClr val="18212B"/>
                </a:solidFill>
              </a:defRPr>
            </a:pPr>
            <a:r>
              <a:rPr sz="1350">
                <a:solidFill>
                  <a:srgbClr val="18212B"/>
                </a:solidFill>
              </a:rPr>
              <a:t>• 输出可重复，结论不可被模型覆盖</a:t>
            </a:r>
          </a:p>
        </p:txBody>
      </p:sp>
      <p:sp>
        <p:nvSpPr>
          <p:cNvPr id="9" name="ai-right-title">
            <a:extLst xmlns:a="http://schemas.openxmlformats.org/drawingml/2006/main">
              <a:ext uri="{FF2B5EF4-FFF2-40B4-BE49-F238E27FC236}">
                <a16:creationId xmlns:a16="http://schemas.microsoft.com/office/drawing/2014/main" id="{26ED0250-5693-4D22-A1CA-7D1BC0B01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38125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F5D7C"/>
                </a:solidFill>
              </a:defRPr>
            </a:pPr>
            <a:r>
              <a:rPr sz="1950" b="1">
                <a:solidFill>
                  <a:srgbClr val="2F5D7C"/>
                </a:solidFill>
              </a:rPr>
              <a:t>AI 语义层</a:t>
            </a:r>
          </a:p>
        </p:txBody>
      </p:sp>
      <p:sp>
        <p:nvSpPr>
          <p:cNvPr id="10" name="ai-right">
            <a:extLst xmlns:a="http://schemas.openxmlformats.org/drawingml/2006/main">
              <a:ext uri="{FF2B5EF4-FFF2-40B4-BE49-F238E27FC236}">
                <a16:creationId xmlns:a16="http://schemas.microsoft.com/office/drawing/2014/main" id="{13703AB5-70F2-4CBF-A4A6-DC7AD2DC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48000"/>
            <a:ext cx="38100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8212B"/>
                </a:solidFill>
              </a:defRPr>
            </a:pPr>
            <a:r>
              <a:rPr sz="1350">
                <a:solidFill>
                  <a:srgbClr val="18212B"/>
                </a:solidFill>
              </a:rPr>
              <a:t>• 解释非结构化步骤和同义概念</a:t>
            </a:r>
          </a:p>
          <a:p xmlns:a="http://schemas.openxmlformats.org/drawingml/2006/main">
            <a:pPr>
              <a:defRPr sz="1350">
                <a:solidFill>
                  <a:srgbClr val="18212B"/>
                </a:solidFill>
              </a:defRPr>
            </a:pPr>
            <a:r>
              <a:rPr sz="1350">
                <a:solidFill>
                  <a:srgbClr val="18212B"/>
                </a:solidFill>
              </a:rPr>
              <a:t>• 只允许引用 D### / P### 来源</a:t>
            </a:r>
          </a:p>
          <a:p xmlns:a="http://schemas.openxmlformats.org/drawingml/2006/main">
            <a:pPr>
              <a:defRPr sz="1350">
                <a:solidFill>
                  <a:srgbClr val="18212B"/>
                </a:solidFill>
              </a:defRPr>
            </a:pPr>
            <a:r>
              <a:rPr sz="1350">
                <a:solidFill>
                  <a:srgbClr val="18212B"/>
                </a:solidFill>
              </a:rPr>
              <a:t>• 输出默认 needs_review</a:t>
            </a:r>
          </a:p>
        </p:txBody>
      </p:sp>
      <p:sp>
        <p:nvSpPr>
          <p:cNvPr id="11" name="ai-proof">
            <a:extLst xmlns:a="http://schemas.openxmlformats.org/drawingml/2006/main">
              <a:ext uri="{FF2B5EF4-FFF2-40B4-BE49-F238E27FC236}">
                <a16:creationId xmlns:a16="http://schemas.microsoft.com/office/drawing/2014/main" id="{C6429ADA-4BD1-4A03-9600-51FE005C3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245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D6B"/>
                </a:solidFill>
              </a:defRPr>
            </a:pPr>
            <a:r>
              <a:rPr sz="1500" b="1">
                <a:solidFill>
                  <a:srgbClr val="2F7D6B"/>
                </a:solidFill>
              </a:rPr>
              <a:t>开源载体：Composite Action · CLI · 网页原型 · Schema · 评测脚本</a:t>
            </a:r>
          </a:p>
        </p:txBody>
      </p:sp>
    </p:spTree>
    <p:extLst>
      <p:ext uri="{BB962C8B-B14F-4D97-AF65-F5344CB8AC3E}">
        <p14:creationId xmlns:p14="http://schemas.microsoft.com/office/powerpoint/2010/main" val="11472590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821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8320D7F8-12B0-471C-9E49-E5AE145A2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1DED8"/>
                </a:solidFill>
              </a:defRPr>
            </a:pPr>
            <a:r>
              <a:rPr sz="1275" b="1">
                <a:solidFill>
                  <a:srgbClr val="F1DED8"/>
                </a:solidFill>
              </a:rPr>
              <a:t>REPROGUARD</a:t>
            </a:r>
          </a:p>
        </p:txBody>
      </p:sp>
      <p:sp>
        <p:nvSpPr>
          <p:cNvPr id="2" name="close-main">
            <a:extLst xmlns:a="http://schemas.openxmlformats.org/drawingml/2006/main">
              <a:ext uri="{FF2B5EF4-FFF2-40B4-BE49-F238E27FC236}">
                <a16:creationId xmlns:a16="http://schemas.microsoft.com/office/drawing/2014/main" id="{0FC5113D-1562-4976-A163-22E9FFDB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9334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让关键变化更早被看见，</a:t>
            </a:r>
          </a:p>
          <a:p xmlns:a="http://schemas.openxmlformats.org/drawingml/2006/main">
            <a:pPr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让每个判断都有证据。</a:t>
            </a:r>
          </a:p>
        </p:txBody>
      </p:sp>
      <p:sp>
        <p:nvSpPr>
          <p:cNvPr id="3" name="close-rule">
            <a:extLst xmlns:a="http://schemas.openxmlformats.org/drawingml/2006/main">
              <a:ext uri="{FF2B5EF4-FFF2-40B4-BE49-F238E27FC236}">
                <a16:creationId xmlns:a16="http://schemas.microsoft.com/office/drawing/2014/main" id="{824E90CF-F0E1-437F-92CB-6EB122A92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6667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543F"/>
          </a:solidFill>
          <a:ln xmlns:a="http://schemas.openxmlformats.org/drawingml/2006/main" w="0">
            <a:solidFill>
              <a:srgbClr val="D3543F"/>
            </a:solidFill>
            <a:prstDash val="solid"/>
          </a:ln>
        </p:spPr>
      </p:sp>
      <p:sp>
        <p:nvSpPr>
          <p:cNvPr id="4" name="close-status">
            <a:extLst xmlns:a="http://schemas.openxmlformats.org/drawingml/2006/main">
              <a:ext uri="{FF2B5EF4-FFF2-40B4-BE49-F238E27FC236}">
                <a16:creationId xmlns:a16="http://schemas.microsoft.com/office/drawing/2014/main" id="{A9BC851B-425C-497F-BC4C-B852DAAC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148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9E5DE"/>
                </a:solidFill>
              </a:defRPr>
            </a:pPr>
            <a:r>
              <a:rPr sz="1425">
                <a:solidFill>
                  <a:srgbClr val="E9E5DE"/>
                </a:solidFill>
              </a:rPr>
              <a:t>已完成：真实 PR 回放 · DeepSeek 真实调用 · 154 项测试 · @v1 跨仓库 Action 验证</a:t>
            </a:r>
          </a:p>
        </p:txBody>
      </p:sp>
      <p:sp>
        <p:nvSpPr>
          <p:cNvPr id="5" name="close-next">
            <a:extLst xmlns:a="http://schemas.openxmlformats.org/drawingml/2006/main">
              <a:ext uri="{FF2B5EF4-FFF2-40B4-BE49-F238E27FC236}">
                <a16:creationId xmlns:a16="http://schemas.microsoft.com/office/drawing/2014/main" id="{B69A0081-B716-4BA9-836D-0D962DF13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C6670"/>
                </a:solidFill>
              </a:defRPr>
            </a:pPr>
            <a:r>
              <a:rPr sz="1275">
                <a:solidFill>
                  <a:srgbClr val="5C6670"/>
                </a:solidFill>
              </a:rPr>
              <a:t>提交前人工确认：团队信息 · 最终 PPT/PDF · 演示视频 · 成果链接与开放范围</a:t>
            </a:r>
          </a:p>
        </p:txBody>
      </p:sp>
      <p:sp>
        <p:nvSpPr>
          <p:cNvPr id="6" name="close-accent">
            <a:extLst xmlns:a="http://schemas.openxmlformats.org/drawingml/2006/main">
              <a:ext uri="{FF2B5EF4-FFF2-40B4-BE49-F238E27FC236}">
                <a16:creationId xmlns:a16="http://schemas.microsoft.com/office/drawing/2014/main" id="{A80867D0-98F4-4D1F-9018-EED830AC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7700"/>
            <a:ext cx="8763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543F"/>
          </a:solidFill>
          <a:ln xmlns:a="http://schemas.openxmlformats.org/drawingml/2006/main" w="0">
            <a:solidFill>
              <a:srgbClr val="D3543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618578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2026-10-27T04:52:17.3110000Z</dcterms:created>
  <dcterms:modified xsi:type="dcterms:W3CDTF">2026-10-27T04:52:17.3110000Z</dcterms:modified>
</coreProperties>
</file>