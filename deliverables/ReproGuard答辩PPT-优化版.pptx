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aaea7ec24842c9" /><Relationship Type="http://schemas.openxmlformats.org/officeDocument/2006/relationships/extended-properties" Target="/docProps/app.xml" Id="R2bd266774b3a4872" /><Relationship Type="http://schemas.openxmlformats.org/officeDocument/2006/relationships/officeDocument" Target="/ppt/presentation.xml" Id="R3f9554aac9e848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d762a2f2f243de"/>
  </p:sldMasterIdLst>
  <p:notesMasterIdLst>
    <p:notesMasterId xmlns:r="http://schemas.openxmlformats.org/officeDocument/2006/relationships" r:id="R5fc2a0050ca245a9"/>
  </p:notesMasterIdLst>
  <p:sldIdLst>
    <p:sldId xmlns:r="http://schemas.openxmlformats.org/officeDocument/2006/relationships" id="256" r:id="R0599d92ed6264031"/>
    <p:sldId xmlns:r="http://schemas.openxmlformats.org/officeDocument/2006/relationships" id="257" r:id="R2dbaa90894984157"/>
    <p:sldId xmlns:r="http://schemas.openxmlformats.org/officeDocument/2006/relationships" id="258" r:id="R89acf828698b483a"/>
    <p:sldId xmlns:r="http://schemas.openxmlformats.org/officeDocument/2006/relationships" id="259" r:id="Rb24b7d086a174d20"/>
    <p:sldId xmlns:r="http://schemas.openxmlformats.org/officeDocument/2006/relationships" id="260" r:id="R1d9e688e567f476b"/>
    <p:sldId xmlns:r="http://schemas.openxmlformats.org/officeDocument/2006/relationships" id="261" r:id="Rca8918a8a1b24fd8"/>
    <p:sldId xmlns:r="http://schemas.openxmlformats.org/officeDocument/2006/relationships" id="262" r:id="R7a0082a4c763426f"/>
    <p:sldId xmlns:r="http://schemas.openxmlformats.org/officeDocument/2006/relationships" id="263" r:id="R56ba62777cee4dfc"/>
    <p:sldId xmlns:r="http://schemas.openxmlformats.org/officeDocument/2006/relationships" id="264" r:id="R0fd00e3038e84178"/>
    <p:sldId xmlns:r="http://schemas.openxmlformats.org/officeDocument/2006/relationships" id="265" r:id="Rd35b8d8fc3c947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10cd0fc44049e5" /><Relationship Type="http://schemas.openxmlformats.org/officeDocument/2006/relationships/slideMaster" Target="/ppt/slideMasters/slideMaster1.xml" Id="Rb8d762a2f2f243de" /><Relationship Type="http://schemas.openxmlformats.org/officeDocument/2006/relationships/notesMaster" Target="/ppt/notesMasters/notesMaster1.xml" Id="R5fc2a0050ca245a9" /><Relationship Type="http://schemas.openxmlformats.org/officeDocument/2006/relationships/presProps" Target="/ppt/presProps.xml" Id="R5eb79f9e5a9a48bf" /><Relationship Type="http://schemas.openxmlformats.org/officeDocument/2006/relationships/tableStyles" Target="/ppt/tableStyles.xml" Id="R936e85aedadb4099" /><Relationship Type="http://schemas.openxmlformats.org/officeDocument/2006/relationships/slide" Target="/ppt/slides/slide1.xml" Id="R0599d92ed6264031" /><Relationship Type="http://schemas.openxmlformats.org/officeDocument/2006/relationships/slide" Target="/ppt/slides/slide2.xml" Id="R2dbaa90894984157" /><Relationship Type="http://schemas.openxmlformats.org/officeDocument/2006/relationships/slide" Target="/ppt/slides/slide3.xml" Id="R89acf828698b483a" /><Relationship Type="http://schemas.openxmlformats.org/officeDocument/2006/relationships/slide" Target="/ppt/slides/slide4.xml" Id="Rb24b7d086a174d20" /><Relationship Type="http://schemas.openxmlformats.org/officeDocument/2006/relationships/slide" Target="/ppt/slides/slide5.xml" Id="R1d9e688e567f476b" /><Relationship Type="http://schemas.openxmlformats.org/officeDocument/2006/relationships/slide" Target="/ppt/slides/slide6.xml" Id="Rca8918a8a1b24fd8" /><Relationship Type="http://schemas.openxmlformats.org/officeDocument/2006/relationships/slide" Target="/ppt/slides/slide7.xml" Id="R7a0082a4c763426f" /><Relationship Type="http://schemas.openxmlformats.org/officeDocument/2006/relationships/slide" Target="/ppt/slides/slide8.xml" Id="R56ba62777cee4dfc" /><Relationship Type="http://schemas.openxmlformats.org/officeDocument/2006/relationships/slide" Target="/ppt/slides/slide9.xml" Id="R0fd00e3038e84178" /><Relationship Type="http://schemas.openxmlformats.org/officeDocument/2006/relationships/slide" Target="/ppt/slides/slide10.xml" Id="Rd35b8d8fc3c947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7037506bc243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213a81dc614d54" /><Relationship Type="http://schemas.openxmlformats.org/officeDocument/2006/relationships/notesMaster" Target="/ppt/notesMasters/notesMaster1.xml" Id="Re97ba2c2c5f041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95930f9e774d2b" /><Relationship Type="http://schemas.openxmlformats.org/officeDocument/2006/relationships/notesMaster" Target="/ppt/notesMasters/notesMaster1.xml" Id="Rfb37814503d04c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1a0f1635894357" /><Relationship Type="http://schemas.openxmlformats.org/officeDocument/2006/relationships/notesMaster" Target="/ppt/notesMasters/notesMaster1.xml" Id="Rf4672ebfc36c4b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08b3d7e4ec45da" /><Relationship Type="http://schemas.openxmlformats.org/officeDocument/2006/relationships/notesMaster" Target="/ppt/notesMasters/notesMaster1.xml" Id="R2a9d3760f8544c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eb93a5c09f406b" /><Relationship Type="http://schemas.openxmlformats.org/officeDocument/2006/relationships/notesMaster" Target="/ppt/notesMasters/notesMaster1.xml" Id="Rb9d1bca4b3894c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b19e4a71a6490b" /><Relationship Type="http://schemas.openxmlformats.org/officeDocument/2006/relationships/notesMaster" Target="/ppt/notesMasters/notesMaster1.xml" Id="Rdc757cf9bb5447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af415dfb1a4149" /><Relationship Type="http://schemas.openxmlformats.org/officeDocument/2006/relationships/notesMaster" Target="/ppt/notesMasters/notesMaster1.xml" Id="R7f4c5c3a600442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b379d5bf49405f" /><Relationship Type="http://schemas.openxmlformats.org/officeDocument/2006/relationships/notesMaster" Target="/ppt/notesMasters/notesMaster1.xml" Id="Rcf073b2708ed4f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5021e8eed84065" /><Relationship Type="http://schemas.openxmlformats.org/officeDocument/2006/relationships/notesMaster" Target="/ppt/notesMasters/notesMaster1.xml" Id="R4b2afa8142ab43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af66893a5649cb" /><Relationship Type="http://schemas.openxmlformats.org/officeDocument/2006/relationships/notesMaster" Target="/ppt/notesMasters/notesMaster1.xml" Id="R994169eb7b9940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项目定位与竞赛方向：docs/参赛作品信息.md；docs/技术报告初稿.md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问题定义：docs/技术报告初稿.md，第 1、3 节</a:t>
            </a:r>
          </a:p>
          <a:p xmlns:a="http://schemas.openxmlformats.org/drawingml/2006/main">
            <a:r>
              <a:t>GitHub Pull Request 审查范围：https://docs.github.com/en/pull-requests/collaborating-with-pull-requests/reviewing-changes-in-pull-requests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工作流与 AI 边界：docs/技术报告初稿.md，第 3、4 节</a:t>
            </a:r>
          </a:p>
          <a:p xmlns:a="http://schemas.openxmlformats.org/drawingml/2006/main">
            <a:r>
              <a:t>来源标识约束：README.md 与规则引擎实现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创新点与实现范围：docs/技术报告初稿.md，第 2—4 节</a:t>
            </a:r>
          </a:p>
          <a:p xmlns:a="http://schemas.openxmlformats.org/drawingml/2006/main">
            <a:r>
              <a:t>开放成果说明：docs/开源发布说明.md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历史 PR：https://github.com/milesial/Pytorch-UNet/pull/141</a:t>
            </a:r>
          </a:p>
          <a:p xmlns:a="http://schemas.openxmlformats.org/drawingml/2006/main">
            <a:r>
              <a:t>回放来源：data/cases/pytorch-unet-pr-141/source.md</a:t>
            </a:r>
          </a:p>
          <a:p xmlns:a="http://schemas.openxmlformats.org/drawingml/2006/main">
            <a:r>
              <a:t>人工复核：data/cases/pytorch-unet-pr-141/human-review.md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截图证据：公开仓库 Action 运行页面</a:t>
            </a:r>
          </a:p>
          <a:p xmlns:a="http://schemas.openxmlformats.org/drawingml/2006/main">
            <a:r>
              <a:t>验收记录：docs/在线Action验收记录.md</a:t>
            </a:r>
          </a:p>
          <a:p xmlns:a="http://schemas.openxmlformats.org/drawingml/2006/main">
            <a:r>
              <a:t>运行链接：https://github.com/hm10629/reproguard/actions/runs/39933280765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测试与评测：reports/evaluation.md、reports/evaluation-unet-pytorch.md</a:t>
            </a:r>
          </a:p>
          <a:p xmlns:a="http://schemas.openxmlformats.org/drawingml/2006/main">
            <a:r>
              <a:t>真实模型调用：reports/ai-real-call.md、docs/AI真实调用人工复核.md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对比矩阵：docs/竞品与差异化对比.md</a:t>
            </a:r>
          </a:p>
          <a:p xmlns:a="http://schemas.openxmlformats.org/drawingml/2006/main">
            <a:r>
              <a:t>GitHub Review：https://docs.github.com/en/pull-requests/collaborating-with-pull-requests/reviewing-changes-in-pull-requests</a:t>
            </a:r>
          </a:p>
          <a:p xmlns:a="http://schemas.openxmlformats.org/drawingml/2006/main">
            <a:r>
              <a:t>Dependabot：https://docs.github.com/en/code-security/dependabot</a:t>
            </a:r>
          </a:p>
          <a:p xmlns:a="http://schemas.openxmlformats.org/drawingml/2006/main">
            <a:r>
              <a:t>CodeQL：https://codeql.github.com/docs/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AI 边界与真实调用：reports/ai-real-call.md、docs/AI真实调用人工复核.md</a:t>
            </a:r>
          </a:p>
          <a:p xmlns:a="http://schemas.openxmlformats.org/drawingml/2006/main">
            <a:r>
              <a:t>开源资源清单：docs/开源及第三方资源使用清单.md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完成状态与人工待办：docs/发布检查清单.md</a:t>
            </a:r>
          </a:p>
          <a:p xmlns:a="http://schemas.openxmlformats.org/drawingml/2006/main">
            <a:r>
              <a:t>项目仓库（公开）：https://github.com/hm10629/reproguard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f1983fe47942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f0cf909ecb4a0d" /><Relationship Type="http://schemas.openxmlformats.org/officeDocument/2006/relationships/slideLayout" Target="/ppt/slideLayouts/slideLayout1.xml" Id="R831605c64d6142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1605c64d6142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3b424b5db4cc0" /><Relationship Type="http://schemas.openxmlformats.org/officeDocument/2006/relationships/notesSlide" Target="/ppt/notesSlides/notesSlide1.xml" Id="Rcf7a0fce33454c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4df57be9c4be6" /><Relationship Type="http://schemas.openxmlformats.org/officeDocument/2006/relationships/notesSlide" Target="/ppt/notesSlides/notesSlide2.xml" Id="R9a96a1fbc0a642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e1e918cc140c2" /><Relationship Type="http://schemas.openxmlformats.org/officeDocument/2006/relationships/notesSlide" Target="/ppt/notesSlides/notesSlide3.xml" Id="R7fc9d748d02b44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6680188614c1e" /><Relationship Type="http://schemas.openxmlformats.org/officeDocument/2006/relationships/notesSlide" Target="/ppt/notesSlides/notesSlide4.xml" Id="R340f1f64b1cf4d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3e104130543b7" /><Relationship Type="http://schemas.openxmlformats.org/officeDocument/2006/relationships/notesSlide" Target="/ppt/notesSlides/notesSlide5.xml" Id="R136437aa1cd44ab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06872346047a0" /><Relationship Type="http://schemas.openxmlformats.org/officeDocument/2006/relationships/image" Target="/ppt/media/image.jpeg" Id="Red5c216250e44ef7" /><Relationship Type="http://schemas.openxmlformats.org/officeDocument/2006/relationships/notesSlide" Target="/ppt/notesSlides/notesSlide6.xml" Id="R666ca59d3f4643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1b1d2a25f4f92" /><Relationship Type="http://schemas.openxmlformats.org/officeDocument/2006/relationships/notesSlide" Target="/ppt/notesSlides/notesSlide7.xml" Id="Reb406e2ce22842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d4605944f4d11" /><Relationship Type="http://schemas.openxmlformats.org/officeDocument/2006/relationships/notesSlide" Target="/ppt/notesSlides/notesSlide8.xml" Id="R7ae11733ee7744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941be2b4c40fc" /><Relationship Type="http://schemas.openxmlformats.org/officeDocument/2006/relationships/notesSlide" Target="/ppt/notesSlides/notesSlide9.xml" Id="R4b46c60d23d141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16846877d4b3a" /><Relationship Type="http://schemas.openxmlformats.org/officeDocument/2006/relationships/notesSlide" Target="/ppt/notesSlides/notesSlide10.xml" Id="R6cbb8eeb275a4a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71F8FF0D-74D8-45A2-A6E3-B0E1BD48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3543F"/>
                </a:solidFill>
              </a:defRPr>
            </a:pPr>
            <a:r>
              <a:rPr sz="1275" b="1">
                <a:solidFill>
                  <a:srgbClr val="D3543F"/>
                </a:solidFill>
              </a:rPr>
              <a:t>AI + 开源 · 科研协作工具</a:t>
            </a:r>
          </a:p>
        </p:txBody>
      </p:sp>
      <p:sp>
        <p:nvSpPr>
          <p:cNvPr id="2" name="title-main">
            <a:extLst xmlns:a="http://schemas.openxmlformats.org/drawingml/2006/main">
              <a:ext uri="{FF2B5EF4-FFF2-40B4-BE49-F238E27FC236}">
                <a16:creationId xmlns:a16="http://schemas.microsoft.com/office/drawing/2014/main" id="{D06368AF-C2A7-44EF-AA51-800A519E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810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ReproGuard</a:t>
            </a:r>
          </a:p>
          <a:p xmlns:a="http://schemas.openxmlformats.org/drawingml/2006/main">
            <a:pPr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复现守门人</a:t>
            </a:r>
          </a:p>
        </p:txBody>
      </p:sp>
      <p:sp>
        <p:nvSpPr>
          <p:cNvPr id="3" name="title-sub">
            <a:extLst xmlns:a="http://schemas.openxmlformats.org/drawingml/2006/main">
              <a:ext uri="{FF2B5EF4-FFF2-40B4-BE49-F238E27FC236}">
                <a16:creationId xmlns:a16="http://schemas.microsoft.com/office/drawing/2014/main" id="{415330D8-EB84-4AE9-9B2F-8A88207E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838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C6670"/>
                </a:solidFill>
              </a:defRPr>
            </a:pPr>
            <a:r>
              <a:rPr sz="1800">
                <a:solidFill>
                  <a:srgbClr val="5C6670"/>
                </a:solidFill>
              </a:rPr>
              <a:t>把论文与实验协议中的复现约束，带进 GitHub Pull Request</a:t>
            </a:r>
          </a:p>
        </p:txBody>
      </p:sp>
      <p:sp>
        <p:nvSpPr>
          <p:cNvPr id="4" name="title-team">
            <a:extLst xmlns:a="http://schemas.openxmlformats.org/drawingml/2006/main">
              <a:ext uri="{FF2B5EF4-FFF2-40B4-BE49-F238E27FC236}">
                <a16:creationId xmlns:a16="http://schemas.microsoft.com/office/drawing/2014/main" id="{5743942B-1BD0-4747-9B7B-1973B144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817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C6670"/>
                </a:solidFill>
              </a:defRPr>
            </a:pPr>
            <a:r>
              <a:rPr sz="1200">
                <a:solidFill>
                  <a:srgbClr val="5C6670"/>
                </a:solidFill>
              </a:rPr>
              <a:t>团队：启源者 · 学校：海南大学 · 指导教师：陈敏、迟阔</a:t>
            </a:r>
          </a:p>
        </p:txBody>
      </p:sp>
      <p:sp>
        <p:nvSpPr>
          <p:cNvPr id="5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8E81D09-8992-4320-8B5A-E734AE39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1619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6" name="title-side">
            <a:extLst xmlns:a="http://schemas.openxmlformats.org/drawingml/2006/main">
              <a:ext uri="{FF2B5EF4-FFF2-40B4-BE49-F238E27FC236}">
                <a16:creationId xmlns:a16="http://schemas.microsoft.com/office/drawing/2014/main" id="{02DA339C-4C4D-4F16-B58B-748FE62F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762125"/>
            <a:ext cx="1047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PR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→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证据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→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复核</a:t>
            </a:r>
          </a:p>
        </p:txBody>
      </p:sp>
    </p:spTree>
    <p:extLst>
      <p:ext uri="{BB962C8B-B14F-4D97-AF65-F5344CB8AC3E}">
        <p14:creationId xmlns:p14="http://schemas.microsoft.com/office/powerpoint/2010/main" val="9519200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kicker-2">
            <a:extLst xmlns:a="http://schemas.openxmlformats.org/drawingml/2006/main">
              <a:ext uri="{FF2B5EF4-FFF2-40B4-BE49-F238E27FC236}">
                <a16:creationId xmlns:a16="http://schemas.microsoft.com/office/drawing/2014/main" id="{577B1260-EDE3-4B37-B2C5-CDE9B0B5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问题与场景价值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FB3197FF-035B-4C5D-BB17-99347BC6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代码审查能看到改了什么，却看不到复现条件是否被改写</a:t>
            </a:r>
          </a:p>
        </p:txBody>
      </p:sp>
      <p:sp>
        <p:nvSpPr>
          <p:cNvPr id="3" name="rule-2">
            <a:extLst xmlns:a="http://schemas.openxmlformats.org/drawingml/2006/main">
              <a:ext uri="{FF2B5EF4-FFF2-40B4-BE49-F238E27FC236}">
                <a16:creationId xmlns:a16="http://schemas.microsoft.com/office/drawing/2014/main" id="{E096A11E-D98F-454F-9661-C641E1C5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F8A8570A-E138-4784-9373-9C77B7D7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02</a:t>
            </a:r>
          </a:p>
        </p:txBody>
      </p:sp>
      <p:sp>
        <p:nvSpPr>
          <p:cNvPr id="5" name="problem-left-label">
            <a:extLst xmlns:a="http://schemas.openxmlformats.org/drawingml/2006/main">
              <a:ext uri="{FF2B5EF4-FFF2-40B4-BE49-F238E27FC236}">
                <a16:creationId xmlns:a16="http://schemas.microsoft.com/office/drawing/2014/main" id="{088C0DB5-4DB0-4557-BB72-9DDB0EB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F5D7C"/>
                </a:solidFill>
              </a:defRPr>
            </a:pPr>
            <a:r>
              <a:rPr sz="1650" b="1">
                <a:solidFill>
                  <a:srgbClr val="2F5D7C"/>
                </a:solidFill>
              </a:rPr>
              <a:t>论文 / 实验协议</a:t>
            </a:r>
          </a:p>
        </p:txBody>
      </p:sp>
      <p:sp>
        <p:nvSpPr>
          <p:cNvPr id="6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26AD4D38-874F-4256-ACE2-14AFFFEF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39052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batch size = 64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固定随机种子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验证集完整参与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指标定义与论文一致</a:t>
            </a:r>
          </a:p>
        </p:txBody>
      </p:sp>
      <p:sp>
        <p:nvSpPr>
          <p:cNvPr id="7" name="problem-gap">
            <a:extLst xmlns:a="http://schemas.openxmlformats.org/drawingml/2006/main">
              <a:ext uri="{FF2B5EF4-FFF2-40B4-BE49-F238E27FC236}">
                <a16:creationId xmlns:a16="http://schemas.microsoft.com/office/drawing/2014/main" id="{5C199D58-A13A-4C4D-9B9E-9D8237BF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缺少对应关系</a:t>
            </a:r>
          </a:p>
        </p:txBody>
      </p:sp>
      <p:sp>
        <p:nvSpPr>
          <p:cNvPr id="8" name="problem-gap-line">
            <a:extLst xmlns:a="http://schemas.openxmlformats.org/drawingml/2006/main">
              <a:ext uri="{FF2B5EF4-FFF2-40B4-BE49-F238E27FC236}">
                <a16:creationId xmlns:a16="http://schemas.microsoft.com/office/drawing/2014/main" id="{40A36DC3-EB40-476C-9FDA-1A74CF40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2900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9" name="problem-right-label">
            <a:extLst xmlns:a="http://schemas.openxmlformats.org/drawingml/2006/main">
              <a:ext uri="{FF2B5EF4-FFF2-40B4-BE49-F238E27FC236}">
                <a16:creationId xmlns:a16="http://schemas.microsoft.com/office/drawing/2014/main" id="{6C54C315-8EC1-4FF8-B462-6DAEA65B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193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3543F"/>
                </a:solidFill>
              </a:defRPr>
            </a:pPr>
            <a:r>
              <a:rPr sz="1650" b="1">
                <a:solidFill>
                  <a:srgbClr val="D3543F"/>
                </a:solidFill>
              </a:rPr>
              <a:t>Pull Request</a:t>
            </a:r>
          </a:p>
        </p:txBody>
      </p:sp>
      <p:sp>
        <p:nvSpPr>
          <p:cNvPr id="10" name="problem-right">
            <a:extLst xmlns:a="http://schemas.openxmlformats.org/drawingml/2006/main">
              <a:ext uri="{FF2B5EF4-FFF2-40B4-BE49-F238E27FC236}">
                <a16:creationId xmlns:a16="http://schemas.microsoft.com/office/drawing/2014/main" id="{E82EA594-D74D-4A29-8DDF-33349775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90800"/>
            <a:ext cx="3714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参数改为 32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随机种子被删除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drop_last=True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评价公式或路径变化</a:t>
            </a:r>
          </a:p>
        </p:txBody>
      </p:sp>
      <p:sp>
        <p:nvSpPr>
          <p:cNvPr id="11" name="problem-takeaway-bg">
            <a:extLst xmlns:a="http://schemas.openxmlformats.org/drawingml/2006/main">
              <a:ext uri="{FF2B5EF4-FFF2-40B4-BE49-F238E27FC236}">
                <a16:creationId xmlns:a16="http://schemas.microsoft.com/office/drawing/2014/main" id="{437122E2-CAA6-4ED9-9162-6403BBD3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28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ED8"/>
          </a:solidFill>
          <a:ln xmlns:a="http://schemas.openxmlformats.org/drawingml/2006/main" w="0">
            <a:solidFill>
              <a:srgbClr val="F1DED8"/>
            </a:solidFill>
            <a:prstDash val="solid"/>
          </a:ln>
        </p:spPr>
      </p:sp>
      <p:sp>
        <p:nvSpPr>
          <p:cNvPr id="12" name="problem-takeaway">
            <a:extLst xmlns:a="http://schemas.openxmlformats.org/drawingml/2006/main">
              <a:ext uri="{FF2B5EF4-FFF2-40B4-BE49-F238E27FC236}">
                <a16:creationId xmlns:a16="http://schemas.microsoft.com/office/drawing/2014/main" id="{2F5F919D-FC38-4ECC-A239-4E9F8F123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72125"/>
            <a:ext cx="981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2B"/>
                </a:solidFill>
              </a:defRPr>
            </a:pPr>
            <a:r>
              <a:rPr sz="1500" b="1">
                <a:solidFill>
                  <a:srgbClr val="18212B"/>
                </a:solidFill>
              </a:rPr>
              <a:t>ReproGuard 审查的不是代码“好不好看”，而是这次变化是否改写了复现路径。</a:t>
            </a:r>
          </a:p>
        </p:txBody>
      </p:sp>
    </p:spTree>
    <p:extLst>
      <p:ext uri="{BB962C8B-B14F-4D97-AF65-F5344CB8AC3E}">
        <p14:creationId xmlns:p14="http://schemas.microsoft.com/office/powerpoint/2010/main" val="9616634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3">
            <a:extLst xmlns:a="http://schemas.openxmlformats.org/drawingml/2006/main">
              <a:ext uri="{FF2B5EF4-FFF2-40B4-BE49-F238E27FC236}">
                <a16:creationId xmlns:a16="http://schemas.microsoft.com/office/drawing/2014/main" id="{5DBB99A7-7222-4B60-9F6A-5C068988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方案设计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10A1AF9F-8A55-407E-9212-8D685D29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ReproGuard 把一次 PR 变成可追溯的复现风险证据</a:t>
            </a:r>
          </a:p>
        </p:txBody>
      </p:sp>
      <p:sp>
        <p:nvSpPr>
          <p:cNvPr id="3" name="rule-3">
            <a:extLst xmlns:a="http://schemas.openxmlformats.org/drawingml/2006/main">
              <a:ext uri="{FF2B5EF4-FFF2-40B4-BE49-F238E27FC236}">
                <a16:creationId xmlns:a16="http://schemas.microsoft.com/office/drawing/2014/main" id="{D13B4E7D-7D6B-47DD-8577-D2CEF39D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8C6C871B-1B6D-4B66-9CF8-6E8EB97A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03</a:t>
            </a:r>
          </a:p>
        </p:txBody>
      </p:sp>
      <p:sp>
        <p:nvSpPr>
          <p:cNvPr id="5" name="flow-edge-0">
            <a:extLst xmlns:a="http://schemas.openxmlformats.org/drawingml/2006/main">
              <a:ext uri="{FF2B5EF4-FFF2-40B4-BE49-F238E27FC236}">
                <a16:creationId xmlns:a16="http://schemas.microsoft.com/office/drawing/2014/main" id="{1EB0E01A-BAB7-43A4-BFA7-6FD7970D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6" name="flow-node-0">
            <a:extLst xmlns:a="http://schemas.openxmlformats.org/drawingml/2006/main">
              <a:ext uri="{FF2B5EF4-FFF2-40B4-BE49-F238E27FC236}">
                <a16:creationId xmlns:a16="http://schemas.microsoft.com/office/drawing/2014/main" id="{58E80C9C-6A15-4D47-9991-82D143FB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7" name="flow-num-0">
            <a:extLst xmlns:a="http://schemas.openxmlformats.org/drawingml/2006/main">
              <a:ext uri="{FF2B5EF4-FFF2-40B4-BE49-F238E27FC236}">
                <a16:creationId xmlns:a16="http://schemas.microsoft.com/office/drawing/2014/main" id="{73CEC3F3-FF5A-4BC6-88CD-EEFA1047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01</a:t>
            </a:r>
          </a:p>
        </p:txBody>
      </p:sp>
      <p:sp>
        <p:nvSpPr>
          <p:cNvPr id="8" name="flow-label-0">
            <a:extLst xmlns:a="http://schemas.openxmlformats.org/drawingml/2006/main">
              <a:ext uri="{FF2B5EF4-FFF2-40B4-BE49-F238E27FC236}">
                <a16:creationId xmlns:a16="http://schemas.microsoft.com/office/drawing/2014/main" id="{EBF0550E-D91C-4677-B6CB-688EA73A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读取 PR diff</a:t>
            </a:r>
          </a:p>
        </p:txBody>
      </p:sp>
      <p:sp>
        <p:nvSpPr>
          <p:cNvPr id="9" name="flow-edge-1">
            <a:extLst xmlns:a="http://schemas.openxmlformats.org/drawingml/2006/main">
              <a:ext uri="{FF2B5EF4-FFF2-40B4-BE49-F238E27FC236}">
                <a16:creationId xmlns:a16="http://schemas.microsoft.com/office/drawing/2014/main" id="{38384154-C33C-4532-8553-556FBBE1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0" name="flow-node-1">
            <a:extLst xmlns:a="http://schemas.openxmlformats.org/drawingml/2006/main">
              <a:ext uri="{FF2B5EF4-FFF2-40B4-BE49-F238E27FC236}">
                <a16:creationId xmlns:a16="http://schemas.microsoft.com/office/drawing/2014/main" id="{596C4A23-3ED1-4D71-A601-2859CB2A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11" name="flow-num-1">
            <a:extLst xmlns:a="http://schemas.openxmlformats.org/drawingml/2006/main">
              <a:ext uri="{FF2B5EF4-FFF2-40B4-BE49-F238E27FC236}">
                <a16:creationId xmlns:a16="http://schemas.microsoft.com/office/drawing/2014/main" id="{A1B423AE-4283-4F86-BF30-FE9238B6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02</a:t>
            </a:r>
          </a:p>
        </p:txBody>
      </p:sp>
      <p:sp>
        <p:nvSpPr>
          <p:cNvPr id="12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BE850AFC-FEBC-4C1A-9DFC-0BBEE31B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提取论文 / 协议约束</a:t>
            </a:r>
          </a:p>
        </p:txBody>
      </p:sp>
      <p:sp>
        <p:nvSpPr>
          <p:cNvPr id="13" name="flow-edge-2">
            <a:extLst xmlns:a="http://schemas.openxmlformats.org/drawingml/2006/main">
              <a:ext uri="{FF2B5EF4-FFF2-40B4-BE49-F238E27FC236}">
                <a16:creationId xmlns:a16="http://schemas.microsoft.com/office/drawing/2014/main" id="{001FCF5C-D252-496C-9F58-0E70F019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4" name="flow-node-2">
            <a:extLst xmlns:a="http://schemas.openxmlformats.org/drawingml/2006/main">
              <a:ext uri="{FF2B5EF4-FFF2-40B4-BE49-F238E27FC236}">
                <a16:creationId xmlns:a16="http://schemas.microsoft.com/office/drawing/2014/main" id="{13D2F5A1-0F39-4809-B98E-EB29F372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15" name="flow-num-2">
            <a:extLst xmlns:a="http://schemas.openxmlformats.org/drawingml/2006/main">
              <a:ext uri="{FF2B5EF4-FFF2-40B4-BE49-F238E27FC236}">
                <a16:creationId xmlns:a16="http://schemas.microsoft.com/office/drawing/2014/main" id="{74D7E5A8-4511-4215-8D63-6128F03C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03</a:t>
            </a:r>
          </a:p>
        </p:txBody>
      </p:sp>
      <p:sp>
        <p:nvSpPr>
          <p:cNvPr id="16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AAA6968E-B46C-46C0-96A0-6E4A78E0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确定性规则检测</a:t>
            </a:r>
          </a:p>
        </p:txBody>
      </p:sp>
      <p:sp>
        <p:nvSpPr>
          <p:cNvPr id="17" name="flow-edge-3">
            <a:extLst xmlns:a="http://schemas.openxmlformats.org/drawingml/2006/main">
              <a:ext uri="{FF2B5EF4-FFF2-40B4-BE49-F238E27FC236}">
                <a16:creationId xmlns:a16="http://schemas.microsoft.com/office/drawing/2014/main" id="{A3E710AA-0663-4A76-926E-63728831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8" name="flow-node-3">
            <a:extLst xmlns:a="http://schemas.openxmlformats.org/drawingml/2006/main">
              <a:ext uri="{FF2B5EF4-FFF2-40B4-BE49-F238E27FC236}">
                <a16:creationId xmlns:a16="http://schemas.microsoft.com/office/drawing/2014/main" id="{29C0683C-633E-461D-99D4-3DFE2D0F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7C"/>
          </a:solidFill>
          <a:ln xmlns:a="http://schemas.openxmlformats.org/drawingml/2006/main" w="19050">
            <a:solidFill>
              <a:srgbClr val="2F5D7C"/>
            </a:solidFill>
            <a:prstDash val="solid"/>
          </a:ln>
        </p:spPr>
      </p:sp>
      <p:sp>
        <p:nvSpPr>
          <p:cNvPr id="19" name="flow-num-3">
            <a:extLst xmlns:a="http://schemas.openxmlformats.org/drawingml/2006/main">
              <a:ext uri="{FF2B5EF4-FFF2-40B4-BE49-F238E27FC236}">
                <a16:creationId xmlns:a16="http://schemas.microsoft.com/office/drawing/2014/main" id="{0C61FF4C-D9BE-4B02-9CBA-D30820EC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flow-label-3">
            <a:extLst xmlns:a="http://schemas.openxmlformats.org/drawingml/2006/main">
              <a:ext uri="{FF2B5EF4-FFF2-40B4-BE49-F238E27FC236}">
                <a16:creationId xmlns:a16="http://schemas.microsoft.com/office/drawing/2014/main" id="{F7E8E380-6269-40A6-AED3-1232F35C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AI 补充语义</a:t>
            </a:r>
          </a:p>
        </p:txBody>
      </p:sp>
      <p:sp>
        <p:nvSpPr>
          <p:cNvPr id="21" name="flow-edge-4">
            <a:extLst xmlns:a="http://schemas.openxmlformats.org/drawingml/2006/main">
              <a:ext uri="{FF2B5EF4-FFF2-40B4-BE49-F238E27FC236}">
                <a16:creationId xmlns:a16="http://schemas.microsoft.com/office/drawing/2014/main" id="{4DB5DDB9-4E25-4304-BE4C-9565EF25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22" name="flow-node-4">
            <a:extLst xmlns:a="http://schemas.openxmlformats.org/drawingml/2006/main">
              <a:ext uri="{FF2B5EF4-FFF2-40B4-BE49-F238E27FC236}">
                <a16:creationId xmlns:a16="http://schemas.microsoft.com/office/drawing/2014/main" id="{931035D2-FC89-4D46-AEE3-3D360D1B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23" name="flow-num-4">
            <a:extLst xmlns:a="http://schemas.openxmlformats.org/drawingml/2006/main">
              <a:ext uri="{FF2B5EF4-FFF2-40B4-BE49-F238E27FC236}">
                <a16:creationId xmlns:a16="http://schemas.microsoft.com/office/drawing/2014/main" id="{E5380E38-6385-408A-9BBE-6E80DC66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05</a:t>
            </a:r>
          </a:p>
        </p:txBody>
      </p:sp>
      <p:sp>
        <p:nvSpPr>
          <p:cNvPr id="24" name="flow-label-4">
            <a:extLst xmlns:a="http://schemas.openxmlformats.org/drawingml/2006/main">
              <a:ext uri="{FF2B5EF4-FFF2-40B4-BE49-F238E27FC236}">
                <a16:creationId xmlns:a16="http://schemas.microsoft.com/office/drawing/2014/main" id="{25411E00-4D85-4A6D-A254-70684370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绑定双向证据</a:t>
            </a:r>
          </a:p>
        </p:txBody>
      </p:sp>
      <p:sp>
        <p:nvSpPr>
          <p:cNvPr id="25" name="flow-node-5">
            <a:extLst xmlns:a="http://schemas.openxmlformats.org/drawingml/2006/main">
              <a:ext uri="{FF2B5EF4-FFF2-40B4-BE49-F238E27FC236}">
                <a16:creationId xmlns:a16="http://schemas.microsoft.com/office/drawing/2014/main" id="{1D5048FE-5C00-4B15-9D32-528D57EE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26" name="flow-num-5">
            <a:extLst xmlns:a="http://schemas.openxmlformats.org/drawingml/2006/main">
              <a:ext uri="{FF2B5EF4-FFF2-40B4-BE49-F238E27FC236}">
                <a16:creationId xmlns:a16="http://schemas.microsoft.com/office/drawing/2014/main" id="{C2DCD779-29A8-49DE-A3D1-0C8ADA1C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06</a:t>
            </a:r>
          </a:p>
        </p:txBody>
      </p:sp>
      <p:sp>
        <p:nvSpPr>
          <p:cNvPr id="27" name="flow-label-5">
            <a:extLst xmlns:a="http://schemas.openxmlformats.org/drawingml/2006/main">
              <a:ext uri="{FF2B5EF4-FFF2-40B4-BE49-F238E27FC236}">
                <a16:creationId xmlns:a16="http://schemas.microsoft.com/office/drawing/2014/main" id="{1C4B5AA3-0C61-4769-AB86-F8373550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人工确认结论</a:t>
            </a:r>
          </a:p>
        </p:txBody>
      </p:sp>
      <p:sp>
        <p:nvSpPr>
          <p:cNvPr id="28" name="flow-boundary-bg">
            <a:extLst xmlns:a="http://schemas.openxmlformats.org/drawingml/2006/main">
              <a:ext uri="{FF2B5EF4-FFF2-40B4-BE49-F238E27FC236}">
                <a16:creationId xmlns:a16="http://schemas.microsoft.com/office/drawing/2014/main" id="{0718FE37-205C-498D-B078-C5BBA243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29" name="flow-boundary">
            <a:extLst xmlns:a="http://schemas.openxmlformats.org/drawingml/2006/main">
              <a:ext uri="{FF2B5EF4-FFF2-40B4-BE49-F238E27FC236}">
                <a16:creationId xmlns:a16="http://schemas.microsoft.com/office/drawing/2014/main" id="{1AFF0A08-288A-44DE-B89D-B5F9B9D4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2F5D7C"/>
                </a:solidFill>
              </a:defRPr>
            </a:pPr>
            <a:r>
              <a:rPr sz="1425">
                <a:solidFill>
                  <a:srgbClr val="2F5D7C"/>
                </a:solidFill>
              </a:rPr>
              <a:t>规则结论是权威层；模型只处理非结构化语义，并且只能引用系统提供的 D### / P### 来源。所有科研风险默认 needs_review。</a:t>
            </a:r>
          </a:p>
        </p:txBody>
      </p:sp>
    </p:spTree>
    <p:extLst>
      <p:ext uri="{BB962C8B-B14F-4D97-AF65-F5344CB8AC3E}">
        <p14:creationId xmlns:p14="http://schemas.microsoft.com/office/powerpoint/2010/main" val="19378933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4">
            <a:extLst xmlns:a="http://schemas.openxmlformats.org/drawingml/2006/main">
              <a:ext uri="{FF2B5EF4-FFF2-40B4-BE49-F238E27FC236}">
                <a16:creationId xmlns:a16="http://schemas.microsoft.com/office/drawing/2014/main" id="{CDA7F884-BB9F-4AD5-A3B4-57B3DFF2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创新性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8D461C58-A7E7-40C0-B3A9-1C14FDB1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核心创新是把审查对象从“代码质量”扩展到“复现约束”</a:t>
            </a:r>
          </a:p>
        </p:txBody>
      </p:sp>
      <p:sp>
        <p:nvSpPr>
          <p:cNvPr id="3" name="rule-4">
            <a:extLst xmlns:a="http://schemas.openxmlformats.org/drawingml/2006/main">
              <a:ext uri="{FF2B5EF4-FFF2-40B4-BE49-F238E27FC236}">
                <a16:creationId xmlns:a16="http://schemas.microsoft.com/office/drawing/2014/main" id="{6B40F9F1-DAB6-437C-857E-9DD54CAD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324AAD6C-937A-4D0E-89A4-A9306ABD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04</a:t>
            </a:r>
          </a:p>
        </p:txBody>
      </p:sp>
      <p:sp>
        <p:nvSpPr>
          <p:cNvPr id="5" name="innovation-accent-0">
            <a:extLst xmlns:a="http://schemas.openxmlformats.org/drawingml/2006/main">
              <a:ext uri="{FF2B5EF4-FFF2-40B4-BE49-F238E27FC236}">
                <a16:creationId xmlns:a16="http://schemas.microsoft.com/office/drawing/2014/main" id="{82E8BB8A-C2C3-4822-ABB7-730E4761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6" name="innovation-title-0">
            <a:extLst xmlns:a="http://schemas.openxmlformats.org/drawingml/2006/main">
              <a:ext uri="{FF2B5EF4-FFF2-40B4-BE49-F238E27FC236}">
                <a16:creationId xmlns:a16="http://schemas.microsoft.com/office/drawing/2014/main" id="{5347DFD6-D7EE-4A49-BF23-3748EEB9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研究约束对齐</a:t>
            </a:r>
          </a:p>
        </p:txBody>
      </p:sp>
      <p:sp>
        <p:nvSpPr>
          <p:cNvPr id="7" name="innovation-body-0">
            <a:extLst xmlns:a="http://schemas.openxmlformats.org/drawingml/2006/main">
              <a:ext uri="{FF2B5EF4-FFF2-40B4-BE49-F238E27FC236}">
                <a16:creationId xmlns:a16="http://schemas.microsoft.com/office/drawing/2014/main" id="{56B2885C-6BB3-4644-93EC-06C24EB5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把论文页码、协议字段与代码变更放进同一条审查链。</a:t>
            </a:r>
          </a:p>
        </p:txBody>
      </p:sp>
      <p:sp>
        <p:nvSpPr>
          <p:cNvPr id="8" name="innovation-accent-1">
            <a:extLst xmlns:a="http://schemas.openxmlformats.org/drawingml/2006/main">
              <a:ext uri="{FF2B5EF4-FFF2-40B4-BE49-F238E27FC236}">
                <a16:creationId xmlns:a16="http://schemas.microsoft.com/office/drawing/2014/main" id="{793EC906-4979-4991-B648-8F259772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7C"/>
          </a:solidFill>
          <a:ln xmlns:a="http://schemas.openxmlformats.org/drawingml/2006/main" w="0">
            <a:solidFill>
              <a:srgbClr val="2F5D7C"/>
            </a:solidFill>
            <a:prstDash val="solid"/>
          </a:ln>
        </p:spPr>
      </p:sp>
      <p:sp>
        <p:nvSpPr>
          <p:cNvPr id="9" name="innovation-title-1">
            <a:extLst xmlns:a="http://schemas.openxmlformats.org/drawingml/2006/main">
              <a:ext uri="{FF2B5EF4-FFF2-40B4-BE49-F238E27FC236}">
                <a16:creationId xmlns:a16="http://schemas.microsoft.com/office/drawing/2014/main" id="{A1B8FE25-8531-4612-9318-590310EC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权限隔离</a:t>
            </a:r>
          </a:p>
        </p:txBody>
      </p:sp>
      <p:sp>
        <p:nvSpPr>
          <p:cNvPr id="10" name="innovation-body-1">
            <a:extLst xmlns:a="http://schemas.openxmlformats.org/drawingml/2006/main">
              <a:ext uri="{FF2B5EF4-FFF2-40B4-BE49-F238E27FC236}">
                <a16:creationId xmlns:a16="http://schemas.microsoft.com/office/drawing/2014/main" id="{6843836F-19BA-4A40-B0F7-1C19907C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确定性规则不可被模型覆盖；无效来源直接丢弃。</a:t>
            </a:r>
          </a:p>
        </p:txBody>
      </p:sp>
      <p:sp>
        <p:nvSpPr>
          <p:cNvPr id="11" name="innovation-accent-2">
            <a:extLst xmlns:a="http://schemas.openxmlformats.org/drawingml/2006/main">
              <a:ext uri="{FF2B5EF4-FFF2-40B4-BE49-F238E27FC236}">
                <a16:creationId xmlns:a16="http://schemas.microsoft.com/office/drawing/2014/main" id="{AA8B7ECA-E31B-4A05-A702-D3B34457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12" name="innovation-title-2">
            <a:extLst xmlns:a="http://schemas.openxmlformats.org/drawingml/2006/main">
              <a:ext uri="{FF2B5EF4-FFF2-40B4-BE49-F238E27FC236}">
                <a16:creationId xmlns:a16="http://schemas.microsoft.com/office/drawing/2014/main" id="{DF4A8DCE-95AF-422A-AD89-7281C8F6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可复核输出</a:t>
            </a:r>
          </a:p>
        </p:txBody>
      </p:sp>
      <p:sp>
        <p:nvSpPr>
          <p:cNvPr id="13" name="innovation-body-2">
            <a:extLst xmlns:a="http://schemas.openxmlformats.org/drawingml/2006/main">
              <a:ext uri="{FF2B5EF4-FFF2-40B4-BE49-F238E27FC236}">
                <a16:creationId xmlns:a16="http://schemas.microsoft.com/office/drawing/2014/main" id="{42BEED38-0F67-4AA0-8EE8-8C00DC38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每条风险绑定 diff 行号、来源位置、建议和人工状态。</a:t>
            </a:r>
          </a:p>
        </p:txBody>
      </p:sp>
      <p:sp>
        <p:nvSpPr>
          <p:cNvPr id="14" name="innovation-bottom-rule">
            <a:extLst xmlns:a="http://schemas.openxmlformats.org/drawingml/2006/main">
              <a:ext uri="{FF2B5EF4-FFF2-40B4-BE49-F238E27FC236}">
                <a16:creationId xmlns:a16="http://schemas.microsoft.com/office/drawing/2014/main" id="{EC854FA1-0273-4FFA-BA6F-D41E7408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5" name="innovation-bottom">
            <a:extLst xmlns:a="http://schemas.openxmlformats.org/drawingml/2006/main">
              <a:ext uri="{FF2B5EF4-FFF2-40B4-BE49-F238E27FC236}">
                <a16:creationId xmlns:a16="http://schemas.microsoft.com/office/drawing/2014/main" id="{C6F48541-3F7B-458C-839A-54E90B70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5D7C"/>
                </a:solidFill>
              </a:defRPr>
            </a:pPr>
            <a:r>
              <a:rPr sz="1500" b="1">
                <a:solidFill>
                  <a:srgbClr val="2F5D7C"/>
                </a:solidFill>
              </a:rPr>
              <a:t>产品形态：GitHub Composite Action + CLI + 网页原型 + 开放 Schema + 评测脚本</a:t>
            </a:r>
          </a:p>
        </p:txBody>
      </p:sp>
    </p:spTree>
    <p:extLst>
      <p:ext uri="{BB962C8B-B14F-4D97-AF65-F5344CB8AC3E}">
        <p14:creationId xmlns:p14="http://schemas.microsoft.com/office/powerpoint/2010/main" val="16336118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5">
            <a:extLst xmlns:a="http://schemas.openxmlformats.org/drawingml/2006/main">
              <a:ext uri="{FF2B5EF4-FFF2-40B4-BE49-F238E27FC236}">
                <a16:creationId xmlns:a16="http://schemas.microsoft.com/office/drawing/2014/main" id="{5FC60671-BBB6-4728-ABDF-A962927E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真实案例 · PYTORCH-UNET PR #141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846A0DCF-0B17-473E-87D2-CBF4A5D8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真实历史 PR 回放：一次改动触发三类复现风险</a:t>
            </a:r>
          </a:p>
        </p:txBody>
      </p:sp>
      <p:sp>
        <p:nvSpPr>
          <p:cNvPr id="3" name="rule-5">
            <a:extLst xmlns:a="http://schemas.openxmlformats.org/drawingml/2006/main">
              <a:ext uri="{FF2B5EF4-FFF2-40B4-BE49-F238E27FC236}">
                <a16:creationId xmlns:a16="http://schemas.microsoft.com/office/drawing/2014/main" id="{6F9123C3-A101-4FA3-A150-AAD2CD1D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00BF397B-642D-4CE6-8FE6-1AEAAE4F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05</a:t>
            </a:r>
          </a:p>
        </p:txBody>
      </p:sp>
      <p:sp>
        <p:nvSpPr>
          <p:cNvPr id="5" name="case-fact">
            <a:extLst xmlns:a="http://schemas.openxmlformats.org/drawingml/2006/main">
              <a:ext uri="{FF2B5EF4-FFF2-40B4-BE49-F238E27FC236}">
                <a16:creationId xmlns:a16="http://schemas.microsoft.com/office/drawing/2014/main" id="{A90E9FD7-923D-427A-98B7-76587CC5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公开历史 PR · 已合并 · 完整 diff 回放 · 结论仍需研究者确认</a:t>
            </a:r>
          </a:p>
        </p:txBody>
      </p:sp>
      <p:sp>
        <p:nvSpPr>
          <p:cNvPr id="6" name="case-num-0">
            <a:extLst xmlns:a="http://schemas.openxmlformats.org/drawingml/2006/main">
              <a:ext uri="{FF2B5EF4-FFF2-40B4-BE49-F238E27FC236}">
                <a16:creationId xmlns:a16="http://schemas.microsoft.com/office/drawing/2014/main" id="{8FEFA870-A64C-4CDB-B74D-0C697D3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01</a:t>
            </a:r>
          </a:p>
        </p:txBody>
      </p:sp>
      <p:sp>
        <p:nvSpPr>
          <p:cNvPr id="7" name="case-title-0">
            <a:extLst xmlns:a="http://schemas.openxmlformats.org/drawingml/2006/main">
              <a:ext uri="{FF2B5EF4-FFF2-40B4-BE49-F238E27FC236}">
                <a16:creationId xmlns:a16="http://schemas.microsoft.com/office/drawing/2014/main" id="{193D7129-0937-41D5-8E3C-151F8866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765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评价分母变化</a:t>
            </a:r>
          </a:p>
        </p:txBody>
      </p:sp>
      <p:sp>
        <p:nvSpPr>
          <p:cNvPr id="8" name="case-body-0">
            <a:extLst xmlns:a="http://schemas.openxmlformats.org/drawingml/2006/main">
              <a:ext uri="{FF2B5EF4-FFF2-40B4-BE49-F238E27FC236}">
                <a16:creationId xmlns:a16="http://schemas.microsoft.com/office/drawing/2014/main" id="{C54EDB7A-4E96-43BC-9EE4-DFECFC12E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n_val = len(loader) 后以批次数归一化，需核对论文与测试口径。</a:t>
            </a:r>
          </a:p>
        </p:txBody>
      </p:sp>
      <p:sp>
        <p:nvSpPr>
          <p:cNvPr id="9" name="case-rule-0">
            <a:extLst xmlns:a="http://schemas.openxmlformats.org/drawingml/2006/main">
              <a:ext uri="{FF2B5EF4-FFF2-40B4-BE49-F238E27FC236}">
                <a16:creationId xmlns:a16="http://schemas.microsoft.com/office/drawing/2014/main" id="{CE3E2700-71BF-42A9-BDE5-D7F627A0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986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0" name="case-num-1">
            <a:extLst xmlns:a="http://schemas.openxmlformats.org/drawingml/2006/main">
              <a:ext uri="{FF2B5EF4-FFF2-40B4-BE49-F238E27FC236}">
                <a16:creationId xmlns:a16="http://schemas.microsoft.com/office/drawing/2014/main" id="{38AE90F6-98CD-4E26-87EE-A6430616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02</a:t>
            </a:r>
          </a:p>
        </p:txBody>
      </p:sp>
      <p:sp>
        <p:nvSpPr>
          <p:cNvPr id="11" name="case-title-1">
            <a:extLst xmlns:a="http://schemas.openxmlformats.org/drawingml/2006/main">
              <a:ext uri="{FF2B5EF4-FFF2-40B4-BE49-F238E27FC236}">
                <a16:creationId xmlns:a16="http://schemas.microsoft.com/office/drawing/2014/main" id="{50AA5B9A-83BE-485E-BAC1-DBA43276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5623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评价流程变化</a:t>
            </a:r>
          </a:p>
        </p:txBody>
      </p:sp>
      <p:sp>
        <p:nvSpPr>
          <p:cNvPr id="12" name="case-body-1">
            <a:extLst xmlns:a="http://schemas.openxmlformats.org/drawingml/2006/main">
              <a:ext uri="{FF2B5EF4-FFF2-40B4-BE49-F238E27FC236}">
                <a16:creationId xmlns:a16="http://schemas.microsoft.com/office/drawing/2014/main" id="{95B68419-0B2A-4C61-A02C-3C4BB7A8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623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Sigmoid、Dice 与交叉熵相关路径变化，需确认指标定义是否同步。</a:t>
            </a:r>
          </a:p>
        </p:txBody>
      </p:sp>
      <p:sp>
        <p:nvSpPr>
          <p:cNvPr id="13" name="case-rule-1">
            <a:extLst xmlns:a="http://schemas.openxmlformats.org/drawingml/2006/main">
              <a:ext uri="{FF2B5EF4-FFF2-40B4-BE49-F238E27FC236}">
                <a16:creationId xmlns:a16="http://schemas.microsoft.com/office/drawing/2014/main" id="{6A01D068-DA10-47D0-ABBF-7F381FC3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986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4" name="case-num-2">
            <a:extLst xmlns:a="http://schemas.openxmlformats.org/drawingml/2006/main">
              <a:ext uri="{FF2B5EF4-FFF2-40B4-BE49-F238E27FC236}">
                <a16:creationId xmlns:a16="http://schemas.microsoft.com/office/drawing/2014/main" id="{DE0EC470-0955-437A-9916-D7EC112A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03</a:t>
            </a:r>
          </a:p>
        </p:txBody>
      </p:sp>
      <p:sp>
        <p:nvSpPr>
          <p:cNvPr id="15" name="case-title-2">
            <a:extLst xmlns:a="http://schemas.openxmlformats.org/drawingml/2006/main">
              <a:ext uri="{FF2B5EF4-FFF2-40B4-BE49-F238E27FC236}">
                <a16:creationId xmlns:a16="http://schemas.microsoft.com/office/drawing/2014/main" id="{AB683C49-A615-4108-9A51-A9810E00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482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样本范围变化</a:t>
            </a:r>
          </a:p>
        </p:txBody>
      </p:sp>
      <p:sp>
        <p:nvSpPr>
          <p:cNvPr id="16" name="case-body-2">
            <a:extLst xmlns:a="http://schemas.openxmlformats.org/drawingml/2006/main">
              <a:ext uri="{FF2B5EF4-FFF2-40B4-BE49-F238E27FC236}">
                <a16:creationId xmlns:a16="http://schemas.microsoft.com/office/drawing/2014/main" id="{3CD1ABB5-58E0-403A-8E06-8153B930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482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drop_last=True 可能排除最后一个不完整批次。</a:t>
            </a:r>
          </a:p>
        </p:txBody>
      </p:sp>
      <p:sp>
        <p:nvSpPr>
          <p:cNvPr id="17" name="case-caveat">
            <a:extLst xmlns:a="http://schemas.openxmlformats.org/drawingml/2006/main">
              <a:ext uri="{FF2B5EF4-FFF2-40B4-BE49-F238E27FC236}">
                <a16:creationId xmlns:a16="http://schemas.microsoft.com/office/drawing/2014/main" id="{4552A5C4-252A-4CC9-9E79-CF20DCBD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3405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5D7C"/>
                </a:solidFill>
              </a:defRPr>
            </a:pPr>
            <a:r>
              <a:rPr sz="1350" b="1">
                <a:solidFill>
                  <a:srgbClr val="2F5D7C"/>
                </a:solidFill>
              </a:rPr>
              <a:t>这是“发现需要复核”的真实证据，不是自动证明论文一定不可复现。</a:t>
            </a:r>
          </a:p>
        </p:txBody>
      </p:sp>
    </p:spTree>
    <p:extLst>
      <p:ext uri="{BB962C8B-B14F-4D97-AF65-F5344CB8AC3E}">
        <p14:creationId xmlns:p14="http://schemas.microsoft.com/office/powerpoint/2010/main" val="20963824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kicker-6">
            <a:extLst xmlns:a="http://schemas.openxmlformats.org/drawingml/2006/main">
              <a:ext uri="{FF2B5EF4-FFF2-40B4-BE49-F238E27FC236}">
                <a16:creationId xmlns:a16="http://schemas.microsoft.com/office/drawing/2014/main" id="{2940E546-7C8A-4F79-AB91-1894E1AB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实现完成度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14EBD2F5-F1C2-4969-80F6-971705A4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GitHub Action 已跑通同仓库与跨仓库完整链路</a:t>
            </a:r>
          </a:p>
        </p:txBody>
      </p:sp>
      <p:sp>
        <p:nvSpPr>
          <p:cNvPr id="3" name="rule-6">
            <a:extLst xmlns:a="http://schemas.openxmlformats.org/drawingml/2006/main">
              <a:ext uri="{FF2B5EF4-FFF2-40B4-BE49-F238E27FC236}">
                <a16:creationId xmlns:a16="http://schemas.microsoft.com/office/drawing/2014/main" id="{03613819-852E-4813-BF3A-54DC12C1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5727237F-4ED9-471C-AE7A-099977C2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06</a:t>
            </a:r>
          </a:p>
        </p:txBody>
      </p:sp>
      <p:sp>
        <p:nvSpPr>
          <p:cNvPr id="5" name="action-frame">
            <a:extLst xmlns:a="http://schemas.openxmlformats.org/drawingml/2006/main">
              <a:ext uri="{FF2B5EF4-FFF2-40B4-BE49-F238E27FC236}">
                <a16:creationId xmlns:a16="http://schemas.microsoft.com/office/drawing/2014/main" id="{F85F235A-F909-4AAE-84E0-BAF69D45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37147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D0C8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5c216250e44ef7"/>
          <a:stretch xmlns:a="http://schemas.openxmlformats.org/drawingml/2006/main"/>
        </p:blipFill>
        <p:spPr>
          <a:xfrm xmlns:a="http://schemas.openxmlformats.org/drawingml/2006/main">
            <a:off x="1279297" y="1981200"/>
            <a:ext cx="2642057" cy="3600450"/>
          </a:xfrm>
          <a:prstGeom xmlns:a="http://schemas.openxmlformats.org/drawingml/2006/main" prst="rect">
            <a:avLst/>
          </a:prstGeom>
        </p:spPr>
      </p:pic>
      <p:sp>
        <p:nvSpPr>
          <p:cNvPr id="7" name="action-proof-title">
            <a:extLst xmlns:a="http://schemas.openxmlformats.org/drawingml/2006/main">
              <a:ext uri="{FF2B5EF4-FFF2-40B4-BE49-F238E27FC236}">
                <a16:creationId xmlns:a16="http://schemas.microsoft.com/office/drawing/2014/main" id="{A1046905-3D1F-4A0B-B66F-F6043006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212B"/>
                </a:solidFill>
              </a:defRPr>
            </a:pPr>
            <a:r>
              <a:rPr sz="1950" b="1">
                <a:solidFill>
                  <a:srgbClr val="18212B"/>
                </a:solidFill>
              </a:rPr>
              <a:t>PR #1 · Run 39933280765</a:t>
            </a:r>
          </a:p>
        </p:txBody>
      </p:sp>
      <p:sp>
        <p:nvSpPr>
          <p:cNvPr id="8" name="action-proof-list">
            <a:extLst xmlns:a="http://schemas.openxmlformats.org/drawingml/2006/main">
              <a:ext uri="{FF2B5EF4-FFF2-40B4-BE49-F238E27FC236}">
                <a16:creationId xmlns:a16="http://schemas.microsoft.com/office/drawing/2014/main" id="{506BE186-5477-4BE9-BB32-0932E924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24150"/>
            <a:ext cx="5715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行级 warning 精确定位 train.py:10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Job Summary 展示风险摘要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同一条 PR 评论被更新，避免重复刷屏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JSON / Markdown artifact 上传成功</a:t>
            </a:r>
          </a:p>
        </p:txBody>
      </p:sp>
      <p:sp>
        <p:nvSpPr>
          <p:cNvPr id="9" name="action-boundary-bg">
            <a:extLst xmlns:a="http://schemas.openxmlformats.org/drawingml/2006/main">
              <a:ext uri="{FF2B5EF4-FFF2-40B4-BE49-F238E27FC236}">
                <a16:creationId xmlns:a16="http://schemas.microsoft.com/office/drawing/2014/main" id="{398C843E-5C83-413F-8CC5-FC84B5AB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76800"/>
            <a:ext cx="5715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ED8"/>
          </a:solidFill>
          <a:ln xmlns:a="http://schemas.openxmlformats.org/drawingml/2006/main" w="0">
            <a:solidFill>
              <a:srgbClr val="F1DED8"/>
            </a:solidFill>
            <a:prstDash val="solid"/>
          </a:ln>
        </p:spPr>
      </p:sp>
      <p:sp>
        <p:nvSpPr>
          <p:cNvPr id="10" name="action-code-title">
            <a:extLst xmlns:a="http://schemas.openxmlformats.org/drawingml/2006/main">
              <a:ext uri="{FF2B5EF4-FFF2-40B4-BE49-F238E27FC236}">
                <a16:creationId xmlns:a16="http://schemas.microsoft.com/office/drawing/2014/main" id="{3D4C3D69-0AAE-4079-B031-B66909B0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99110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3543F"/>
                </a:solidFill>
              </a:defRPr>
            </a:pPr>
            <a:r>
              <a:rPr sz="1200" b="1">
                <a:solidFill>
                  <a:srgbClr val="D3543F"/>
                </a:solidFill>
              </a:rPr>
              <a:t>可复用接入配置</a:t>
            </a:r>
          </a:p>
        </p:txBody>
      </p:sp>
      <p:sp>
        <p:nvSpPr>
          <p:cNvPr id="11" name="action-code">
            <a:extLst xmlns:a="http://schemas.openxmlformats.org/drawingml/2006/main">
              <a:ext uri="{FF2B5EF4-FFF2-40B4-BE49-F238E27FC236}">
                <a16:creationId xmlns:a16="http://schemas.microsoft.com/office/drawing/2014/main" id="{22818DAD-8D66-4942-978B-D7C12A1C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2387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8212B"/>
                </a:solidFill>
              </a:defRPr>
            </a:pPr>
            <a:r>
              <a:rPr sz="1125">
                <a:solidFill>
                  <a:srgbClr val="18212B"/>
                </a:solidFill>
              </a:rPr>
              <a:t>uses: hm10629/reproguard@v1</a:t>
            </a:r>
          </a:p>
          <a:p xmlns:a="http://schemas.openxmlformats.org/drawingml/2006/main">
            <a:pPr>
              <a:defRPr sz="1125">
                <a:solidFill>
                  <a:srgbClr val="18212B"/>
                </a:solidFill>
              </a:defRPr>
            </a:pPr>
            <a:r>
              <a:rPr sz="1125">
                <a:solidFill>
                  <a:srgbClr val="18212B"/>
                </a:solidFill>
              </a:rPr>
              <a:t>with: constraints: docs/experiment-protocol.md</a:t>
            </a:r>
          </a:p>
        </p:txBody>
      </p:sp>
    </p:spTree>
    <p:extLst>
      <p:ext uri="{BB962C8B-B14F-4D97-AF65-F5344CB8AC3E}">
        <p14:creationId xmlns:p14="http://schemas.microsoft.com/office/powerpoint/2010/main" val="500579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-7">
            <a:extLst xmlns:a="http://schemas.openxmlformats.org/drawingml/2006/main">
              <a:ext uri="{FF2B5EF4-FFF2-40B4-BE49-F238E27FC236}">
                <a16:creationId xmlns:a16="http://schemas.microsoft.com/office/drawing/2014/main" id="{045C3AFA-12C0-4B72-B47A-244CE42D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可验证效果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8CCA46E7-B8B2-4B46-B25F-31A9D26D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效果验证同时保留通过、人工评测和边界说明</a:t>
            </a:r>
          </a:p>
        </p:txBody>
      </p:sp>
      <p:sp>
        <p:nvSpPr>
          <p:cNvPr id="3" name="rule-7">
            <a:extLst xmlns:a="http://schemas.openxmlformats.org/drawingml/2006/main">
              <a:ext uri="{FF2B5EF4-FFF2-40B4-BE49-F238E27FC236}">
                <a16:creationId xmlns:a16="http://schemas.microsoft.com/office/drawing/2014/main" id="{E568E8BE-0B80-43E9-A084-AFD1D7D2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3256056B-6D09-4FBC-B1B8-8213B899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07</a:t>
            </a:r>
          </a:p>
        </p:txBody>
      </p:sp>
      <p:sp>
        <p:nvSpPr>
          <p:cNvPr id="5" name="项自动化测试全部通过-value">
            <a:extLst xmlns:a="http://schemas.openxmlformats.org/drawingml/2006/main">
              <a:ext uri="{FF2B5EF4-FFF2-40B4-BE49-F238E27FC236}">
                <a16:creationId xmlns:a16="http://schemas.microsoft.com/office/drawing/2014/main" id="{EF78BFDB-6A6C-43E3-9A44-884996F1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3543F"/>
                </a:solidFill>
              </a:defRPr>
            </a:pPr>
            <a:r>
              <a:rPr sz="4350" b="1">
                <a:solidFill>
                  <a:srgbClr val="D3543F"/>
                </a:solidFill>
              </a:rPr>
              <a:t>154</a:t>
            </a:r>
          </a:p>
        </p:txBody>
      </p:sp>
      <p:sp>
        <p:nvSpPr>
          <p:cNvPr id="6" name="项自动化测试全部通过-label">
            <a:extLst xmlns:a="http://schemas.openxmlformats.org/drawingml/2006/main">
              <a:ext uri="{FF2B5EF4-FFF2-40B4-BE49-F238E27FC236}">
                <a16:creationId xmlns:a16="http://schemas.microsoft.com/office/drawing/2014/main" id="{413A6344-D950-4EFC-BACE-382CB31F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项自动化测试全部通过</a:t>
            </a:r>
          </a:p>
        </p:txBody>
      </p:sp>
      <p:sp>
        <p:nvSpPr>
          <p:cNvPr id="7" name="条核心规则完成逐条人工评测-value">
            <a:extLst xmlns:a="http://schemas.openxmlformats.org/drawingml/2006/main">
              <a:ext uri="{FF2B5EF4-FFF2-40B4-BE49-F238E27FC236}">
                <a16:creationId xmlns:a16="http://schemas.microsoft.com/office/drawing/2014/main" id="{CDE109C5-E296-4DA8-9BE4-2B4E3485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479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F5D7C"/>
                </a:solidFill>
              </a:defRPr>
            </a:pPr>
            <a:r>
              <a:rPr sz="4350" b="1">
                <a:solidFill>
                  <a:srgbClr val="2F5D7C"/>
                </a:solidFill>
              </a:rPr>
              <a:t>6</a:t>
            </a:r>
          </a:p>
        </p:txBody>
      </p:sp>
      <p:sp>
        <p:nvSpPr>
          <p:cNvPr id="8" name="条核心规则完成逐条人工评测-label">
            <a:extLst xmlns:a="http://schemas.openxmlformats.org/drawingml/2006/main">
              <a:ext uri="{FF2B5EF4-FFF2-40B4-BE49-F238E27FC236}">
                <a16:creationId xmlns:a16="http://schemas.microsoft.com/office/drawing/2014/main" id="{4BA40C1A-659C-4EBF-AB9D-5A914591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条核心规则完成逐条人工评测</a:t>
            </a:r>
          </a:p>
        </p:txBody>
      </p:sp>
      <p:sp>
        <p:nvSpPr>
          <p:cNvPr id="9" name="次 DeepSeek 真实调用并人工复核-value">
            <a:extLst xmlns:a="http://schemas.openxmlformats.org/drawingml/2006/main">
              <a:ext uri="{FF2B5EF4-FFF2-40B4-BE49-F238E27FC236}">
                <a16:creationId xmlns:a16="http://schemas.microsoft.com/office/drawing/2014/main" id="{567FB76D-76A2-43A8-811F-48C2FCD8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479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F7D6B"/>
                </a:solidFill>
              </a:defRPr>
            </a:pPr>
            <a:r>
              <a:rPr sz="4350" b="1">
                <a:solidFill>
                  <a:srgbClr val="2F7D6B"/>
                </a:solidFill>
              </a:rPr>
              <a:t>1</a:t>
            </a:r>
          </a:p>
        </p:txBody>
      </p:sp>
      <p:sp>
        <p:nvSpPr>
          <p:cNvPr id="10" name="次 DeepSeek 真实调用并人工复核-label">
            <a:extLst xmlns:a="http://schemas.openxmlformats.org/drawingml/2006/main">
              <a:ext uri="{FF2B5EF4-FFF2-40B4-BE49-F238E27FC236}">
                <a16:creationId xmlns:a16="http://schemas.microsoft.com/office/drawing/2014/main" id="{0412FCAC-4438-448F-ACB2-0F090C40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次 DeepSeek 真实调用并人工复核</a:t>
            </a:r>
          </a:p>
        </p:txBody>
      </p:sp>
      <p:sp>
        <p:nvSpPr>
          <p:cNvPr id="11" name="eval-rule">
            <a:extLst xmlns:a="http://schemas.openxmlformats.org/drawingml/2006/main">
              <a:ext uri="{FF2B5EF4-FFF2-40B4-BE49-F238E27FC236}">
                <a16:creationId xmlns:a16="http://schemas.microsoft.com/office/drawing/2014/main" id="{2A9CD36A-8947-4C60-B71D-0CD6586A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2" name="eval-boundary-title">
            <a:extLst xmlns:a="http://schemas.openxmlformats.org/drawingml/2006/main">
              <a:ext uri="{FF2B5EF4-FFF2-40B4-BE49-F238E27FC236}">
                <a16:creationId xmlns:a16="http://schemas.microsoft.com/office/drawing/2014/main" id="{8831560B-A8A5-40DA-93EC-F5FD69B8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212B"/>
                </a:solidFill>
              </a:defRPr>
            </a:pPr>
            <a:r>
              <a:rPr sz="1650" b="1">
                <a:solidFill>
                  <a:srgbClr val="18212B"/>
                </a:solidFill>
              </a:rPr>
              <a:t>必须如实说明的边界</a:t>
            </a:r>
          </a:p>
        </p:txBody>
      </p:sp>
      <p:sp>
        <p:nvSpPr>
          <p:cNvPr id="13" name="eval-boundary">
            <a:extLst xmlns:a="http://schemas.openxmlformats.org/drawingml/2006/main">
              <a:ext uri="{FF2B5EF4-FFF2-40B4-BE49-F238E27FC236}">
                <a16:creationId xmlns:a16="http://schemas.microsoft.com/office/drawing/2014/main" id="{75E7EDAD-4E83-4E39-931B-6A79F074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9580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6/6 是当前样本的正类复测，不等于整体准确率 100%。</a:t>
            </a:r>
          </a:p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未声称覆盖所有论文、语言或实验类型。</a:t>
            </a:r>
          </a:p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模型输出、跨学科语义和最终风险都需要人工确认。</a:t>
            </a:r>
          </a:p>
        </p:txBody>
      </p:sp>
    </p:spTree>
    <p:extLst>
      <p:ext uri="{BB962C8B-B14F-4D97-AF65-F5344CB8AC3E}">
        <p14:creationId xmlns:p14="http://schemas.microsoft.com/office/powerpoint/2010/main" val="1256501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-8">
            <a:extLst xmlns:a="http://schemas.openxmlformats.org/drawingml/2006/main">
              <a:ext uri="{FF2B5EF4-FFF2-40B4-BE49-F238E27FC236}">
                <a16:creationId xmlns:a16="http://schemas.microsoft.com/office/drawing/2014/main" id="{E2223DBB-E6CD-427E-BA58-1CD99296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差异化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7AAEDF7-0AC5-4D2D-A92D-7FADDE34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现有工具查代码，ReproGuard 查代码与研究约束之间的断点</a:t>
            </a:r>
          </a:p>
        </p:txBody>
      </p:sp>
      <p:sp>
        <p:nvSpPr>
          <p:cNvPr id="3" name="rule-8">
            <a:extLst xmlns:a="http://schemas.openxmlformats.org/drawingml/2006/main">
              <a:ext uri="{FF2B5EF4-FFF2-40B4-BE49-F238E27FC236}">
                <a16:creationId xmlns:a16="http://schemas.microsoft.com/office/drawing/2014/main" id="{8B733DCB-5D8A-4CEF-BBD2-F6FEAC33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8">
            <a:extLst xmlns:a="http://schemas.openxmlformats.org/drawingml/2006/main">
              <a:ext uri="{FF2B5EF4-FFF2-40B4-BE49-F238E27FC236}">
                <a16:creationId xmlns:a16="http://schemas.microsoft.com/office/drawing/2014/main" id="{68E2CC74-3A92-47CC-AC0A-E8C0D061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08</a:t>
            </a:r>
          </a:p>
        </p:txBody>
      </p:sp>
      <p:sp>
        <p:nvSpPr>
          <p:cNvPr id="5" name="compare-head">
            <a:extLst xmlns:a="http://schemas.openxmlformats.org/drawingml/2006/main">
              <a:ext uri="{FF2B5EF4-FFF2-40B4-BE49-F238E27FC236}">
                <a16:creationId xmlns:a16="http://schemas.microsoft.com/office/drawing/2014/main" id="{55C1B7E3-058B-4E28-936D-D3C87441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1076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0">
            <a:solidFill>
              <a:srgbClr val="18212B"/>
            </a:solidFill>
            <a:prstDash val="solid"/>
          </a:ln>
        </p:spPr>
      </p:sp>
      <p:sp>
        <p:nvSpPr>
          <p:cNvPr id="6" name="compare-head-0">
            <a:extLst xmlns:a="http://schemas.openxmlformats.org/drawingml/2006/main">
              <a:ext uri="{FF2B5EF4-FFF2-40B4-BE49-F238E27FC236}">
                <a16:creationId xmlns:a16="http://schemas.microsoft.com/office/drawing/2014/main" id="{3F6B2709-683A-4914-9CFB-8744E4D4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能力点</a:t>
            </a:r>
          </a:p>
        </p:txBody>
      </p:sp>
      <p:sp>
        <p:nvSpPr>
          <p:cNvPr id="7" name="compare-head-1">
            <a:extLst xmlns:a="http://schemas.openxmlformats.org/drawingml/2006/main">
              <a:ext uri="{FF2B5EF4-FFF2-40B4-BE49-F238E27FC236}">
                <a16:creationId xmlns:a16="http://schemas.microsoft.com/office/drawing/2014/main" id="{8AC34883-35A8-4253-9901-F5AB3809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 Review</a:t>
            </a:r>
          </a:p>
        </p:txBody>
      </p:sp>
      <p:sp>
        <p:nvSpPr>
          <p:cNvPr id="8" name="compare-head-2">
            <a:extLst xmlns:a="http://schemas.openxmlformats.org/drawingml/2006/main">
              <a:ext uri="{FF2B5EF4-FFF2-40B4-BE49-F238E27FC236}">
                <a16:creationId xmlns:a16="http://schemas.microsoft.com/office/drawing/2014/main" id="{466677B4-FBCF-47A8-B7C8-4FA6E187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Dependabot</a:t>
            </a:r>
          </a:p>
        </p:txBody>
      </p:sp>
      <p:sp>
        <p:nvSpPr>
          <p:cNvPr id="9" name="compare-head-3">
            <a:extLst xmlns:a="http://schemas.openxmlformats.org/drawingml/2006/main">
              <a:ext uri="{FF2B5EF4-FFF2-40B4-BE49-F238E27FC236}">
                <a16:creationId xmlns:a16="http://schemas.microsoft.com/office/drawing/2014/main" id="{7CFA17E4-663A-4D8C-86AC-289FFD98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CodeQL</a:t>
            </a:r>
          </a:p>
        </p:txBody>
      </p:sp>
      <p:sp>
        <p:nvSpPr>
          <p:cNvPr id="10" name="compare-head-4">
            <a:extLst xmlns:a="http://schemas.openxmlformats.org/drawingml/2006/main">
              <a:ext uri="{FF2B5EF4-FFF2-40B4-BE49-F238E27FC236}">
                <a16:creationId xmlns:a16="http://schemas.microsoft.com/office/drawing/2014/main" id="{65EB6325-6944-4291-950E-CAE7D0B6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057400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ReproGuard</a:t>
            </a:r>
          </a:p>
        </p:txBody>
      </p:sp>
      <p:sp>
        <p:nvSpPr>
          <p:cNvPr id="11" name="compare-row-0">
            <a:extLst xmlns:a="http://schemas.openxmlformats.org/drawingml/2006/main">
              <a:ext uri="{FF2B5EF4-FFF2-40B4-BE49-F238E27FC236}">
                <a16:creationId xmlns:a16="http://schemas.microsoft.com/office/drawing/2014/main" id="{2B3F8665-9E7F-44FA-968F-8AA125BF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12" name="compare-0-0">
            <a:extLst xmlns:a="http://schemas.openxmlformats.org/drawingml/2006/main">
              <a:ext uri="{FF2B5EF4-FFF2-40B4-BE49-F238E27FC236}">
                <a16:creationId xmlns:a16="http://schemas.microsoft.com/office/drawing/2014/main" id="{3FBD5126-6ED5-4827-AC2B-DE21A31F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0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语法 / 风格</a:t>
            </a:r>
          </a:p>
        </p:txBody>
      </p:sp>
      <p:sp>
        <p:nvSpPr>
          <p:cNvPr id="13" name="compare-0-1">
            <a:extLst xmlns:a="http://schemas.openxmlformats.org/drawingml/2006/main">
              <a:ext uri="{FF2B5EF4-FFF2-40B4-BE49-F238E27FC236}">
                <a16:creationId xmlns:a16="http://schemas.microsoft.com/office/drawing/2014/main" id="{0815D07A-B6C5-4825-9304-3712BD60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14" name="compare-0-2">
            <a:extLst xmlns:a="http://schemas.openxmlformats.org/drawingml/2006/main">
              <a:ext uri="{FF2B5EF4-FFF2-40B4-BE49-F238E27FC236}">
                <a16:creationId xmlns:a16="http://schemas.microsoft.com/office/drawing/2014/main" id="{CDF3DBBB-C6F8-4574-B521-BF9E3C52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15" name="compare-0-3">
            <a:extLst xmlns:a="http://schemas.openxmlformats.org/drawingml/2006/main">
              <a:ext uri="{FF2B5EF4-FFF2-40B4-BE49-F238E27FC236}">
                <a16:creationId xmlns:a16="http://schemas.microsoft.com/office/drawing/2014/main" id="{1940CDEB-E8AA-4D3B-8A2C-219B091A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16" name="compare-0-4">
            <a:extLst xmlns:a="http://schemas.openxmlformats.org/drawingml/2006/main">
              <a:ext uri="{FF2B5EF4-FFF2-40B4-BE49-F238E27FC236}">
                <a16:creationId xmlns:a16="http://schemas.microsoft.com/office/drawing/2014/main" id="{BD1FD6CA-A12F-47E9-A2A4-AB1B6B64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600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17" name="compare-row-1">
            <a:extLst xmlns:a="http://schemas.openxmlformats.org/drawingml/2006/main">
              <a:ext uri="{FF2B5EF4-FFF2-40B4-BE49-F238E27FC236}">
                <a16:creationId xmlns:a16="http://schemas.microsoft.com/office/drawing/2014/main" id="{5B5C02C3-B28A-4369-B7DF-1AED7F3E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E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18" name="compare-1-0">
            <a:extLst xmlns:a="http://schemas.openxmlformats.org/drawingml/2006/main">
              <a:ext uri="{FF2B5EF4-FFF2-40B4-BE49-F238E27FC236}">
                <a16:creationId xmlns:a16="http://schemas.microsoft.com/office/drawing/2014/main" id="{506C0F3E-8574-46D4-9BFC-C2364A0E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718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依赖漏洞</a:t>
            </a:r>
          </a:p>
        </p:txBody>
      </p:sp>
      <p:sp>
        <p:nvSpPr>
          <p:cNvPr id="19" name="compare-1-1">
            <a:extLst xmlns:a="http://schemas.openxmlformats.org/drawingml/2006/main">
              <a:ext uri="{FF2B5EF4-FFF2-40B4-BE49-F238E27FC236}">
                <a16:creationId xmlns:a16="http://schemas.microsoft.com/office/drawing/2014/main" id="{C6772611-854D-49FF-A27A-3A2D2163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0" name="compare-1-2">
            <a:extLst xmlns:a="http://schemas.openxmlformats.org/drawingml/2006/main">
              <a:ext uri="{FF2B5EF4-FFF2-40B4-BE49-F238E27FC236}">
                <a16:creationId xmlns:a16="http://schemas.microsoft.com/office/drawing/2014/main" id="{859540F8-2C57-4B49-8D70-D3573232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21" name="compare-1-3">
            <a:extLst xmlns:a="http://schemas.openxmlformats.org/drawingml/2006/main">
              <a:ext uri="{FF2B5EF4-FFF2-40B4-BE49-F238E27FC236}">
                <a16:creationId xmlns:a16="http://schemas.microsoft.com/office/drawing/2014/main" id="{752D9AED-99A2-476F-927F-B0939E5C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2" name="compare-1-4">
            <a:extLst xmlns:a="http://schemas.openxmlformats.org/drawingml/2006/main">
              <a:ext uri="{FF2B5EF4-FFF2-40B4-BE49-F238E27FC236}">
                <a16:creationId xmlns:a16="http://schemas.microsoft.com/office/drawing/2014/main" id="{08768F97-5205-455D-9875-6A812EE0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1718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23" name="compare-row-2">
            <a:extLst xmlns:a="http://schemas.openxmlformats.org/drawingml/2006/main">
              <a:ext uri="{FF2B5EF4-FFF2-40B4-BE49-F238E27FC236}">
                <a16:creationId xmlns:a16="http://schemas.microsoft.com/office/drawing/2014/main" id="{F5978A2A-AD23-4979-A63B-C029D76A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24" name="compare-2-0">
            <a:extLst xmlns:a="http://schemas.openxmlformats.org/drawingml/2006/main">
              <a:ext uri="{FF2B5EF4-FFF2-40B4-BE49-F238E27FC236}">
                <a16:creationId xmlns:a16="http://schemas.microsoft.com/office/drawing/2014/main" id="{525AB071-3327-4573-83BF-E0E5BC9F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43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安全语义</a:t>
            </a:r>
          </a:p>
        </p:txBody>
      </p:sp>
      <p:sp>
        <p:nvSpPr>
          <p:cNvPr id="25" name="compare-2-1">
            <a:extLst xmlns:a="http://schemas.openxmlformats.org/drawingml/2006/main">
              <a:ext uri="{FF2B5EF4-FFF2-40B4-BE49-F238E27FC236}">
                <a16:creationId xmlns:a16="http://schemas.microsoft.com/office/drawing/2014/main" id="{81667EB7-79A3-4B51-A581-D38EEFAD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6" name="compare-2-2">
            <a:extLst xmlns:a="http://schemas.openxmlformats.org/drawingml/2006/main">
              <a:ext uri="{FF2B5EF4-FFF2-40B4-BE49-F238E27FC236}">
                <a16:creationId xmlns:a16="http://schemas.microsoft.com/office/drawing/2014/main" id="{727108A8-A927-4F21-83C0-DF8D9E1B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7" name="compare-2-3">
            <a:extLst xmlns:a="http://schemas.openxmlformats.org/drawingml/2006/main">
              <a:ext uri="{FF2B5EF4-FFF2-40B4-BE49-F238E27FC236}">
                <a16:creationId xmlns:a16="http://schemas.microsoft.com/office/drawing/2014/main" id="{6AAFB8AE-21B8-44C1-9330-CEE4756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28" name="compare-2-4">
            <a:extLst xmlns:a="http://schemas.openxmlformats.org/drawingml/2006/main">
              <a:ext uri="{FF2B5EF4-FFF2-40B4-BE49-F238E27FC236}">
                <a16:creationId xmlns:a16="http://schemas.microsoft.com/office/drawing/2014/main" id="{E5A5043A-C7F8-4B1A-A9B1-8A446336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743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29" name="compare-row-3">
            <a:extLst xmlns:a="http://schemas.openxmlformats.org/drawingml/2006/main">
              <a:ext uri="{FF2B5EF4-FFF2-40B4-BE49-F238E27FC236}">
                <a16:creationId xmlns:a16="http://schemas.microsoft.com/office/drawing/2014/main" id="{5711B849-F143-4EC6-B13C-A85AFB19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E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30" name="compare-3-0">
            <a:extLst xmlns:a="http://schemas.openxmlformats.org/drawingml/2006/main">
              <a:ext uri="{FF2B5EF4-FFF2-40B4-BE49-F238E27FC236}">
                <a16:creationId xmlns:a16="http://schemas.microsoft.com/office/drawing/2014/main" id="{29399649-C878-4D55-AA8C-726A29A6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148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实验参数漂移</a:t>
            </a:r>
          </a:p>
        </p:txBody>
      </p:sp>
      <p:sp>
        <p:nvSpPr>
          <p:cNvPr id="31" name="compare-3-1">
            <a:extLst xmlns:a="http://schemas.openxmlformats.org/drawingml/2006/main">
              <a:ext uri="{FF2B5EF4-FFF2-40B4-BE49-F238E27FC236}">
                <a16:creationId xmlns:a16="http://schemas.microsoft.com/office/drawing/2014/main" id="{626AE3C4-59ED-439A-961E-FEEDAEC0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2" name="compare-3-2">
            <a:extLst xmlns:a="http://schemas.openxmlformats.org/drawingml/2006/main">
              <a:ext uri="{FF2B5EF4-FFF2-40B4-BE49-F238E27FC236}">
                <a16:creationId xmlns:a16="http://schemas.microsoft.com/office/drawing/2014/main" id="{F30F0525-4081-4DD0-AB28-99B64060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3" name="compare-3-3">
            <a:extLst xmlns:a="http://schemas.openxmlformats.org/drawingml/2006/main">
              <a:ext uri="{FF2B5EF4-FFF2-40B4-BE49-F238E27FC236}">
                <a16:creationId xmlns:a16="http://schemas.microsoft.com/office/drawing/2014/main" id="{3B2263AE-245B-41A1-8AD4-D14ECDEF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4" name="compare-3-4">
            <a:extLst xmlns:a="http://schemas.openxmlformats.org/drawingml/2006/main">
              <a:ext uri="{FF2B5EF4-FFF2-40B4-BE49-F238E27FC236}">
                <a16:creationId xmlns:a16="http://schemas.microsoft.com/office/drawing/2014/main" id="{ED5EB2A1-3B7E-432B-B04C-6484CD3B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3148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✓</a:t>
            </a:r>
          </a:p>
        </p:txBody>
      </p:sp>
      <p:sp>
        <p:nvSpPr>
          <p:cNvPr id="35" name="compare-row-4">
            <a:extLst xmlns:a="http://schemas.openxmlformats.org/drawingml/2006/main">
              <a:ext uri="{FF2B5EF4-FFF2-40B4-BE49-F238E27FC236}">
                <a16:creationId xmlns:a16="http://schemas.microsoft.com/office/drawing/2014/main" id="{2A86A80A-4813-4226-B1E8-747D22A6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36" name="compare-4-0">
            <a:extLst xmlns:a="http://schemas.openxmlformats.org/drawingml/2006/main">
              <a:ext uri="{FF2B5EF4-FFF2-40B4-BE49-F238E27FC236}">
                <a16:creationId xmlns:a16="http://schemas.microsoft.com/office/drawing/2014/main" id="{12BD6426-B276-4983-903C-52AC6FCF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86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论文 / 协议对齐</a:t>
            </a:r>
          </a:p>
        </p:txBody>
      </p:sp>
      <p:sp>
        <p:nvSpPr>
          <p:cNvPr id="37" name="compare-4-1">
            <a:extLst xmlns:a="http://schemas.openxmlformats.org/drawingml/2006/main">
              <a:ext uri="{FF2B5EF4-FFF2-40B4-BE49-F238E27FC236}">
                <a16:creationId xmlns:a16="http://schemas.microsoft.com/office/drawing/2014/main" id="{091AC556-2B62-48D9-9257-826B6191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8" name="compare-4-2">
            <a:extLst xmlns:a="http://schemas.openxmlformats.org/drawingml/2006/main">
              <a:ext uri="{FF2B5EF4-FFF2-40B4-BE49-F238E27FC236}">
                <a16:creationId xmlns:a16="http://schemas.microsoft.com/office/drawing/2014/main" id="{ACEEDF84-A05A-49A9-B4A8-20BAF561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9" name="compare-4-3">
            <a:extLst xmlns:a="http://schemas.openxmlformats.org/drawingml/2006/main">
              <a:ext uri="{FF2B5EF4-FFF2-40B4-BE49-F238E27FC236}">
                <a16:creationId xmlns:a16="http://schemas.microsoft.com/office/drawing/2014/main" id="{9244F168-3654-4551-90EA-5C6F3E05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40" name="compare-4-4">
            <a:extLst xmlns:a="http://schemas.openxmlformats.org/drawingml/2006/main">
              <a:ext uri="{FF2B5EF4-FFF2-40B4-BE49-F238E27FC236}">
                <a16:creationId xmlns:a16="http://schemas.microsoft.com/office/drawing/2014/main" id="{5BAC0B5D-0DC0-43F2-9B66-C9665A1F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886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✓</a:t>
            </a:r>
          </a:p>
        </p:txBody>
      </p:sp>
      <p:sp>
        <p:nvSpPr>
          <p:cNvPr id="41" name="compare-takeaway-bg">
            <a:extLst xmlns:a="http://schemas.openxmlformats.org/drawingml/2006/main">
              <a:ext uri="{FF2B5EF4-FFF2-40B4-BE49-F238E27FC236}">
                <a16:creationId xmlns:a16="http://schemas.microsoft.com/office/drawing/2014/main" id="{9E210C06-C4EC-4BCD-BA5D-35B1A181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42" name="compare-takeaway">
            <a:extLst xmlns:a="http://schemas.openxmlformats.org/drawingml/2006/main">
              <a:ext uri="{FF2B5EF4-FFF2-40B4-BE49-F238E27FC236}">
                <a16:creationId xmlns:a16="http://schemas.microsoft.com/office/drawing/2014/main" id="{14A38B28-17E7-49B5-AC26-F0D4EF3F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959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5D7C"/>
                </a:solidFill>
              </a:defRPr>
            </a:pPr>
            <a:r>
              <a:rPr sz="1425" b="1">
                <a:solidFill>
                  <a:srgbClr val="2F5D7C"/>
                </a:solidFill>
              </a:rPr>
              <a:t>核心空白：把“科研复现条件”作为 PR 审查的一等对象。</a:t>
            </a:r>
          </a:p>
        </p:txBody>
      </p:sp>
    </p:spTree>
    <p:extLst>
      <p:ext uri="{BB962C8B-B14F-4D97-AF65-F5344CB8AC3E}">
        <p14:creationId xmlns:p14="http://schemas.microsoft.com/office/powerpoint/2010/main" val="21072421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kicker-9">
            <a:extLst xmlns:a="http://schemas.openxmlformats.org/drawingml/2006/main">
              <a:ext uri="{FF2B5EF4-FFF2-40B4-BE49-F238E27FC236}">
                <a16:creationId xmlns:a16="http://schemas.microsoft.com/office/drawing/2014/main" id="{5DA95D5A-8CB0-4625-A2BD-E1C1A0F3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AI 与开源融合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572444E7-72BC-4E9C-99C0-57472501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AI 只负责受约束的语义补充，规则与开放工作流负责可复核</a:t>
            </a:r>
          </a:p>
        </p:txBody>
      </p:sp>
      <p:sp>
        <p:nvSpPr>
          <p:cNvPr id="3" name="rule-9">
            <a:extLst xmlns:a="http://schemas.openxmlformats.org/drawingml/2006/main">
              <a:ext uri="{FF2B5EF4-FFF2-40B4-BE49-F238E27FC236}">
                <a16:creationId xmlns:a16="http://schemas.microsoft.com/office/drawing/2014/main" id="{51A6FAC4-9DB4-4A3D-83CD-A742A787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E44D87CB-53D7-48E3-85DF-FD2F5389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09</a:t>
            </a:r>
          </a:p>
        </p:txBody>
      </p:sp>
      <p:sp>
        <p:nvSpPr>
          <p:cNvPr id="5" name="ai-left-bg">
            <a:extLst xmlns:a="http://schemas.openxmlformats.org/drawingml/2006/main">
              <a:ext uri="{FF2B5EF4-FFF2-40B4-BE49-F238E27FC236}">
                <a16:creationId xmlns:a16="http://schemas.microsoft.com/office/drawing/2014/main" id="{521C66B7-9740-4F7D-8EE4-E6CC1895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572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6" name="ai-right-bg">
            <a:extLst xmlns:a="http://schemas.openxmlformats.org/drawingml/2006/main">
              <a:ext uri="{FF2B5EF4-FFF2-40B4-BE49-F238E27FC236}">
                <a16:creationId xmlns:a16="http://schemas.microsoft.com/office/drawing/2014/main" id="{18239307-7135-4F1C-B527-A3DBFB09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4572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7" name="ai-left-title">
            <a:extLst xmlns:a="http://schemas.openxmlformats.org/drawingml/2006/main">
              <a:ext uri="{FF2B5EF4-FFF2-40B4-BE49-F238E27FC236}">
                <a16:creationId xmlns:a16="http://schemas.microsoft.com/office/drawing/2014/main" id="{0F3BE3BE-AF5A-483A-8E35-5ED80EC9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3543F"/>
                </a:solidFill>
              </a:defRPr>
            </a:pPr>
            <a:r>
              <a:rPr sz="1950" b="1">
                <a:solidFill>
                  <a:srgbClr val="D3543F"/>
                </a:solidFill>
              </a:rPr>
              <a:t>确定性层</a:t>
            </a:r>
          </a:p>
        </p:txBody>
      </p:sp>
      <p:sp>
        <p:nvSpPr>
          <p:cNvPr id="8" name="ai-left">
            <a:extLst xmlns:a="http://schemas.openxmlformats.org/drawingml/2006/main">
              <a:ext uri="{FF2B5EF4-FFF2-40B4-BE49-F238E27FC236}">
                <a16:creationId xmlns:a16="http://schemas.microsoft.com/office/drawing/2014/main" id="{1E025EEE-DEDD-4484-81DD-9F5B6CAE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48000"/>
            <a:ext cx="38100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参数、随机性、依赖、数据处理、评价流程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规则可独立运行，不依赖模型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输出可重复，结论不可被模型覆盖</a:t>
            </a:r>
          </a:p>
        </p:txBody>
      </p:sp>
      <p:sp>
        <p:nvSpPr>
          <p:cNvPr id="9" name="ai-right-title">
            <a:extLst xmlns:a="http://schemas.openxmlformats.org/drawingml/2006/main">
              <a:ext uri="{FF2B5EF4-FFF2-40B4-BE49-F238E27FC236}">
                <a16:creationId xmlns:a16="http://schemas.microsoft.com/office/drawing/2014/main" id="{54C2B36D-2EA8-484F-A8C1-5773A7F5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8125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F5D7C"/>
                </a:solidFill>
              </a:defRPr>
            </a:pPr>
            <a:r>
              <a:rPr sz="1950" b="1">
                <a:solidFill>
                  <a:srgbClr val="2F5D7C"/>
                </a:solidFill>
              </a:rPr>
              <a:t>AI 语义层</a:t>
            </a:r>
          </a:p>
        </p:txBody>
      </p:sp>
      <p:sp>
        <p:nvSpPr>
          <p:cNvPr id="10" name="ai-right">
            <a:extLst xmlns:a="http://schemas.openxmlformats.org/drawingml/2006/main">
              <a:ext uri="{FF2B5EF4-FFF2-40B4-BE49-F238E27FC236}">
                <a16:creationId xmlns:a16="http://schemas.microsoft.com/office/drawing/2014/main" id="{F358624B-2F26-4D5A-8D7E-14083904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48000"/>
            <a:ext cx="38100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解释非结构化步骤和同义概念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只允许引用 D### / P### 来源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输出默认 needs_review</a:t>
            </a:r>
          </a:p>
        </p:txBody>
      </p:sp>
      <p:sp>
        <p:nvSpPr>
          <p:cNvPr id="11" name="ai-proof">
            <a:extLst xmlns:a="http://schemas.openxmlformats.org/drawingml/2006/main">
              <a:ext uri="{FF2B5EF4-FFF2-40B4-BE49-F238E27FC236}">
                <a16:creationId xmlns:a16="http://schemas.microsoft.com/office/drawing/2014/main" id="{FE127B3F-34DC-44D3-B636-2C5C5B99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D6B"/>
                </a:solidFill>
              </a:defRPr>
            </a:pPr>
            <a:r>
              <a:rPr sz="1500" b="1">
                <a:solidFill>
                  <a:srgbClr val="2F7D6B"/>
                </a:solidFill>
              </a:rPr>
              <a:t>开源载体：Composite Action · CLI · 网页原型 · Schema · 评测脚本</a:t>
            </a:r>
          </a:p>
        </p:txBody>
      </p:sp>
    </p:spTree>
    <p:extLst>
      <p:ext uri="{BB962C8B-B14F-4D97-AF65-F5344CB8AC3E}">
        <p14:creationId xmlns:p14="http://schemas.microsoft.com/office/powerpoint/2010/main" val="9168979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821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CD96520A-AAB6-4780-969A-79A923F6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1DED8"/>
                </a:solidFill>
              </a:defRPr>
            </a:pPr>
            <a:r>
              <a:rPr sz="1275" b="1">
                <a:solidFill>
                  <a:srgbClr val="F1DED8"/>
                </a:solidFill>
              </a:rPr>
              <a:t>REPROGUARD</a:t>
            </a:r>
          </a:p>
        </p:txBody>
      </p:sp>
      <p:sp>
        <p:nvSpPr>
          <p:cNvPr id="2" name="close-main">
            <a:extLst xmlns:a="http://schemas.openxmlformats.org/drawingml/2006/main">
              <a:ext uri="{FF2B5EF4-FFF2-40B4-BE49-F238E27FC236}">
                <a16:creationId xmlns:a16="http://schemas.microsoft.com/office/drawing/2014/main" id="{D90223C0-A00E-4C99-8E2D-5D7B98CF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933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让关键变化更早被看见，</a:t>
            </a:r>
          </a:p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让每个判断都有证据。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B4AEE01C-C7F4-4361-9D85-3FB87277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6667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9594FC01-4483-4E12-B293-AC8A4BFE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148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9E5DE"/>
                </a:solidFill>
              </a:defRPr>
            </a:pPr>
            <a:r>
              <a:rPr sz="1425">
                <a:solidFill>
                  <a:srgbClr val="E9E5DE"/>
                </a:solidFill>
              </a:rPr>
              <a:t>已完成：真实 PR 回放 · DeepSeek 真实调用 · 154 项测试 · @v1 跨仓库 Action 验证</a:t>
            </a:r>
          </a:p>
        </p:txBody>
      </p:sp>
      <p:sp>
        <p:nvSpPr>
          <p:cNvPr id="5" name="close-next">
            <a:extLst xmlns:a="http://schemas.openxmlformats.org/drawingml/2006/main">
              <a:ext uri="{FF2B5EF4-FFF2-40B4-BE49-F238E27FC236}">
                <a16:creationId xmlns:a16="http://schemas.microsoft.com/office/drawing/2014/main" id="{9B4C333C-078E-48A1-BA61-67655667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提交前人工确认：团队信息 · 最终 PPT/PDF · 演示视频 · 成果链接与开放范围</a:t>
            </a:r>
          </a:p>
        </p:txBody>
      </p:sp>
      <p:sp>
        <p:nvSpPr>
          <p:cNvPr id="6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B5F040F4-1E9E-4568-83DF-13CB1F64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7700"/>
            <a:ext cx="8763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52314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2026-10-29T11:51:49.4860000Z</dcterms:created>
  <dcterms:modified xsi:type="dcterms:W3CDTF">2026-10-29T11:51:49.4860000Z</dcterms:modified>
</coreProperties>
</file>