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13c8773d84828" /><Relationship Type="http://schemas.openxmlformats.org/officeDocument/2006/relationships/extended-properties" Target="/docProps/app.xml" Id="Rdfbc84dd6cab421c" /><Relationship Type="http://schemas.openxmlformats.org/officeDocument/2006/relationships/officeDocument" Target="/ppt/presentation.xml" Id="R05433130f101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d820db0364ac2"/>
  </p:sldMasterIdLst>
  <p:notesMasterIdLst>
    <p:notesMasterId xmlns:r="http://schemas.openxmlformats.org/officeDocument/2006/relationships" r:id="R349a375cdfec4c35"/>
  </p:notesMasterIdLst>
  <p:sldIdLst>
    <p:sldId xmlns:r="http://schemas.openxmlformats.org/officeDocument/2006/relationships" id="256" r:id="R0c201accdd1b412d"/>
    <p:sldId xmlns:r="http://schemas.openxmlformats.org/officeDocument/2006/relationships" id="257" r:id="R344870b6425d4657"/>
    <p:sldId xmlns:r="http://schemas.openxmlformats.org/officeDocument/2006/relationships" id="258" r:id="Reeeb87e5203c48dc"/>
    <p:sldId xmlns:r="http://schemas.openxmlformats.org/officeDocument/2006/relationships" id="259" r:id="R122e1af655094509"/>
    <p:sldId xmlns:r="http://schemas.openxmlformats.org/officeDocument/2006/relationships" id="260" r:id="Ra41cadf938c84cde"/>
    <p:sldId xmlns:r="http://schemas.openxmlformats.org/officeDocument/2006/relationships" id="261" r:id="Rc1913487ab6046bb"/>
    <p:sldId xmlns:r="http://schemas.openxmlformats.org/officeDocument/2006/relationships" id="262" r:id="R2d324411c3b048ac"/>
    <p:sldId xmlns:r="http://schemas.openxmlformats.org/officeDocument/2006/relationships" id="263" r:id="R75ff5e52821a42c2"/>
    <p:sldId xmlns:r="http://schemas.openxmlformats.org/officeDocument/2006/relationships" id="264" r:id="Rbe8d4967f1ca4bad"/>
    <p:sldId xmlns:r="http://schemas.openxmlformats.org/officeDocument/2006/relationships" id="265" r:id="Rb534a1df56e94f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fc0750d454178" /><Relationship Type="http://schemas.openxmlformats.org/officeDocument/2006/relationships/slideMaster" Target="/ppt/slideMasters/slideMaster1.xml" Id="Re96d820db0364ac2" /><Relationship Type="http://schemas.openxmlformats.org/officeDocument/2006/relationships/notesMaster" Target="/ppt/notesMasters/notesMaster1.xml" Id="R349a375cdfec4c35" /><Relationship Type="http://schemas.openxmlformats.org/officeDocument/2006/relationships/presProps" Target="/ppt/presProps.xml" Id="Rdc01336653584f73" /><Relationship Type="http://schemas.openxmlformats.org/officeDocument/2006/relationships/tableStyles" Target="/ppt/tableStyles.xml" Id="Ra559dbeea3264638" /><Relationship Type="http://schemas.openxmlformats.org/officeDocument/2006/relationships/slide" Target="/ppt/slides/slide1.xml" Id="R0c201accdd1b412d" /><Relationship Type="http://schemas.openxmlformats.org/officeDocument/2006/relationships/slide" Target="/ppt/slides/slide2.xml" Id="R344870b6425d4657" /><Relationship Type="http://schemas.openxmlformats.org/officeDocument/2006/relationships/slide" Target="/ppt/slides/slide3.xml" Id="Reeeb87e5203c48dc" /><Relationship Type="http://schemas.openxmlformats.org/officeDocument/2006/relationships/slide" Target="/ppt/slides/slide4.xml" Id="R122e1af655094509" /><Relationship Type="http://schemas.openxmlformats.org/officeDocument/2006/relationships/slide" Target="/ppt/slides/slide5.xml" Id="Ra41cadf938c84cde" /><Relationship Type="http://schemas.openxmlformats.org/officeDocument/2006/relationships/slide" Target="/ppt/slides/slide6.xml" Id="Rc1913487ab6046bb" /><Relationship Type="http://schemas.openxmlformats.org/officeDocument/2006/relationships/slide" Target="/ppt/slides/slide7.xml" Id="R2d324411c3b048ac" /><Relationship Type="http://schemas.openxmlformats.org/officeDocument/2006/relationships/slide" Target="/ppt/slides/slide8.xml" Id="R75ff5e52821a42c2" /><Relationship Type="http://schemas.openxmlformats.org/officeDocument/2006/relationships/slide" Target="/ppt/slides/slide9.xml" Id="Rbe8d4967f1ca4bad" /><Relationship Type="http://schemas.openxmlformats.org/officeDocument/2006/relationships/slide" Target="/ppt/slides/slide10.xml" Id="Rb534a1df56e9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894abc82f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b4c84fcf14ea1" /><Relationship Type="http://schemas.openxmlformats.org/officeDocument/2006/relationships/notesMaster" Target="/ppt/notesMasters/notesMaster1.xml" Id="R4744607ecb15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c5729974946d7" /><Relationship Type="http://schemas.openxmlformats.org/officeDocument/2006/relationships/notesMaster" Target="/ppt/notesMasters/notesMaster1.xml" Id="R49dbdde4fb3247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4cc59eadc4acd" /><Relationship Type="http://schemas.openxmlformats.org/officeDocument/2006/relationships/notesMaster" Target="/ppt/notesMasters/notesMaster1.xml" Id="R0f9c10a4414143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4ff5ba0d04b70" /><Relationship Type="http://schemas.openxmlformats.org/officeDocument/2006/relationships/notesMaster" Target="/ppt/notesMasters/notesMaster1.xml" Id="R1bfa1d0fdb2e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3807beb2a42dd" /><Relationship Type="http://schemas.openxmlformats.org/officeDocument/2006/relationships/notesMaster" Target="/ppt/notesMasters/notesMaster1.xml" Id="Re2a088e2f36d4e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903d301a4649d0" /><Relationship Type="http://schemas.openxmlformats.org/officeDocument/2006/relationships/notesMaster" Target="/ppt/notesMasters/notesMaster1.xml" Id="R955878ca0dba45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1b2c2bcef140cd" /><Relationship Type="http://schemas.openxmlformats.org/officeDocument/2006/relationships/notesMaster" Target="/ppt/notesMasters/notesMaster1.xml" Id="R8cc881827e4b41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d22b50bb63493e" /><Relationship Type="http://schemas.openxmlformats.org/officeDocument/2006/relationships/notesMaster" Target="/ppt/notesMasters/notesMaster1.xml" Id="R8a8cf9fa5b7940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77dbc4079c46ed" /><Relationship Type="http://schemas.openxmlformats.org/officeDocument/2006/relationships/notesMaster" Target="/ppt/notesMasters/notesMaster1.xml" Id="Rb385b85e9ac34d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1352b43f134490" /><Relationship Type="http://schemas.openxmlformats.org/officeDocument/2006/relationships/notesMaster" Target="/ppt/notesMasters/notesMaster1.xml" Id="Recd9386e7f89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positioning: D:/codex/proplem/科研复现体检员/docs/技术报告初稿.md</a:t>
            </a:r>
          </a:p>
          <a:p xmlns:a="http://schemas.openxmlformats.org/drawingml/2006/main">
            <a:r>
              <a:t>Competition direction: AI开发工具与开源协作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statement: D:/codex/proplem/科研复现体检员/docs/技术报告初稿.md, sections 1 and 3</a:t>
            </a:r>
          </a:p>
          <a:p xmlns:a="http://schemas.openxmlformats.org/drawingml/2006/main">
            <a:r>
              <a:t>GitHub Pull Request review scope: https://docs.github.com/en/pull-requests/collaborating-with-pull-requests/reviewing-changes-in-pull-requests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AI boundary: D:/codex/proplem/科研复现体检员/docs/技术报告初稿.md, sections 3-4</a:t>
            </a:r>
          </a:p>
          <a:p xmlns:a="http://schemas.openxmlformats.org/drawingml/2006/main">
            <a:r>
              <a:t>Source-ID constraint implementation described in D:/codex/proplem/科研复现体检员/README.md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Innovation claims and implementation scope: D:/codex/proplem/科研复现体检员/docs/技术报告初稿.md, sections 2-4</a:t>
            </a:r>
          </a:p>
          <a:p xmlns:a="http://schemas.openxmlformats.org/drawingml/2006/main">
            <a:r>
              <a:t>Open artifacts: D:/codex/proplem/科研复现体检员/docs/开源发布说明.md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Historical PR: https://github.com/milesial/Pytorch-UNet/pull/141</a:t>
            </a:r>
          </a:p>
          <a:p xmlns:a="http://schemas.openxmlformats.org/drawingml/2006/main">
            <a:r>
              <a:t>Replay source and fixed diff hash: D:/codex/proplem/科研复现体检员/data/cases/pytorch-unet-pr-141/source.md</a:t>
            </a:r>
          </a:p>
          <a:p xmlns:a="http://schemas.openxmlformats.org/drawingml/2006/main">
            <a:r>
              <a:t>Human review: D:/codex/proplem/科研复现体检员/data/cases/pytorch-unet-pr-141/human-review.md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D:/codex/proplem/reproguard-action-summary.png</a:t>
            </a:r>
          </a:p>
          <a:p xmlns:a="http://schemas.openxmlformats.org/drawingml/2006/main">
            <a:r>
              <a:t>Validation record: D:/codex/proplem/科研复现体检员/docs/在线Action验收记录.md</a:t>
            </a:r>
          </a:p>
          <a:p xmlns:a="http://schemas.openxmlformats.org/drawingml/2006/main">
            <a:r>
              <a:t>Private run URL: https://github.com/hm10629/reproguard/actions/runs/39933280765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Evaluation report: D:/codex/proplem/科研复现体检员/reports/evaluation-unet-pytorch.md</a:t>
            </a:r>
          </a:p>
          <a:p xmlns:a="http://schemas.openxmlformats.org/drawingml/2006/main">
            <a:r>
              <a:t>Test count and limitations: D:/codex/proplem/科研复现体检员/docs/技术报告初稿.md, sections 5 and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Comparison matrix and official references: D:/codex/proplem/科研复现体检员/docs/竞品与差异化对比.md</a:t>
            </a:r>
          </a:p>
          <a:p xmlns:a="http://schemas.openxmlformats.org/drawingml/2006/main">
            <a:r>
              <a:t>GitHub Review docs: https://docs.github.com/en/pull-requests/collaborating-with-pull-requests/reviewing-changes-in-pull-requests</a:t>
            </a:r>
          </a:p>
          <a:p xmlns:a="http://schemas.openxmlformats.org/drawingml/2006/main">
            <a:r>
              <a:t>Dependabot docs: https://docs.github.com/en/code-security/dependabot</a:t>
            </a:r>
          </a:p>
          <a:p xmlns:a="http://schemas.openxmlformats.org/drawingml/2006/main">
            <a:r>
              <a:t>CodeQL docs: https://codeql.github.com/docs/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Real model call: D:/codex/proplem/科研复现体检员/reports/ai-real-call.md</a:t>
            </a:r>
          </a:p>
          <a:p xmlns:a="http://schemas.openxmlformats.org/drawingml/2006/main">
            <a:r>
              <a:t>Human review: D:/codex/proplem/科研复现体检员/docs/AI真实调用人工复核.md</a:t>
            </a:r>
          </a:p>
          <a:p xmlns:a="http://schemas.openxmlformats.org/drawingml/2006/main">
            <a:r>
              <a:t>Open-source and third-party inventory: D:/codex/proplem/科研复现体检员/docs/开源及第三方资源使用清单.md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completion and remaining manual decisions: D:/codex/proplem/科研复现体检员/docs/发布检查清单.md</a:t>
            </a:r>
          </a:p>
          <a:p xmlns:a="http://schemas.openxmlformats.org/drawingml/2006/main">
            <a:r>
              <a:t>Private repository: https://github.com/hm10629/reproguard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ff9cc93d9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a29e307944a28" /><Relationship Type="http://schemas.openxmlformats.org/officeDocument/2006/relationships/slideLayout" Target="/ppt/slideLayouts/slideLayout1.xml" Id="R952102e4cda04b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102e4cda04b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7b888a32f4724" /><Relationship Type="http://schemas.openxmlformats.org/officeDocument/2006/relationships/notesSlide" Target="/ppt/notesSlides/notesSlide1.xml" Id="Reb3bff2c326d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99be00aef47f1" /><Relationship Type="http://schemas.openxmlformats.org/officeDocument/2006/relationships/notesSlide" Target="/ppt/notesSlides/notesSlide2.xml" Id="R05fcdddbbe29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94f3b464042c6" /><Relationship Type="http://schemas.openxmlformats.org/officeDocument/2006/relationships/notesSlide" Target="/ppt/notesSlides/notesSlide3.xml" Id="Rb432853cefda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bf36de8e4a32" /><Relationship Type="http://schemas.openxmlformats.org/officeDocument/2006/relationships/notesSlide" Target="/ppt/notesSlides/notesSlide4.xml" Id="R3e85d3203d8f4f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382c46a840f9" /><Relationship Type="http://schemas.openxmlformats.org/officeDocument/2006/relationships/notesSlide" Target="/ppt/notesSlides/notesSlide5.xml" Id="R6506ea1c671c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fabd3d3624c5e" /><Relationship Type="http://schemas.openxmlformats.org/officeDocument/2006/relationships/image" Target="/ppt/media/image.jpeg" Id="R0954c89c6d954524" /><Relationship Type="http://schemas.openxmlformats.org/officeDocument/2006/relationships/notesSlide" Target="/ppt/notesSlides/notesSlide6.xml" Id="Re8c7d257613b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17763caf04eae" /><Relationship Type="http://schemas.openxmlformats.org/officeDocument/2006/relationships/chart" Target="/ppt/slides/charts/chart1.xml" Id="R7ca52ed7172a410c" /><Relationship Type="http://schemas.openxmlformats.org/officeDocument/2006/relationships/notesSlide" Target="/ppt/notesSlides/notesSlide7.xml" Id="R687f42b9c42a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f0dbb192840a9" /><Relationship Type="http://schemas.openxmlformats.org/officeDocument/2006/relationships/notesSlide" Target="/ppt/notesSlides/notesSlide8.xml" Id="R7b1f5f97d758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7da293cf24c18" /><Relationship Type="http://schemas.openxmlformats.org/officeDocument/2006/relationships/notesSlide" Target="/ppt/notesSlides/notesSlide9.xml" Id="R46b14b588d3846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6cf91efe541db" /><Relationship Type="http://schemas.openxmlformats.org/officeDocument/2006/relationships/notesSlide" Target="/ppt/notesSlides/notesSlide10.xml" Id="Rbf0f6a62e2384c3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与人工标注一致</c:v>
          </c:tx>
          <c:spPr>
            <a:solidFill xmlns:a="http://schemas.openxmlformats.org/drawingml/2006/main">
              <a:srgbClr val="2E6FBD"/>
            </a:solidFill>
          </c:spPr>
          <c:cat>
            <c:strLit>
              <c:ptCount val="2"/>
              <c:pt idx="0">
                <c:v>基线</c:v>
              </c:pt>
              <c:pt idx="1">
                <c:v>规则改进后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7F8F6"/>
    </a:solidFill>
    <a:ln xmlns:a="http://schemas.openxmlformats.org/drawingml/2006/main" w="0">
      <a:solidFill>
        <a:srgbClr val="F7F8F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8D89A122-9C9A-4B7A-8698-E443ADC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AI + 开源 · 科研协作工具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77F84790-ABD0-4CD5-9B3B-9813EAA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90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ReproGuard</a:t>
            </a:r>
          </a:p>
          <a:p xmlns:a="http://schemas.openxmlformats.org/drawingml/2006/main">
            <a:pPr algn="l">
              <a:defRPr sz="6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复现守门人</a:t>
            </a:r>
          </a:p>
        </p:txBody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3057C704-D743-4480-AFF1-26B50A5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847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把论文与实验协议中的复现约束，带进 GitHub Pull Request</a:t>
            </a:r>
          </a:p>
        </p:txBody>
      </p:sp>
      <p:sp>
        <p:nvSpPr>
          <p:cNvPr id="4" name="accent-990-50">
            <a:extLst xmlns:a="http://schemas.openxmlformats.org/drawingml/2006/main">
              <a:ext uri="{FF2B5EF4-FFF2-40B4-BE49-F238E27FC236}">
                <a16:creationId xmlns:a16="http://schemas.microsoft.com/office/drawing/2014/main" id="{DD004155-E651-454B-A436-354D217B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"/>
            <a:ext cx="2000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5" name="title-team">
            <a:extLst xmlns:a="http://schemas.openxmlformats.org/drawingml/2006/main">
              <a:ext uri="{FF2B5EF4-FFF2-40B4-BE49-F238E27FC236}">
                <a16:creationId xmlns:a16="http://schemas.microsoft.com/office/drawing/2014/main" id="{3924C07C-39DA-4856-A0E9-DC90B81A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86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团队 / 学校 / 指导教师：待人工补充</a:t>
            </a:r>
          </a:p>
        </p:txBody>
      </p:sp>
    </p:spTree>
    <p:extLst>
      <p:ext uri="{BB962C8B-B14F-4D97-AF65-F5344CB8AC3E}">
        <p14:creationId xmlns:p14="http://schemas.microsoft.com/office/powerpoint/2010/main" val="205124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2">
            <a:extLst xmlns:a="http://schemas.openxmlformats.org/drawingml/2006/main">
              <a:ext uri="{FF2B5EF4-FFF2-40B4-BE49-F238E27FC236}">
                <a16:creationId xmlns:a16="http://schemas.microsoft.com/office/drawing/2014/main" id="{750F8A37-E919-426B-85C2-7E7F36E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问题与场景价值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F0090F9-AB75-4576-94A4-DCE3315C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普通代码审查看到了代码，却看不到复现条件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183B163F-CAAD-4CA6-8C99-BFAEC15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C03558B-E4AD-472C-9924-88FDFC5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AC7F19B7-4901-475B-ADAF-30A2118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论文 / 实验协议</a:t>
            </a:r>
          </a:p>
        </p:txBody>
      </p:sp>
      <p:sp>
        <p:nvSpPr>
          <p:cNvPr id="6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C03D2A23-F1C4-4C1D-A7B4-977E33D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batch size = 64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固定随机种子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验证集完整参与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指标定义与论文一致</a:t>
            </a:r>
          </a:p>
        </p:txBody>
      </p:sp>
      <p:sp>
        <p:nvSpPr>
          <p:cNvPr id="7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73D6E793-0D0B-40A9-AF82-67C3B53F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Pull Request</a:t>
            </a:r>
          </a:p>
        </p:txBody>
      </p:sp>
      <p:sp>
        <p:nvSpPr>
          <p:cNvPr id="8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29AF1C34-E5E8-4FF2-A070-40E4A6AC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参数改为 32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随机种子被删除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drop_last=True</a:t>
            </a:r>
          </a:p>
          <a:p xmlns:a="http://schemas.openxmlformats.org/drawingml/2006/main">
            <a:pPr algn="l">
              <a:def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评价公式发生变化</a:t>
            </a:r>
          </a:p>
        </p:txBody>
      </p:sp>
      <p:cxnSp>
        <p:nvCxnSpPr>
          <p:cNvPr id="20" name="broken-link"/>
          <p:cNvCxnSpPr/>
          <p:nvPr/>
        </p:nvCxnSpPr>
        <p:spPr>
          <a:xfrm xmlns:a="http://schemas.openxmlformats.org/drawingml/2006/main">
            <a:off x="5000625" y="33337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74634"/>
            </a:solidFill>
            <a:prstDash val="dash"/>
          </a:ln>
        </p:spPr>
      </p:cxnSp>
      <p:sp>
        <p:nvSpPr>
          <p:cNvPr id="10" name="problem-gap">
            <a:extLst xmlns:a="http://schemas.openxmlformats.org/drawingml/2006/main">
              <a:ext uri="{FF2B5EF4-FFF2-40B4-BE49-F238E27FC236}">
                <a16:creationId xmlns:a16="http://schemas.microsoft.com/office/drawing/2014/main" id="{745326D6-5FBE-4F20-8194-89C5DF8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缺少对应关系</a:t>
            </a:r>
          </a:p>
        </p:txBody>
      </p:sp>
      <p:sp>
        <p:nvSpPr>
          <p:cNvPr id="11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D2617122-7DC1-471D-A848-2013A3A3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ReproGuard 审查的是“这次变更是否改变复现路径”，不是代码风格。</a:t>
            </a:r>
          </a:p>
        </p:txBody>
      </p:sp>
    </p:spTree>
    <p:extLst>
      <p:ext uri="{BB962C8B-B14F-4D97-AF65-F5344CB8AC3E}">
        <p14:creationId xmlns:p14="http://schemas.microsoft.com/office/powerpoint/2010/main" val="433477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3">
            <a:extLst xmlns:a="http://schemas.openxmlformats.org/drawingml/2006/main">
              <a:ext uri="{FF2B5EF4-FFF2-40B4-BE49-F238E27FC236}">
                <a16:creationId xmlns:a16="http://schemas.microsoft.com/office/drawing/2014/main" id="{E8BB3C36-6ADF-4200-9B4C-3527A8A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7E5E736-2763-46FA-B979-F38B713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六步闭环把科研约束变成可核验的 PR 证据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6555CD3-0518-45AD-A541-10CCA5EE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403353E-61EB-44EF-971B-6C0548AF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3" name="flow-edge-0"/>
          <p:cNvCxnSpPr/>
          <p:nvPr/>
        </p:nvCxnSpPr>
        <p:spPr>
          <a:xfrm xmlns:a="http://schemas.openxmlformats.org/drawingml/2006/main">
            <a:off x="1733550" y="31908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3"/>
            </a:solidFill>
            <a:prstDash val="solid"/>
          </a:ln>
        </p:spPr>
      </p:cxnSp>
      <p:cxnSp>
        <p:nvCxnSpPr>
          <p:cNvPr id="34" name="flow-edge-1"/>
          <p:cNvCxnSpPr/>
          <p:nvPr/>
        </p:nvCxnSpPr>
        <p:spPr>
          <a:xfrm xmlns:a="http://schemas.openxmlformats.org/drawingml/2006/main">
            <a:off x="3590925" y="31908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3"/>
            </a:solidFill>
            <a:prstDash val="solid"/>
          </a:ln>
        </p:spPr>
      </p:cxnSp>
      <p:cxnSp>
        <p:nvCxnSpPr>
          <p:cNvPr id="35" name="flow-edge-2"/>
          <p:cNvCxnSpPr/>
          <p:nvPr/>
        </p:nvCxnSpPr>
        <p:spPr>
          <a:xfrm xmlns:a="http://schemas.openxmlformats.org/drawingml/2006/main">
            <a:off x="5448300" y="31908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3"/>
            </a:solidFill>
            <a:prstDash val="solid"/>
          </a:ln>
        </p:spPr>
      </p:cxnSp>
      <p:cxnSp>
        <p:nvCxnSpPr>
          <p:cNvPr id="36" name="flow-edge-3"/>
          <p:cNvCxnSpPr/>
          <p:nvPr/>
        </p:nvCxnSpPr>
        <p:spPr>
          <a:xfrm xmlns:a="http://schemas.openxmlformats.org/drawingml/2006/main">
            <a:off x="7305675" y="31908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3"/>
            </a:solidFill>
            <a:prstDash val="solid"/>
          </a:ln>
        </p:spPr>
      </p:cxnSp>
      <p:cxnSp>
        <p:nvCxnSpPr>
          <p:cNvPr id="37" name="flow-edge-4"/>
          <p:cNvCxnSpPr/>
          <p:nvPr/>
        </p:nvCxnSpPr>
        <p:spPr>
          <a:xfrm xmlns:a="http://schemas.openxmlformats.org/drawingml/2006/main">
            <a:off x="9163050" y="31908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3"/>
            </a:solidFill>
            <a:prstDash val="solid"/>
          </a:ln>
        </p:spPr>
      </p:cxnSp>
      <p:sp>
        <p:nvSpPr>
          <p:cNvPr id="10" name="flow-node-0">
            <a:extLst xmlns:a="http://schemas.openxmlformats.org/drawingml/2006/main">
              <a:ext uri="{FF2B5EF4-FFF2-40B4-BE49-F238E27FC236}">
                <a16:creationId xmlns:a16="http://schemas.microsoft.com/office/drawing/2014/main" id="{219C9FEC-0FDB-4F11-A64D-E873662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1" name="flow-num-0">
            <a:extLst xmlns:a="http://schemas.openxmlformats.org/drawingml/2006/main">
              <a:ext uri="{FF2B5EF4-FFF2-40B4-BE49-F238E27FC236}">
                <a16:creationId xmlns:a16="http://schemas.microsoft.com/office/drawing/2014/main" id="{8DD40F2A-9019-4883-9F63-13C0E964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70785849-7D6B-44F1-9A50-462B2E90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读取 PR diff</a:t>
            </a:r>
          </a:p>
        </p:txBody>
      </p:sp>
      <p:sp>
        <p:nvSpPr>
          <p:cNvPr id="13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22BC374-FEBA-42E7-AD1E-FAB31F67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4" name="flow-num-1">
            <a:extLst xmlns:a="http://schemas.openxmlformats.org/drawingml/2006/main">
              <a:ext uri="{FF2B5EF4-FFF2-40B4-BE49-F238E27FC236}">
                <a16:creationId xmlns:a16="http://schemas.microsoft.com/office/drawing/2014/main" id="{690575E6-3CDF-4A24-A53E-4DCB51AA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BA60B87-CC4F-4A8C-AFF5-375BAB4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解析论文 / 协议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FEFEA9F-3AC8-4818-8B99-9D2350C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1DEE9ADA-1439-43B9-A7F9-3F19C61D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6E899F16-08D3-4743-B92A-74506E83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规则检测变更</a:t>
            </a:r>
          </a:p>
        </p:txBody>
      </p:sp>
      <p:sp>
        <p:nvSpPr>
          <p:cNvPr id="19" name="flow-node-3">
            <a:extLst xmlns:a="http://schemas.openxmlformats.org/drawingml/2006/main">
              <a:ext uri="{FF2B5EF4-FFF2-40B4-BE49-F238E27FC236}">
                <a16:creationId xmlns:a16="http://schemas.microsoft.com/office/drawing/2014/main" id="{F049D749-D406-4018-A43C-0A57BFE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CE9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0" name="flow-num-3">
            <a:extLst xmlns:a="http://schemas.openxmlformats.org/drawingml/2006/main">
              <a:ext uri="{FF2B5EF4-FFF2-40B4-BE49-F238E27FC236}">
                <a16:creationId xmlns:a16="http://schemas.microsoft.com/office/drawing/2014/main" id="{BB784205-7DAA-4EC5-96D4-ACF6E01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AAC7005F-D444-488B-A8A8-8CAE9393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 补充语义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5EA3E144-E33B-4EF3-AAEC-A31A771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flow-num-4">
            <a:extLst xmlns:a="http://schemas.openxmlformats.org/drawingml/2006/main">
              <a:ext uri="{FF2B5EF4-FFF2-40B4-BE49-F238E27FC236}">
                <a16:creationId xmlns:a16="http://schemas.microsoft.com/office/drawing/2014/main" id="{C86B2543-617A-49DA-9C07-2A7EA3B9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4E3DC964-5123-4728-BA44-451BCFA8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绑定双向证据</a:t>
            </a:r>
          </a:p>
        </p:txBody>
      </p:sp>
      <p:sp>
        <p:nvSpPr>
          <p:cNvPr id="25" name="flow-node-5">
            <a:extLst xmlns:a="http://schemas.openxmlformats.org/drawingml/2006/main">
              <a:ext uri="{FF2B5EF4-FFF2-40B4-BE49-F238E27FC236}">
                <a16:creationId xmlns:a16="http://schemas.microsoft.com/office/drawing/2014/main" id="{41CD971B-D6A1-41AB-AEFC-B8E13462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6" name="flow-num-5">
            <a:extLst xmlns:a="http://schemas.openxmlformats.org/drawingml/2006/main">
              <a:ext uri="{FF2B5EF4-FFF2-40B4-BE49-F238E27FC236}">
                <a16:creationId xmlns:a16="http://schemas.microsoft.com/office/drawing/2014/main" id="{4E2FC4AC-D8AF-4116-BCEF-FD2CA0F6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67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69012D4A-28F5-401A-8335-12B0E0F6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143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维护者确认</a:t>
            </a:r>
          </a:p>
        </p:txBody>
      </p:sp>
      <p:sp>
        <p:nvSpPr>
          <p:cNvPr id="28" name="flow-boundary">
            <a:extLst xmlns:a="http://schemas.openxmlformats.org/drawingml/2006/main">
              <a:ext uri="{FF2B5EF4-FFF2-40B4-BE49-F238E27FC236}">
                <a16:creationId xmlns:a16="http://schemas.microsoft.com/office/drawing/2014/main" id="{F62349BC-DA9C-4BF1-9571-A130914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规则结论是权威层；模型只引用系统提供的 D### / P### 来源，所有科研风险默认等待人工确认。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558155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53B7E7A9-EC1E-4E97-B97A-89DE0BF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7324ED0-A85F-4DE7-AAC7-6356986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创新不在“再做一个审查器”，而在审查对象和证据结构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9E909E6A-178B-4C73-8BF6-39A1F9A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6274B83-2CB0-42A2-931C-DF03B8E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ccent-72-220">
            <a:extLst xmlns:a="http://schemas.openxmlformats.org/drawingml/2006/main">
              <a:ext uri="{FF2B5EF4-FFF2-40B4-BE49-F238E27FC236}">
                <a16:creationId xmlns:a16="http://schemas.microsoft.com/office/drawing/2014/main" id="{6893429A-AF39-40B1-B6A1-122DDFFA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D"/>
          </a:solidFill>
          <a:ln xmlns:a="http://schemas.openxmlformats.org/drawingml/2006/main" w="0">
            <a:solidFill>
              <a:srgbClr val="2E6FBD"/>
            </a:solidFill>
            <a:prstDash val="solid"/>
          </a:ln>
        </p:spPr>
      </p:sp>
      <p:sp>
        <p:nvSpPr>
          <p:cNvPr id="6" name="innovation-title-0">
            <a:extLst xmlns:a="http://schemas.openxmlformats.org/drawingml/2006/main">
              <a:ext uri="{FF2B5EF4-FFF2-40B4-BE49-F238E27FC236}">
                <a16:creationId xmlns:a16="http://schemas.microsoft.com/office/drawing/2014/main" id="{D881092E-4D31-4A8D-8F74-0717536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研究约束对齐</a:t>
            </a:r>
          </a:p>
        </p:txBody>
      </p:sp>
      <p:sp>
        <p:nvSpPr>
          <p:cNvPr id="7" name="innovation-body-0">
            <a:extLst xmlns:a="http://schemas.openxmlformats.org/drawingml/2006/main">
              <a:ext uri="{FF2B5EF4-FFF2-40B4-BE49-F238E27FC236}">
                <a16:creationId xmlns:a16="http://schemas.microsoft.com/office/drawing/2014/main" id="{3AF2BE0A-16A1-43CA-99FA-96F1F42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把论文页码、协议字段与代码变更放进同一条审查链。</a:t>
            </a:r>
          </a:p>
        </p:txBody>
      </p:sp>
      <p:sp>
        <p:nvSpPr>
          <p:cNvPr id="8" name="accent-448-220">
            <a:extLst xmlns:a="http://schemas.openxmlformats.org/drawingml/2006/main">
              <a:ext uri="{FF2B5EF4-FFF2-40B4-BE49-F238E27FC236}">
                <a16:creationId xmlns:a16="http://schemas.microsoft.com/office/drawing/2014/main" id="{10E1E917-9FD1-46D2-BCCE-99C1507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9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481F1767-FC78-4136-AB5C-F8B670F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241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权限隔离</a:t>
            </a:r>
          </a:p>
        </p:txBody>
      </p:sp>
      <p:sp>
        <p:nvSpPr>
          <p:cNvPr id="10" name="innovation-body-1">
            <a:extLst xmlns:a="http://schemas.openxmlformats.org/drawingml/2006/main">
              <a:ext uri="{FF2B5EF4-FFF2-40B4-BE49-F238E27FC236}">
                <a16:creationId xmlns:a16="http://schemas.microsoft.com/office/drawing/2014/main" id="{DE6BDD8E-8BD8-4F88-8326-FAD1EDD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确定性规则不可被模型覆盖；无效来源引用直接丢弃。</a:t>
            </a:r>
          </a:p>
        </p:txBody>
      </p:sp>
      <p:sp>
        <p:nvSpPr>
          <p:cNvPr id="11" name="accent-824-220">
            <a:extLst xmlns:a="http://schemas.openxmlformats.org/drawingml/2006/main">
              <a:ext uri="{FF2B5EF4-FFF2-40B4-BE49-F238E27FC236}">
                <a16:creationId xmlns:a16="http://schemas.microsoft.com/office/drawing/2014/main" id="{8542D0AC-EE1F-4AF4-9525-4657DFA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solidFill>
              <a:srgbClr val="16877A"/>
            </a:solidFill>
            <a:prstDash val="solid"/>
          </a:ln>
        </p:spPr>
      </p:sp>
      <p:sp>
        <p:nvSpPr>
          <p:cNvPr id="12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5095551A-3683-4125-96F9-F0A577E4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可复核输出</a:t>
            </a:r>
          </a:p>
        </p:txBody>
      </p:sp>
      <p:sp>
        <p:nvSpPr>
          <p:cNvPr id="13" name="innovation-body-2">
            <a:extLst xmlns:a="http://schemas.openxmlformats.org/drawingml/2006/main">
              <a:ext uri="{FF2B5EF4-FFF2-40B4-BE49-F238E27FC236}">
                <a16:creationId xmlns:a16="http://schemas.microsoft.com/office/drawing/2014/main" id="{29E4B1D9-69AD-46CE-9AC4-676BEA6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86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每条风险绑定 diff 行号、来源位置、建议和人工状态。</a:t>
            </a:r>
          </a:p>
        </p:txBody>
      </p:sp>
      <p:sp>
        <p:nvSpPr>
          <p:cNvPr id="14" name="innovation-bottom">
            <a:extLst xmlns:a="http://schemas.openxmlformats.org/drawingml/2006/main">
              <a:ext uri="{FF2B5EF4-FFF2-40B4-BE49-F238E27FC236}">
                <a16:creationId xmlns:a16="http://schemas.microsoft.com/office/drawing/2014/main" id="{0C797294-C958-4D6D-ACAE-8967EA14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产品形态：GitHub 复合 Action + CLI + 网页原型 + 开放 Schema + 评测脚本</a:t>
            </a:r>
          </a:p>
        </p:txBody>
      </p:sp>
    </p:spTree>
    <p:extLst>
      <p:ext uri="{BB962C8B-B14F-4D97-AF65-F5344CB8AC3E}">
        <p14:creationId xmlns:p14="http://schemas.microsoft.com/office/powerpoint/2010/main" val="327389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A1D2219F-50A7-49CF-A4F5-0C92CF86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真实案例 · Pytorch-UNet PR #141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05677F-63F6-4A16-9243-6869A6EB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真实历史 PR 回放发现了 3 个需复核的复现风险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3C85B49D-AA35-4FA9-9F75-56044CD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21AAB81-0513-4BEE-8BB2-781F448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ase-fact">
            <a:extLst xmlns:a="http://schemas.openxmlformats.org/drawingml/2006/main">
              <a:ext uri="{FF2B5EF4-FFF2-40B4-BE49-F238E27FC236}">
                <a16:creationId xmlns:a16="http://schemas.microsoft.com/office/drawing/2014/main" id="{96ACD9ED-B83C-4BEF-B78A-4594A6C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2020 年已合并 PR · 完整 diff 哈希固定 · 不声称上游修改错误</a:t>
            </a:r>
          </a:p>
        </p:txBody>
      </p:sp>
      <p:sp>
        <p:nvSpPr>
          <p:cNvPr id="6" name="case-num-0">
            <a:extLst xmlns:a="http://schemas.openxmlformats.org/drawingml/2006/main">
              <a:ext uri="{FF2B5EF4-FFF2-40B4-BE49-F238E27FC236}">
                <a16:creationId xmlns:a16="http://schemas.microsoft.com/office/drawing/2014/main" id="{A0365FEC-55F6-498E-83EF-4D07437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ase-title-0">
            <a:extLst xmlns:a="http://schemas.openxmlformats.org/drawingml/2006/main">
              <a:ext uri="{FF2B5EF4-FFF2-40B4-BE49-F238E27FC236}">
                <a16:creationId xmlns:a16="http://schemas.microsoft.com/office/drawing/2014/main" id="{206C83B5-B275-4181-9861-5BC26636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5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评价分母变化</a:t>
            </a:r>
          </a:p>
        </p:txBody>
      </p:sp>
      <p:sp>
        <p:nvSpPr>
          <p:cNvPr id="8" name="case-body-0">
            <a:extLst xmlns:a="http://schemas.openxmlformats.org/drawingml/2006/main">
              <a:ext uri="{FF2B5EF4-FFF2-40B4-BE49-F238E27FC236}">
                <a16:creationId xmlns:a16="http://schemas.microsoft.com/office/drawing/2014/main" id="{9606465D-0062-4C96-89EC-F91112F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n_val = len(loader) 后以批次数归一化，需核对论文与测试口径。</a:t>
            </a:r>
          </a:p>
        </p:txBody>
      </p:sp>
      <p:sp>
        <p:nvSpPr>
          <p:cNvPr id="9" name="accent-78-348">
            <a:extLst xmlns:a="http://schemas.openxmlformats.org/drawingml/2006/main">
              <a:ext uri="{FF2B5EF4-FFF2-40B4-BE49-F238E27FC236}">
                <a16:creationId xmlns:a16="http://schemas.microsoft.com/office/drawing/2014/main" id="{C637F54D-9E3E-4F13-BF1C-A2AAF7B7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0" name="case-num-1">
            <a:extLst xmlns:a="http://schemas.openxmlformats.org/drawingml/2006/main">
              <a:ext uri="{FF2B5EF4-FFF2-40B4-BE49-F238E27FC236}">
                <a16:creationId xmlns:a16="http://schemas.microsoft.com/office/drawing/2014/main" id="{DC758D87-BB1A-4188-A2BA-C4BB97C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361EFFE5-3260-4A48-8405-3393C31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评价流程变化</a:t>
            </a:r>
          </a:p>
        </p:txBody>
      </p:sp>
      <p:sp>
        <p:nvSpPr>
          <p:cNvPr id="12" name="case-body-1">
            <a:extLst xmlns:a="http://schemas.openxmlformats.org/drawingml/2006/main">
              <a:ext uri="{FF2B5EF4-FFF2-40B4-BE49-F238E27FC236}">
                <a16:creationId xmlns:a16="http://schemas.microsoft.com/office/drawing/2014/main" id="{302F605B-1224-4C59-BB0C-DB7EC78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0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Sigmoid、Dice 与交叉熵相关路径变化，需确认指标定义同步。</a:t>
            </a:r>
          </a:p>
        </p:txBody>
      </p:sp>
      <p:sp>
        <p:nvSpPr>
          <p:cNvPr id="13" name="accent-78-463">
            <a:extLst xmlns:a="http://schemas.openxmlformats.org/drawingml/2006/main">
              <a:ext uri="{FF2B5EF4-FFF2-40B4-BE49-F238E27FC236}">
                <a16:creationId xmlns:a16="http://schemas.microsoft.com/office/drawing/2014/main" id="{D77BB237-A82B-414A-81CF-57B49065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4" name="case-num-2">
            <a:extLst xmlns:a="http://schemas.openxmlformats.org/drawingml/2006/main">
              <a:ext uri="{FF2B5EF4-FFF2-40B4-BE49-F238E27FC236}">
                <a16:creationId xmlns:a16="http://schemas.microsoft.com/office/drawing/2014/main" id="{4FEB24BF-F798-4718-94D2-F639BA56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040C0D79-941A-48F6-8E13-4D83DAC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验证样本范围变化</a:t>
            </a:r>
          </a:p>
        </p:txBody>
      </p:sp>
      <p:sp>
        <p:nvSpPr>
          <p:cNvPr id="16" name="case-body-2">
            <a:extLst xmlns:a="http://schemas.openxmlformats.org/drawingml/2006/main">
              <a:ext uri="{FF2B5EF4-FFF2-40B4-BE49-F238E27FC236}">
                <a16:creationId xmlns:a16="http://schemas.microsoft.com/office/drawing/2014/main" id="{1D5EEA4B-A9F1-457F-8A68-A3AF6291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drop_last=True 可能排除最后一个不完整批次。</a:t>
            </a:r>
          </a:p>
        </p:txBody>
      </p:sp>
    </p:spTree>
    <p:extLst>
      <p:ext uri="{BB962C8B-B14F-4D97-AF65-F5344CB8AC3E}">
        <p14:creationId xmlns:p14="http://schemas.microsoft.com/office/powerpoint/2010/main" val="1390172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6">
            <a:extLst xmlns:a="http://schemas.openxmlformats.org/drawingml/2006/main">
              <a:ext uri="{FF2B5EF4-FFF2-40B4-BE49-F238E27FC236}">
                <a16:creationId xmlns:a16="http://schemas.microsoft.com/office/drawing/2014/main" id="{C878A586-75F7-473A-9519-63E250A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实现完成度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8D96DCC-A03C-4C02-B826-34A44C8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私有仓库在线验收已经跑通完整 Action 链路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9449089B-1A11-4CD0-A0DE-EC94D5E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C46CD9A2-07E8-4148-BA80-9C8B3CE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action-shot-frame">
            <a:extLst xmlns:a="http://schemas.openxmlformats.org/drawingml/2006/main">
              <a:ext uri="{FF2B5EF4-FFF2-40B4-BE49-F238E27FC236}">
                <a16:creationId xmlns:a16="http://schemas.microsoft.com/office/drawing/2014/main" id="{AB6AB5F9-912A-4DD7-BBB0-7EC0161E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4c89c6d954524"/>
          <a:stretch xmlns:a="http://schemas.openxmlformats.org/drawingml/2006/main"/>
        </p:blipFill>
        <p:spPr>
          <a:xfrm xmlns:a="http://schemas.openxmlformats.org/drawingml/2006/main">
            <a:off x="1316711" y="1905000"/>
            <a:ext cx="2795827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action-proof-title">
            <a:extLst xmlns:a="http://schemas.openxmlformats.org/drawingml/2006/main">
              <a:ext uri="{FF2B5EF4-FFF2-40B4-BE49-F238E27FC236}">
                <a16:creationId xmlns:a16="http://schemas.microsoft.com/office/drawing/2014/main" id="{94C9DE26-AB28-47CA-8CEF-6105B2A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 #1 · Run 39933280765</a:t>
            </a:r>
          </a:p>
        </p:txBody>
      </p:sp>
      <p:sp>
        <p:nvSpPr>
          <p:cNvPr id="8" name="action-proof-list">
            <a:extLst xmlns:a="http://schemas.openxmlformats.org/drawingml/2006/main">
              <a:ext uri="{FF2B5EF4-FFF2-40B4-BE49-F238E27FC236}">
                <a16:creationId xmlns:a16="http://schemas.microsoft.com/office/drawing/2014/main" id="{3E68761E-8242-4063-B6A3-AEAFCCC1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9875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行级 warning 精确定位 train.py:10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Job Summary 显示 1 项中风险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同一条 PR 评论被更新，无重复刷屏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JSON / Markdown artifact 上传成功</a:t>
            </a:r>
          </a:p>
        </p:txBody>
      </p:sp>
      <p:sp>
        <p:nvSpPr>
          <p:cNvPr id="9" name="action-proof-boundary">
            <a:extLst xmlns:a="http://schemas.openxmlformats.org/drawingml/2006/main">
              <a:ext uri="{FF2B5EF4-FFF2-40B4-BE49-F238E27FC236}">
                <a16:creationId xmlns:a16="http://schemas.microsoft.com/office/drawing/2014/main" id="{324BE03D-372F-450D-98C3-41B7345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8637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0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当前为 uses: ./ 同仓库验收；v1 与跨仓库调用待公开后验证。</a:t>
            </a:r>
          </a:p>
        </p:txBody>
      </p:sp>
    </p:spTree>
    <p:extLst>
      <p:ext uri="{BB962C8B-B14F-4D97-AF65-F5344CB8AC3E}">
        <p14:creationId xmlns:p14="http://schemas.microsoft.com/office/powerpoint/2010/main" val="964653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7">
            <a:extLst xmlns:a="http://schemas.openxmlformats.org/drawingml/2006/main">
              <a:ext uri="{FF2B5EF4-FFF2-40B4-BE49-F238E27FC236}">
                <a16:creationId xmlns:a16="http://schemas.microsoft.com/office/drawing/2014/main" id="{D0709584-319D-4DF9-BD9C-B5605B88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可验证效果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7A43472-7055-4278-8318-611A829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评测保留了失败过程，而不是只展示最终数字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60AE4D3A-6C3B-42D7-8776-E532F506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80CCE1F3-B290-4EA7-AC34-85EFB552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14375" y="1952625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a52ed7172a410c"/>
          </a:graphicData>
        </a:graphic>
      </p:graphicFrame>
      <p:sp>
        <p:nvSpPr>
          <p:cNvPr id="6" name="evaluation-stat">
            <a:extLst xmlns:a="http://schemas.openxmlformats.org/drawingml/2006/main">
              <a:ext uri="{FF2B5EF4-FFF2-40B4-BE49-F238E27FC236}">
                <a16:creationId xmlns:a16="http://schemas.microsoft.com/office/drawing/2014/main" id="{529B9A7F-4081-4515-95D8-5F5834E4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168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877A"/>
                </a:solidFill>
                <a:latin typeface="Microsoft YaHei"/>
                <a:ea typeface="Microsoft YaHei"/>
                <a:cs typeface="Microsoft YaHei"/>
              </a:rPr>
              <a:t>154</a:t>
            </a:r>
          </a:p>
        </p:txBody>
      </p:sp>
      <p:sp>
        <p:nvSpPr>
          <p:cNvPr id="7" name="evaluation-stat-label">
            <a:extLst xmlns:a="http://schemas.openxmlformats.org/drawingml/2006/main">
              <a:ext uri="{FF2B5EF4-FFF2-40B4-BE49-F238E27FC236}">
                <a16:creationId xmlns:a16="http://schemas.microsoft.com/office/drawing/2014/main" id="{D5B8268F-D8AB-4FDA-9B47-94C745BF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项自动化测试全部通过</a:t>
            </a:r>
          </a:p>
        </p:txBody>
      </p:sp>
      <p:sp>
        <p:nvSpPr>
          <p:cNvPr id="8" name="evaluation-caveat">
            <a:extLst xmlns:a="http://schemas.openxmlformats.org/drawingml/2006/main">
              <a:ext uri="{FF2B5EF4-FFF2-40B4-BE49-F238E27FC236}">
                <a16:creationId xmlns:a16="http://schemas.microsoft.com/office/drawing/2014/main" id="{E9102D06-F5E5-4FAA-AB32-F0D1E5D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边界：同一项目、同一组修正规则样本，6 条均为正类；6/6 不代表整体准确率 100%。</a:t>
            </a:r>
          </a:p>
        </p:txBody>
      </p:sp>
    </p:spTree>
    <p:extLst>
      <p:ext uri="{BB962C8B-B14F-4D97-AF65-F5344CB8AC3E}">
        <p14:creationId xmlns:p14="http://schemas.microsoft.com/office/powerpoint/2010/main" val="887850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8">
            <a:extLst xmlns:a="http://schemas.openxmlformats.org/drawingml/2006/main">
              <a:ext uri="{FF2B5EF4-FFF2-40B4-BE49-F238E27FC236}">
                <a16:creationId xmlns:a16="http://schemas.microsoft.com/office/drawing/2014/main" id="{11A7368E-3B01-485D-A515-E47DF47C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4A57B41-F342-4816-8E2B-71240C98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现有工具审查代码；ReproGuard 审查研究约束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ABA8662F-D622-4FAD-BA34-C6C1277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649B431-5083-47A8-87B4-2B2EF45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1952625"/>
                <a:gridCol w="1952625"/>
                <a:gridCol w="1714500"/>
                <a:gridCol w="219075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Review</a:t>
                      </a:r>
                    </a:p>
                  </a:txBody>
                  <a:tcPr marL="91440" marR="91440" marT="45720" marB="45720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Dependabot</a:t>
                      </a:r>
                    </a:p>
                  </a:txBody>
                  <a:tcPr marL="91440" marR="91440" marT="45720" marB="45720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CodeQL</a:t>
                      </a:r>
                    </a:p>
                  </a:txBody>
                  <a:tcPr marL="91440" marR="91440" marT="45720" marB="45720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ReproGuard</a:t>
                      </a:r>
                    </a:p>
                  </a:txBody>
                  <a:tcPr marL="91440" marR="91440" marT="45720" marB="45720">
                    <a:solidFill>
                      <a:srgbClr val="1721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通用代码评审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安全风险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协议约束对齐</a:t>
                      </a:r>
                    </a:p>
                  </a:txBody>
                  <a:tcPr marL="91440" marR="91440" marT="45720" marB="45720">
                    <a:solidFill>
                      <a:srgbClr val="F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8ECE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diff 行号 + 来源位置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双向证据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人工复核状态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结构化状态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ompare-takeaway">
            <a:extLst xmlns:a="http://schemas.openxmlformats.org/drawingml/2006/main">
              <a:ext uri="{FF2B5EF4-FFF2-40B4-BE49-F238E27FC236}">
                <a16:creationId xmlns:a16="http://schemas.microsoft.com/office/drawing/2014/main" id="{28D87CE7-F682-4F1C-B206-F960146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唯一核心空白：把“科研复现条件”作为 PR 审查的一等对象。</a:t>
            </a:r>
          </a:p>
        </p:txBody>
      </p:sp>
    </p:spTree>
    <p:extLst>
      <p:ext uri="{BB962C8B-B14F-4D97-AF65-F5344CB8AC3E}">
        <p14:creationId xmlns:p14="http://schemas.microsoft.com/office/powerpoint/2010/main" val="1731230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9">
            <a:extLst xmlns:a="http://schemas.openxmlformats.org/drawingml/2006/main">
              <a:ext uri="{FF2B5EF4-FFF2-40B4-BE49-F238E27FC236}">
                <a16:creationId xmlns:a16="http://schemas.microsoft.com/office/drawing/2014/main" id="{B10AA493-958D-450A-AA20-8D6938C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AI 与开源融合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918ABF6-110F-4E14-9ADE-85F2C1A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 是受约束的语义助手，开源工作流才是核心载体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C5B74932-6C28-4CCA-8EE0-AD2CF51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6CECF9E4-734A-42DA-B06F-BC11D4B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ai-left-title">
            <a:extLst xmlns:a="http://schemas.openxmlformats.org/drawingml/2006/main">
              <a:ext uri="{FF2B5EF4-FFF2-40B4-BE49-F238E27FC236}">
                <a16:creationId xmlns:a16="http://schemas.microsoft.com/office/drawing/2014/main" id="{61C64478-DC24-4D8E-9E01-2D0EEB1E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FBD"/>
                </a:solidFill>
                <a:latin typeface="Microsoft YaHei"/>
                <a:ea typeface="Microsoft YaHei"/>
                <a:cs typeface="Microsoft YaHei"/>
              </a:rPr>
              <a:t>确定性层</a:t>
            </a:r>
          </a:p>
        </p:txBody>
      </p:sp>
      <p:sp>
        <p:nvSpPr>
          <p:cNvPr id="6" name="ai-left">
            <a:extLst xmlns:a="http://schemas.openxmlformats.org/drawingml/2006/main">
              <a:ext uri="{FF2B5EF4-FFF2-40B4-BE49-F238E27FC236}">
                <a16:creationId xmlns:a16="http://schemas.microsoft.com/office/drawing/2014/main" id="{8F7E2E31-5A72-4C63-A768-531FB298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191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参数、随机性、依赖、数据处理、评价流程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输出可重复、无需模型或密钥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结论不能被模型覆盖</a:t>
            </a:r>
          </a:p>
        </p:txBody>
      </p:sp>
      <p:sp>
        <p:nvSpPr>
          <p:cNvPr id="7" name="ai-right-title">
            <a:extLst xmlns:a="http://schemas.openxmlformats.org/drawingml/2006/main">
              <a:ext uri="{FF2B5EF4-FFF2-40B4-BE49-F238E27FC236}">
                <a16:creationId xmlns:a16="http://schemas.microsoft.com/office/drawing/2014/main" id="{3FF2F8E0-4AFB-4700-BD70-D0939F2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AI 语义层</a:t>
            </a:r>
          </a:p>
        </p:txBody>
      </p:sp>
      <p:sp>
        <p:nvSpPr>
          <p:cNvPr id="8" name="ai-right">
            <a:extLst xmlns:a="http://schemas.openxmlformats.org/drawingml/2006/main">
              <a:ext uri="{FF2B5EF4-FFF2-40B4-BE49-F238E27FC236}">
                <a16:creationId xmlns:a16="http://schemas.microsoft.com/office/drawing/2014/main" id="{D7F9D8B0-8E05-43D8-982B-AEB64101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62250"/>
            <a:ext cx="4191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非结构化步骤、同义概念、跨学科术语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仅允许引用 D### / P###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所有输出标记 needs_review</a:t>
            </a:r>
          </a:p>
        </p:txBody>
      </p:sp>
      <p:cxnSp>
        <p:nvCxnSpPr>
          <p:cNvPr id="19" name="ai-separator"/>
          <p:cNvCxnSpPr/>
          <p:nvPr/>
        </p:nvCxnSpPr>
        <p:spPr>
          <a:xfrm xmlns:a="http://schemas.openxmlformats.org/drawingml/2006/main">
            <a:off x="6038850" y="2095500"/>
            <a:ext cx="0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3"/>
            </a:solidFill>
            <a:prstDash val="solid"/>
          </a:ln>
        </p:spPr>
      </p:cxnSp>
      <p:sp>
        <p:nvSpPr>
          <p:cNvPr id="10" name="ai-proof">
            <a:extLst xmlns:a="http://schemas.openxmlformats.org/drawingml/2006/main">
              <a:ext uri="{FF2B5EF4-FFF2-40B4-BE49-F238E27FC236}">
                <a16:creationId xmlns:a16="http://schemas.microsoft.com/office/drawing/2014/main" id="{8316DC35-F3DF-4DA0-8C1E-20339EE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已完成 deepseek-chat 真实调用：状态 ok，来源白名单有效，并由沈智和逐项复核签署。</a:t>
            </a:r>
          </a:p>
        </p:txBody>
      </p:sp>
    </p:spTree>
    <p:extLst>
      <p:ext uri="{BB962C8B-B14F-4D97-AF65-F5344CB8AC3E}">
        <p14:creationId xmlns:p14="http://schemas.microsoft.com/office/powerpoint/2010/main" val="671624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22A1F2B-E74B-499E-A515-4235C41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REPROGUARD</a:t>
            </a:r>
          </a:p>
        </p:txBody>
      </p:sp>
      <p:sp>
        <p:nvSpPr>
          <p:cNvPr id="2" name="close-main">
            <a:extLst xmlns:a="http://schemas.openxmlformats.org/drawingml/2006/main">
              <a:ext uri="{FF2B5EF4-FFF2-40B4-BE49-F238E27FC236}">
                <a16:creationId xmlns:a16="http://schemas.microsoft.com/office/drawing/2014/main" id="{4F754DD7-6202-4393-9282-DD15EEB3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42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让关键变化更早被看见，</a:t>
            </a:r>
          </a:p>
          <a:p xmlns:a="http://schemas.openxmlformats.org/drawingml/2006/main">
            <a:pPr algn="l">
              <a:defRPr sz="4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让每个判断都有证据。</a:t>
            </a:r>
          </a:p>
        </p:txBody>
      </p:sp>
      <p:sp>
        <p:nvSpPr>
          <p:cNvPr id="3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11ACB0C3-2006-40E9-B8F5-93AC3F4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已完成：真实 PR 回放 · DeepSeek 真实调用 · 154 项测试 · 私有在线 Action 验收</a:t>
            </a:r>
          </a:p>
        </p:txBody>
      </p:sp>
      <p:sp>
        <p:nvSpPr>
          <p:cNvPr id="4" name="close-next">
            <a:extLst xmlns:a="http://schemas.openxmlformats.org/drawingml/2006/main">
              <a:ext uri="{FF2B5EF4-FFF2-40B4-BE49-F238E27FC236}">
                <a16:creationId xmlns:a16="http://schemas.microsoft.com/office/drawing/2014/main" id="{CB568B72-5D99-413C-92C1-3370A6AA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4634"/>
                </a:solidFill>
                <a:latin typeface="Microsoft YaHei"/>
                <a:ea typeface="Microsoft YaHei"/>
                <a:cs typeface="Microsoft YaHei"/>
              </a:rPr>
              <a:t>提交前人工确认：团队署名 · 仓库公开范围 · v1 标签 · 最终视频 / PDF</a:t>
            </a:r>
          </a:p>
        </p:txBody>
      </p:sp>
      <p:sp>
        <p:nvSpPr>
          <p:cNvPr id="5" name="accent-1030-70">
            <a:extLst xmlns:a="http://schemas.openxmlformats.org/drawingml/2006/main">
              <a:ext uri="{FF2B5EF4-FFF2-40B4-BE49-F238E27FC236}">
                <a16:creationId xmlns:a16="http://schemas.microsoft.com/office/drawing/2014/main" id="{DA848389-93EE-4C9E-AD36-D6246625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"/>
            <a:ext cx="1428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solidFill>
              <a:srgbClr val="1687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1980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2026-10-23T15:26:44.8330000Z</dcterms:created>
  <dcterms:modified xsi:type="dcterms:W3CDTF">2026-10-23T15:26:44.8330000Z</dcterms:modified>
</coreProperties>
</file>